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0000"/>
          <c:y val="0.09276"/>
          <c:w val="0.56000"/>
          <c:h val="0.81447"/>
        </c:manualLayout>
      </c:layout>
      <c:doughnut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매출 구성비</c:v>
                </c:pt>
              </c:strCache>
            </c:strRef>
          </c:tx>
          <c:dPt>
            <c:idx val="0"/>
            <c:spPr>
              <a:solidFill>
                <a:srgbClr val="D9415F"/>
              </a:solidFill>
              <a:ln w="14287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18181C"/>
              </a:solidFill>
              <a:ln w="14287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C9C9CF"/>
              </a:solidFill>
              <a:ln w="14287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FBE9ED"/>
              </a:solidFill>
              <a:ln w="14287">
                <a:solidFill>
                  <a:srgbClr val="FFFFFF"/>
                </a:solidFill>
              </a:ln>
            </c:spPr>
          </c:dPt>
          <c:dLbls>
            <c:dLbl>
              <c:idx val="0"/>
              <c:numFmt formatCode="#,##0&quot;%&quot;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975" b="0">
                      <a:solidFill>
                        <a:srgbClr val="FFFFFF"/>
                      </a:solidFill>
                      <a:latin typeface="Pretendard SemiBold"/>
                      <a:ea typeface="Pretendard SemiBold"/>
                      <a:cs typeface="Pretendard SemiBold"/>
                    </a:defRPr>
                  </a:pPr>
                  <a:endParaRPr lang="ko-K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#,##0&quot;%&quot;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975" b="0">
                      <a:solidFill>
                        <a:srgbClr val="FFFFFF"/>
                      </a:solidFill>
                      <a:latin typeface="Pretendard SemiBold"/>
                      <a:ea typeface="Pretendard SemiBold"/>
                      <a:cs typeface="Pretendard SemiBold"/>
                    </a:defRPr>
                  </a:pPr>
                  <a:endParaRPr lang="ko-K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#,##0&quot;%&quot;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975" b="0">
                      <a:solidFill>
                        <a:srgbClr val="18181C"/>
                      </a:solidFill>
                      <a:latin typeface="Pretendard SemiBold"/>
                      <a:ea typeface="Pretendard SemiBold"/>
                      <a:cs typeface="Pretendard SemiBold"/>
                    </a:defRPr>
                  </a:pPr>
                  <a:endParaRPr lang="ko-K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#,##0&quot;%&quot;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975" b="0">
                      <a:solidFill>
                        <a:srgbClr val="18181C"/>
                      </a:solidFill>
                      <a:latin typeface="Pretendard SemiBold"/>
                      <a:ea typeface="Pretendard SemiBold"/>
                      <a:cs typeface="Pretendard SemiBold"/>
                    </a:defRPr>
                  </a:pPr>
                  <a:endParaRPr lang="ko-K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&quot;%&quot;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75" b="0">
                    <a:solidFill>
                      <a:srgbClr val="18181C"/>
                    </a:solidFill>
                    <a:latin typeface="Pretendard SemiBold"/>
                    <a:ea typeface="Pretendard SemiBold"/>
                    <a:cs typeface="Pretendard SemiBold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광고 상품</c:v>
                </c:pt>
                <c:pt idx="1">
                  <c:v>구독</c:v>
                </c:pt>
                <c:pt idx="2">
                  <c:v>데이터 리포트</c:v>
                </c:pt>
                <c:pt idx="3">
                  <c:v>기타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52.0</c:v>
                </c:pt>
                <c:pt idx="1">
                  <c:v>26.0</c:v>
                </c:pt>
                <c:pt idx="2">
                  <c:v>15.0</c:v>
                </c:pt>
                <c:pt idx="3">
                  <c:v>7.0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0"/>
      </c:doughnutChart>
      <c:spPr>
        <a:noFill/>
        <a:ln>
          <a:noFill/>
        </a:ln>
      </c:spPr>
    </c:plotArea>
    <c:legend>
      <c:legendPos/>
      <c:layout>
        <c:manualLayout>
          <c:xMode val="edge"/>
          <c:yMode val="edge"/>
          <c:x val="0.60793"/>
          <c:y val="0.37800"/>
          <c:w val="0.15682"/>
          <c:h val="0.24401"/>
        </c:manualLayout>
      </c:layout>
      <c:overlay val="0"/>
      <c:txPr>
        <a:bodyPr/>
        <a:lstStyle/>
        <a:p>
          <a:pPr>
            <a:defRPr sz="975" b="0" lang="ko-KR">
              <a:solidFill>
                <a:srgbClr val="232326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 b="0" lang="ko-KR">
          <a:solidFill>
            <a:srgbClr val="232326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layout>
        <c:manualLayout>
          <c:layoutTarget val="inner"/>
          <c:xMode val="edge"/>
          <c:yMode val="edge"/>
          <c:x val="0.20865"/>
          <c:y val="0.07625"/>
          <c:w val="0.58270"/>
          <c:h val="0.84749"/>
        </c:manualLayout>
      </c:layout>
      <c:pie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유입 경로</c:v>
                </c:pt>
              </c:strCache>
            </c:strRef>
          </c:tx>
          <c:dPt>
            <c:idx val="0"/>
            <c:spPr>
              <a:solidFill>
                <a:srgbClr val="D9415F"/>
              </a:solidFill>
              <a:ln w="14287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18181C"/>
              </a:solidFill>
              <a:ln w="14287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C9C9CF"/>
              </a:solidFill>
              <a:ln w="14287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FBE9ED"/>
              </a:solidFill>
              <a:ln w="14287">
                <a:solidFill>
                  <a:srgbClr val="FFFFFF"/>
                </a:solidFill>
              </a:ln>
            </c:spPr>
          </c:dPt>
          <c:dLbls>
            <c:dLbl>
              <c:idx val="0"/>
              <c:numFmt formatCode="#,##0&quot;%&quot;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975" b="0">
                      <a:solidFill>
                        <a:srgbClr val="D9415F"/>
                      </a:solidFill>
                      <a:latin typeface="Pretendard SemiBold"/>
                      <a:ea typeface="Pretendard SemiBold"/>
                      <a:cs typeface="Pretendard SemiBold"/>
                    </a:defRPr>
                  </a:pPr>
                  <a:endParaRPr lang="ko-KR"/>
                </a:p>
              </c:txPr>
              <c:dLblPos val="outEnd"/>
              <c:showLegendKey val="0"/>
              <c:showVal val="1"/>
              <c:showCatName val="1"/>
              <c:showSerName val="0"/>
              <c:showPercent val="0"/>
              <c:showBubbleSize val="0"/>
              <c:separator>
</c:separator>
            </c:dLbl>
            <c:dLbl>
              <c:idx val="1"/>
              <c:numFmt formatCode="#,##0&quot;%&quot;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975" b="0">
                      <a:solidFill>
                        <a:srgbClr val="18181C"/>
                      </a:solidFill>
                      <a:latin typeface="Pretendard SemiBold"/>
                      <a:ea typeface="Pretendard SemiBold"/>
                      <a:cs typeface="Pretendard SemiBold"/>
                    </a:defRPr>
                  </a:pPr>
                  <a:endParaRPr lang="ko-KR"/>
                </a:p>
              </c:txPr>
              <c:dLblPos val="outEnd"/>
              <c:showLegendKey val="0"/>
              <c:showVal val="1"/>
              <c:showCatName val="1"/>
              <c:showSerName val="0"/>
              <c:showPercent val="0"/>
              <c:showBubbleSize val="0"/>
              <c:separator>
</c:separator>
            </c:dLbl>
            <c:dLbl>
              <c:idx val="2"/>
              <c:numFmt formatCode="#,##0&quot;%&quot;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975" b="0">
                      <a:solidFill>
                        <a:srgbClr val="18181C"/>
                      </a:solidFill>
                      <a:latin typeface="Pretendard SemiBold"/>
                      <a:ea typeface="Pretendard SemiBold"/>
                      <a:cs typeface="Pretendard SemiBold"/>
                    </a:defRPr>
                  </a:pPr>
                  <a:endParaRPr lang="ko-KR"/>
                </a:p>
              </c:txPr>
              <c:dLblPos val="outEnd"/>
              <c:showLegendKey val="0"/>
              <c:showVal val="1"/>
              <c:showCatName val="1"/>
              <c:showSerName val="0"/>
              <c:showPercent val="0"/>
              <c:showBubbleSize val="0"/>
              <c:separator>
</c:separator>
            </c:dLbl>
            <c:dLbl>
              <c:idx val="3"/>
              <c:numFmt formatCode="#,##0&quot;%&quot;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975" b="0">
                      <a:solidFill>
                        <a:srgbClr val="18181C"/>
                      </a:solidFill>
                      <a:latin typeface="Pretendard SemiBold"/>
                      <a:ea typeface="Pretendard SemiBold"/>
                      <a:cs typeface="Pretendard SemiBold"/>
                    </a:defRPr>
                  </a:pPr>
                  <a:endParaRPr lang="ko-KR"/>
                </a:p>
              </c:txPr>
              <c:dLblPos val="outEnd"/>
              <c:showLegendKey val="0"/>
              <c:showVal val="1"/>
              <c:showCatName val="1"/>
              <c:showSerName val="0"/>
              <c:showPercent val="0"/>
              <c:showBubbleSize val="0"/>
              <c:separator>
</c:separator>
            </c:dLbl>
            <c:numFmt formatCode="#,##0&quot;%&quot;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75" b="0">
                    <a:solidFill>
                      <a:srgbClr val="18181C"/>
                    </a:solidFill>
                    <a:latin typeface="Pretendard SemiBold"/>
                    <a:ea typeface="Pretendard SemiBold"/>
                    <a:cs typeface="Pretendard SemiBold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1"/>
            <c:showSerName val="0"/>
            <c:showPercent val="0"/>
            <c:showBubbleSize val="0"/>
            <c:separator>
</c:separator>
          </c:dLbls>
          <c:cat>
            <c:strRef>
              <c:f>Sheet1!$A$2:$A$5</c:f>
              <c:strCache>
                <c:ptCount val="4"/>
                <c:pt idx="0">
                  <c:v>인스타그램</c:v>
                </c:pt>
                <c:pt idx="1">
                  <c:v>유튜브</c:v>
                </c:pt>
                <c:pt idx="2">
                  <c:v>검색</c:v>
                </c:pt>
                <c:pt idx="3">
                  <c:v>기타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46.0</c:v>
                </c:pt>
                <c:pt idx="1">
                  <c:v>28.0</c:v>
                </c:pt>
                <c:pt idx="2">
                  <c:v>17.0</c:v>
                </c:pt>
                <c:pt idx="3">
                  <c:v>9.0</c:v>
                </c:pt>
              </c:numCache>
            </c:numRef>
          </c:val>
        </c:ser>
      </c:pieChart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 b="0" lang="ko-KR">
          <a:solidFill>
            <a:srgbClr val="232326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7190"/>
          <c:y val="0.10458"/>
          <c:w val="0.90713"/>
          <c:h val="0.83878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ln w="28575">
              <a:solidFill>
                <a:srgbClr val="D9415F"/>
              </a:solidFill>
            </a:ln>
          </c:spPr>
          <c:marker>
            <c:symbol val="circle"/>
            <c:size val="7"/>
            <c:spPr>
              <a:solidFill>
                <a:srgbClr val="D9415F"/>
              </a:solidFill>
              <a:ln>
                <a:solidFill>
                  <a:srgbClr val="D9415F"/>
                </a:solidFill>
              </a:ln>
            </c:spPr>
          </c:marker>
          <c:dLbls>
            <c:dLbl>
              <c:idx val="5"/>
              <c:numFmt formatCode="#,##0.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950" b="0">
                      <a:solidFill>
                        <a:srgbClr val="D9415F"/>
                      </a:solidFill>
                      <a:latin typeface="Pretendard SemiBold"/>
                      <a:ea typeface="Pretendard SemiBold"/>
                      <a:cs typeface="Pretendard SemiBold"/>
                    </a:defRPr>
                  </a:pPr>
                  <a:endParaRPr lang="ko-KR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50" b="0">
                    <a:solidFill>
                      <a:srgbClr val="D9415F"/>
                    </a:solidFill>
                    <a:latin typeface="Pretendard SemiBold"/>
                    <a:ea typeface="Pretendard SemiBold"/>
                    <a:cs typeface="Pretendard SemiBold"/>
                  </a:defRPr>
                </a:pPr>
                <a:endParaRPr lang="ko-K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1.2</c:v>
                </c:pt>
                <c:pt idx="1">
                  <c:v>1.8</c:v>
                </c:pt>
                <c:pt idx="2">
                  <c:v>2.6</c:v>
                </c:pt>
                <c:pt idx="3">
                  <c:v>3.5</c:v>
                </c:pt>
                <c:pt idx="4">
                  <c:v>4.7</c:v>
                </c:pt>
                <c:pt idx="5">
                  <c:v>6.2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업계 평균</c:v>
                </c:pt>
              </c:strCache>
            </c:strRef>
          </c:tx>
          <c:spPr>
            <a:ln w="28575">
              <a:solidFill>
                <a:srgbClr val="18181C"/>
              </a:solidFill>
            </a:ln>
          </c:spPr>
          <c:marker>
            <c:symbol val="circle"/>
            <c:size val="7"/>
            <c:spPr>
              <a:solidFill>
                <a:srgbClr val="18181C"/>
              </a:solidFill>
              <a:ln>
                <a:solidFill>
                  <a:srgbClr val="18181C"/>
                </a:solidFill>
              </a:ln>
            </c:spPr>
          </c:marker>
          <c:dLbls>
            <c:dLbl>
              <c:idx val="5"/>
              <c:numFmt formatCode="#,##0.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950" b="0">
                      <a:solidFill>
                        <a:srgbClr val="18181C"/>
                      </a:solidFill>
                      <a:latin typeface="Pretendard SemiBold"/>
                      <a:ea typeface="Pretendard SemiBold"/>
                      <a:cs typeface="Pretendard SemiBold"/>
                    </a:defRPr>
                  </a:pPr>
                  <a:endParaRPr lang="ko-KR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50" b="0">
                    <a:solidFill>
                      <a:srgbClr val="18181C"/>
                    </a:solidFill>
                    <a:latin typeface="Pretendard SemiBold"/>
                    <a:ea typeface="Pretendard SemiBold"/>
                    <a:cs typeface="Pretendard SemiBold"/>
                  </a:defRPr>
                </a:pPr>
                <a:endParaRPr lang="ko-K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1.0</c:v>
                </c:pt>
                <c:pt idx="1">
                  <c:v>1.2</c:v>
                </c:pt>
                <c:pt idx="2">
                  <c:v>1.5</c:v>
                </c:pt>
                <c:pt idx="3">
                  <c:v>1.7</c:v>
                </c:pt>
                <c:pt idx="4">
                  <c:v>2.0</c:v>
                </c:pt>
                <c:pt idx="5">
                  <c:v>2.2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14287">
            <a:solidFill>
              <a:srgbClr val="18181C"/>
            </a:solidFill>
          </a:ln>
        </c:spPr>
        <c:txPr>
          <a:bodyPr/>
          <a:lstStyle/>
          <a:p>
            <a:pPr>
              <a:defRPr sz="900" b="0" lang="ko-KR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.0"/>
          <c:min val="0.0"/>
        </c:scaling>
        <c:delete val="0"/>
        <c:axPos val="l"/>
        <c:majorGridlines>
          <c:spPr>
            <a:ln w="9525">
              <a:solidFill>
                <a:srgbClr val="E7E7EA"/>
              </a:solidFill>
            </a:ln>
          </c:spPr>
        </c:majorGridlines>
        <c:numFmt formatCode="#,##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 b="0" lang="ko-KR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118791784"/>
        <c:crosses val="autoZero"/>
        <c:majorUnit val="2.0"/>
      </c:valAx>
      <c:spPr>
        <a:noFill/>
        <a:ln>
          <a:noFill/>
        </a:ln>
      </c:spPr>
    </c:plotArea>
    <c:legend>
      <c:legendPos val="t"/>
      <c:layout>
        <c:manualLayout>
          <c:xMode val="edge"/>
          <c:yMode val="edge"/>
          <c:x val="0.38822"/>
          <c:y val="0.00000"/>
          <c:w val="0.27450"/>
          <c:h val="0.04793"/>
        </c:manualLayout>
      </c:layout>
      <c:overlay val="0"/>
      <c:txPr>
        <a:bodyPr/>
        <a:lstStyle/>
        <a:p>
          <a:pPr>
            <a:defRPr sz="900" b="0" lang="ko-KR">
              <a:solidFill>
                <a:srgbClr val="232326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 b="0" lang="ko-KR">
          <a:solidFill>
            <a:srgbClr val="232326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2583"/>
          <c:y val="0.10458"/>
          <c:w val="0.81425"/>
          <c:h val="0.83878"/>
        </c:manualLayout>
      </c:layout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스킨케어</c:v>
                </c:pt>
              </c:strCache>
            </c:strRef>
          </c:tx>
          <c:spPr>
            <a:solidFill>
              <a:srgbClr val="18181C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4월</c:v>
                </c:pt>
                <c:pt idx="1">
                  <c:v>5월</c:v>
                </c:pt>
                <c:pt idx="2">
                  <c:v>6월</c:v>
                </c:pt>
                <c:pt idx="3">
                  <c:v>7월</c:v>
                </c:pt>
                <c:pt idx="4">
                  <c:v>8월</c:v>
                </c:pt>
                <c:pt idx="5">
                  <c:v>9월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20.0</c:v>
                </c:pt>
                <c:pt idx="1">
                  <c:v>24.0</c:v>
                </c:pt>
                <c:pt idx="2">
                  <c:v>30.0</c:v>
                </c:pt>
                <c:pt idx="3">
                  <c:v>38.0</c:v>
                </c:pt>
                <c:pt idx="4">
                  <c:v>46.0</c:v>
                </c:pt>
                <c:pt idx="5">
                  <c:v>55.0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색조</c:v>
                </c:pt>
              </c:strCache>
            </c:strRef>
          </c:tx>
          <c:spPr>
            <a:solidFill>
              <a:srgbClr val="D9415F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4월</c:v>
                </c:pt>
                <c:pt idx="1">
                  <c:v>5월</c:v>
                </c:pt>
                <c:pt idx="2">
                  <c:v>6월</c:v>
                </c:pt>
                <c:pt idx="3">
                  <c:v>7월</c:v>
                </c:pt>
                <c:pt idx="4">
                  <c:v>8월</c:v>
                </c:pt>
                <c:pt idx="5">
                  <c:v>9월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10.0</c:v>
                </c:pt>
                <c:pt idx="1">
                  <c:v>14.0</c:v>
                </c:pt>
                <c:pt idx="2">
                  <c:v>20.0</c:v>
                </c:pt>
                <c:pt idx="3">
                  <c:v>28.0</c:v>
                </c:pt>
                <c:pt idx="4">
                  <c:v>36.0</c:v>
                </c:pt>
                <c:pt idx="5">
                  <c:v>44.0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헤어</c:v>
                </c:pt>
              </c:strCache>
            </c:strRef>
          </c:tx>
          <c:spPr>
            <a:solidFill>
              <a:srgbClr val="C9C9CF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4월</c:v>
                </c:pt>
                <c:pt idx="1">
                  <c:v>5월</c:v>
                </c:pt>
                <c:pt idx="2">
                  <c:v>6월</c:v>
                </c:pt>
                <c:pt idx="3">
                  <c:v>7월</c:v>
                </c:pt>
                <c:pt idx="4">
                  <c:v>8월</c:v>
                </c:pt>
                <c:pt idx="5">
                  <c:v>9월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6.0</c:v>
                </c:pt>
                <c:pt idx="1">
                  <c:v>8.0</c:v>
                </c:pt>
                <c:pt idx="2">
                  <c:v>10.0</c:v>
                </c:pt>
                <c:pt idx="3">
                  <c:v>12.0</c:v>
                </c:pt>
                <c:pt idx="4">
                  <c:v>15.0</c:v>
                </c:pt>
                <c:pt idx="5">
                  <c:v>18.0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14287">
            <a:solidFill>
              <a:srgbClr val="18181C"/>
            </a:solidFill>
          </a:ln>
        </c:spPr>
        <c:txPr>
          <a:bodyPr/>
          <a:lstStyle/>
          <a:p>
            <a:pPr>
              <a:defRPr sz="900" b="0" lang="ko-KR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  <c:max val="160.0"/>
          <c:min val="0.0"/>
        </c:scaling>
        <c:delete val="0"/>
        <c:axPos val="l"/>
        <c:majorGridlines>
          <c:spPr>
            <a:ln w="9525">
              <a:solidFill>
                <a:srgbClr val="E7E7EA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 b="0" lang="ko-KR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01159928"/>
        <c:crosses val="autoZero"/>
        <c:crossBetween val="midCat"/>
        <c:majorUnit val="40.0"/>
      </c:valAx>
      <c:spPr>
        <a:noFill/>
        <a:ln>
          <a:noFill/>
        </a:ln>
      </c:spPr>
    </c:plotArea>
    <c:legend>
      <c:legendPos val="t"/>
      <c:layout>
        <c:manualLayout>
          <c:xMode val="edge"/>
          <c:yMode val="edge"/>
          <c:x val="0.35396"/>
          <c:y val="0.00000"/>
          <c:w val="0.35799"/>
          <c:h val="0.04793"/>
        </c:manualLayout>
      </c:layout>
      <c:overlay val="0"/>
      <c:txPr>
        <a:bodyPr/>
        <a:lstStyle/>
        <a:p>
          <a:pPr>
            <a:defRPr sz="900" b="0" lang="ko-KR">
              <a:solidFill>
                <a:srgbClr val="232326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zero"/>
    <c:showDLblsOverMax val="0"/>
  </c:chart>
  <c:spPr>
    <a:noFill/>
    <a:ln>
      <a:noFill/>
    </a:ln>
  </c:spPr>
  <c:txPr>
    <a:bodyPr/>
    <a:lstStyle/>
    <a:p>
      <a:pPr>
        <a:defRPr sz="900" b="0" lang="ko-KR">
          <a:solidFill>
            <a:srgbClr val="232326"/>
          </a:solidFill>
          <a:latin typeface="Pretendard"/>
          <a:ea typeface="Pretendard"/>
          <a:cs typeface="Pretendard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v-l 1"/>
          <p:cNvSpPr/>
          <p:nvPr/>
        </p:nvSpPr>
        <p:spPr>
          <a:xfrm>
            <a:off x="0" y="0"/>
            <a:ext cx="190500" cy="6858000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cv-rule 4"/>
          <p:cNvSpPr/>
          <p:nvPr/>
        </p:nvSpPr>
        <p:spPr>
          <a:xfrm>
            <a:off x="723900" y="3733800"/>
            <a:ext cx="609600" cy="38100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cv-brand 8"/>
          <p:cNvSpPr txBox="1"/>
          <p:nvPr/>
        </p:nvSpPr>
        <p:spPr>
          <a:xfrm>
            <a:off x="723900" y="533400"/>
            <a:ext cx="808589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Hankki Lab</a:t>
            </a:r>
          </a:p>
        </p:txBody>
      </p:sp>
      <p:sp>
        <p:nvSpPr>
          <p:cNvPr id="5" name="cv-title 9"/>
          <p:cNvSpPr txBox="1"/>
          <p:nvPr/>
        </p:nvSpPr>
        <p:spPr>
          <a:xfrm>
            <a:off x="723900" y="2286000"/>
            <a:ext cx="2519232" cy="523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45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i="0" lang="ko-KR" altLang="en-US">
                <a:solidFill>
                  <a:srgbClr val="18181C"/>
                </a:solidFill>
                <a:latin typeface="Pretendard"/>
                <a:ea typeface="Pretendard"/>
                <a:cs typeface="Pretendard"/>
              </a:rPr>
              <a:t>도표 부품 견본</a:t>
            </a:r>
          </a:p>
        </p:txBody>
      </p:sp>
      <p:sp>
        <p:nvSpPr>
          <p:cNvPr id="6" name="cv-sub 11"/>
          <p:cNvSpPr txBox="1"/>
          <p:nvPr/>
        </p:nvSpPr>
        <p:spPr>
          <a:xfrm>
            <a:off x="723900" y="3981450"/>
            <a:ext cx="3126748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425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도표 부품 26종을 예시 데이터로 채운 견본</a:t>
            </a:r>
          </a:p>
        </p:txBody>
      </p:sp>
      <p:sp>
        <p:nvSpPr>
          <p:cNvPr id="7" name="cv-meta 12"/>
          <p:cNvSpPr txBox="1"/>
          <p:nvPr/>
        </p:nvSpPr>
        <p:spPr>
          <a:xfrm>
            <a:off x="723900" y="6019800"/>
            <a:ext cx="1459444" cy="323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2026년 10월</a:t>
            </a:r>
          </a:p>
          <a:p>
            <a:pPr algn="l" latinLnBrk="0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내부 검토용, 수치는 모두 가상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90550"/>
            <a:ext cx="11125200" cy="704850"/>
          </a:xfrm>
        </p:spPr>
        <p:txBody>
          <a:bodyPr lIns="0" rIns="0" tIns="0" bIns="0" wrap="square" anchor="t">
            <a:noAutofit/>
          </a:bodyPr>
          <a:lstStyle/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브랜드사의 72%가 꼽은 도입 이유는</a:t>
            </a:r>
          </a:p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콘텐츠 제작 시간 단축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376362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33400" y="1852612"/>
            <a:ext cx="63586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533400" y="3409950"/>
            <a:ext cx="6358682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6" name="막대 10"/>
          <p:cNvSpPr/>
          <p:nvPr/>
        </p:nvSpPr>
        <p:spPr>
          <a:xfrm>
            <a:off x="2286000" y="3095625"/>
            <a:ext cx="3378696" cy="209550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3829050"/>
            <a:ext cx="6358682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8" name="막대 14"/>
          <p:cNvSpPr/>
          <p:nvPr/>
        </p:nvSpPr>
        <p:spPr>
          <a:xfrm>
            <a:off x="2286000" y="3514725"/>
            <a:ext cx="2240161" cy="20955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>
            <a:off x="533400" y="4248150"/>
            <a:ext cx="6358682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10" name="막대 18"/>
          <p:cNvSpPr/>
          <p:nvPr/>
        </p:nvSpPr>
        <p:spPr>
          <a:xfrm>
            <a:off x="2286000" y="3933825"/>
            <a:ext cx="1652588" cy="20955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>
            <a:off x="533400" y="4667250"/>
            <a:ext cx="6358682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12" name="막대 22"/>
          <p:cNvSpPr/>
          <p:nvPr/>
        </p:nvSpPr>
        <p:spPr>
          <a:xfrm>
            <a:off x="2286000" y="4352925"/>
            <a:ext cx="1028254" cy="20955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막대 25"/>
          <p:cNvSpPr/>
          <p:nvPr/>
        </p:nvSpPr>
        <p:spPr>
          <a:xfrm>
            <a:off x="2286000" y="4776788"/>
            <a:ext cx="550813" cy="20955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4" name="Connector 13"/>
          <p:cNvCxnSpPr/>
          <p:nvPr/>
        </p:nvCxnSpPr>
        <p:spPr>
          <a:xfrm>
            <a:off x="7273082" y="1852612"/>
            <a:ext cx="4385518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533400" y="6538912"/>
            <a:ext cx="11125200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16" name="회사명 34"/>
          <p:cNvSpPr txBox="1"/>
          <p:nvPr/>
        </p:nvSpPr>
        <p:spPr>
          <a:xfrm>
            <a:off x="533400" y="338138"/>
            <a:ext cx="59808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Hankki Lab</a:t>
            </a:r>
          </a:p>
        </p:txBody>
      </p:sp>
      <p:sp>
        <p:nvSpPr>
          <p:cNvPr id="17" name="키커 35"/>
          <p:cNvSpPr txBox="1"/>
          <p:nvPr/>
        </p:nvSpPr>
        <p:spPr>
          <a:xfrm>
            <a:off x="11053465" y="338138"/>
            <a:ext cx="648391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가로 막대 p06</a:t>
            </a:r>
          </a:p>
        </p:txBody>
      </p:sp>
      <p:sp>
        <p:nvSpPr>
          <p:cNvPr id="18" name="축 제목 39"/>
          <p:cNvSpPr txBox="1"/>
          <p:nvPr/>
        </p:nvSpPr>
        <p:spPr>
          <a:xfrm>
            <a:off x="533400" y="1600200"/>
            <a:ext cx="134629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도입 이유 (복수 응답)</a:t>
            </a:r>
          </a:p>
        </p:txBody>
      </p:sp>
      <p:sp>
        <p:nvSpPr>
          <p:cNvPr id="19" name="u 40"/>
          <p:cNvSpPr txBox="1"/>
          <p:nvPr/>
        </p:nvSpPr>
        <p:spPr>
          <a:xfrm>
            <a:off x="5350818" y="1647825"/>
            <a:ext cx="162196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%, 2026년 9월 고객 설문 (n=214)</a:t>
            </a:r>
          </a:p>
        </p:txBody>
      </p:sp>
      <p:sp>
        <p:nvSpPr>
          <p:cNvPr id="20" name="nm 42"/>
          <p:cNvSpPr txBox="1"/>
          <p:nvPr/>
        </p:nvSpPr>
        <p:spPr>
          <a:xfrm>
            <a:off x="533400" y="3114675"/>
            <a:ext cx="1280672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콘텐츠 제작 시간 단축</a:t>
            </a:r>
          </a:p>
        </p:txBody>
      </p:sp>
      <p:sp>
        <p:nvSpPr>
          <p:cNvPr id="21" name="val 44"/>
          <p:cNvSpPr txBox="1"/>
          <p:nvPr/>
        </p:nvSpPr>
        <p:spPr>
          <a:xfrm>
            <a:off x="6561302" y="3114675"/>
            <a:ext cx="330779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 latinLnBrk="0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D9415F"/>
                </a:solidFill>
                <a:latin typeface="Pretendard SemiBold"/>
                <a:ea typeface="Pretendard SemiBold"/>
                <a:cs typeface="Pretendard SemiBold"/>
              </a:rPr>
              <a:t>72%</a:t>
            </a:r>
          </a:p>
        </p:txBody>
      </p:sp>
      <p:sp>
        <p:nvSpPr>
          <p:cNvPr id="22" name="nm 46"/>
          <p:cNvSpPr txBox="1"/>
          <p:nvPr/>
        </p:nvSpPr>
        <p:spPr>
          <a:xfrm>
            <a:off x="533400" y="3533775"/>
            <a:ext cx="864156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구매 전환 증가</a:t>
            </a:r>
          </a:p>
        </p:txBody>
      </p:sp>
      <p:sp>
        <p:nvSpPr>
          <p:cNvPr id="23" name="val 48"/>
          <p:cNvSpPr txBox="1"/>
          <p:nvPr/>
        </p:nvSpPr>
        <p:spPr>
          <a:xfrm>
            <a:off x="6545515" y="3533775"/>
            <a:ext cx="346567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 latinLnBrk="0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48%</a:t>
            </a:r>
          </a:p>
        </p:txBody>
      </p:sp>
      <p:sp>
        <p:nvSpPr>
          <p:cNvPr id="24" name="nm 50"/>
          <p:cNvSpPr txBox="1"/>
          <p:nvPr/>
        </p:nvSpPr>
        <p:spPr>
          <a:xfrm>
            <a:off x="533400" y="3952875"/>
            <a:ext cx="992624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마케팅 비용 절감</a:t>
            </a:r>
          </a:p>
        </p:txBody>
      </p:sp>
      <p:sp>
        <p:nvSpPr>
          <p:cNvPr id="25" name="val 52"/>
          <p:cNvSpPr txBox="1"/>
          <p:nvPr/>
        </p:nvSpPr>
        <p:spPr>
          <a:xfrm>
            <a:off x="6549539" y="3952875"/>
            <a:ext cx="342543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 latinLnBrk="0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35%</a:t>
            </a:r>
          </a:p>
        </p:txBody>
      </p:sp>
      <p:sp>
        <p:nvSpPr>
          <p:cNvPr id="26" name="nm 54"/>
          <p:cNvSpPr txBox="1"/>
          <p:nvPr/>
        </p:nvSpPr>
        <p:spPr>
          <a:xfrm>
            <a:off x="533400" y="4371975"/>
            <a:ext cx="1249561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인플루언서 관리 부담</a:t>
            </a:r>
          </a:p>
        </p:txBody>
      </p:sp>
      <p:sp>
        <p:nvSpPr>
          <p:cNvPr id="27" name="val 56"/>
          <p:cNvSpPr txBox="1"/>
          <p:nvPr/>
        </p:nvSpPr>
        <p:spPr>
          <a:xfrm>
            <a:off x="6556040" y="4371975"/>
            <a:ext cx="336042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 latinLnBrk="0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22%</a:t>
            </a:r>
          </a:p>
        </p:txBody>
      </p:sp>
      <p:sp>
        <p:nvSpPr>
          <p:cNvPr id="28" name="nm 57"/>
          <p:cNvSpPr txBox="1"/>
          <p:nvPr/>
        </p:nvSpPr>
        <p:spPr>
          <a:xfrm>
            <a:off x="533400" y="4795838"/>
            <a:ext cx="275987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기타</a:t>
            </a:r>
          </a:p>
        </p:txBody>
      </p:sp>
      <p:sp>
        <p:nvSpPr>
          <p:cNvPr id="29" name="val 59"/>
          <p:cNvSpPr txBox="1"/>
          <p:nvPr/>
        </p:nvSpPr>
        <p:spPr>
          <a:xfrm>
            <a:off x="6577399" y="4795838"/>
            <a:ext cx="314682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 latinLnBrk="0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12%</a:t>
            </a:r>
          </a:p>
        </p:txBody>
      </p:sp>
      <p:sp>
        <p:nvSpPr>
          <p:cNvPr id="30" name="열 제목 61"/>
          <p:cNvSpPr txBox="1"/>
          <p:nvPr/>
        </p:nvSpPr>
        <p:spPr>
          <a:xfrm>
            <a:off x="7273082" y="1600200"/>
            <a:ext cx="122773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이 도표가 말하는 것</a:t>
            </a:r>
          </a:p>
        </p:txBody>
      </p:sp>
      <p:sp>
        <p:nvSpPr>
          <p:cNvPr id="31" name="글머리표 62"/>
          <p:cNvSpPr txBox="1"/>
          <p:nvPr/>
        </p:nvSpPr>
        <p:spPr>
          <a:xfrm>
            <a:off x="7273082" y="3643312"/>
            <a:ext cx="4385518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시간 단축이 2위인 구매 전환 증가보다 24%p 높다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비용 절감은 35%로 세 번째다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기타 응답은 12%에 그친다</a:t>
            </a:r>
          </a:p>
        </p:txBody>
      </p:sp>
      <p:sp>
        <p:nvSpPr>
          <p:cNvPr id="32" name="출처 63"/>
          <p:cNvSpPr txBox="1"/>
          <p:nvPr/>
        </p:nvSpPr>
        <p:spPr>
          <a:xfrm>
            <a:off x="533400" y="6324600"/>
            <a:ext cx="137137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출처: 예시 데이터, 실제 수치 아님</a:t>
            </a:r>
          </a:p>
        </p:txBody>
      </p:sp>
      <p:sp>
        <p:nvSpPr>
          <p:cNvPr id="33" name="꼬리말 65"/>
          <p:cNvSpPr txBox="1"/>
          <p:nvPr/>
        </p:nvSpPr>
        <p:spPr>
          <a:xfrm>
            <a:off x="533400" y="6600825"/>
            <a:ext cx="115375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Hankki Lab | 도표 부품 견본</a:t>
            </a:r>
          </a:p>
        </p:txBody>
      </p:sp>
      <p:sp>
        <p:nvSpPr>
          <p:cNvPr id="34" name="pg 66"/>
          <p:cNvSpPr txBox="1"/>
          <p:nvPr/>
        </p:nvSpPr>
        <p:spPr>
          <a:xfrm>
            <a:off x="11615886" y="6600825"/>
            <a:ext cx="63472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90550"/>
            <a:ext cx="11125200" cy="704850"/>
          </a:xfrm>
        </p:spPr>
        <p:txBody>
          <a:bodyPr lIns="0" rIns="0" tIns="0" bIns="0" wrap="square" anchor="t">
            <a:noAutofit/>
          </a:bodyPr>
          <a:lstStyle/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월 활성 브랜드사는 5개월 동안</a:t>
            </a:r>
          </a:p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98곳에서 214곳으로 증가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376362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33400" y="1852612"/>
            <a:ext cx="63586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533400" y="5995988"/>
            <a:ext cx="63586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sp>
        <p:nvSpPr>
          <p:cNvPr id="6" name="막대 10"/>
          <p:cNvSpPr/>
          <p:nvPr/>
        </p:nvSpPr>
        <p:spPr>
          <a:xfrm>
            <a:off x="776734" y="4379119"/>
            <a:ext cx="876300" cy="1612106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막대 12"/>
          <p:cNvSpPr/>
          <p:nvPr/>
        </p:nvSpPr>
        <p:spPr>
          <a:xfrm>
            <a:off x="2025700" y="3965674"/>
            <a:ext cx="876300" cy="2025551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막대 14"/>
          <p:cNvSpPr/>
          <p:nvPr/>
        </p:nvSpPr>
        <p:spPr>
          <a:xfrm>
            <a:off x="3274516" y="3469630"/>
            <a:ext cx="876300" cy="2521595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막대 16"/>
          <p:cNvSpPr/>
          <p:nvPr/>
        </p:nvSpPr>
        <p:spPr>
          <a:xfrm>
            <a:off x="4523482" y="2932212"/>
            <a:ext cx="876300" cy="3059013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막대 18"/>
          <p:cNvSpPr/>
          <p:nvPr/>
        </p:nvSpPr>
        <p:spPr>
          <a:xfrm>
            <a:off x="5772299" y="2436168"/>
            <a:ext cx="876300" cy="3555057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>
            <a:off x="7273082" y="1852612"/>
            <a:ext cx="4385518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533400" y="6538912"/>
            <a:ext cx="11125200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13" name="회사명 31"/>
          <p:cNvSpPr txBox="1"/>
          <p:nvPr/>
        </p:nvSpPr>
        <p:spPr>
          <a:xfrm>
            <a:off x="533400" y="338138"/>
            <a:ext cx="59808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Hankki Lab</a:t>
            </a:r>
          </a:p>
        </p:txBody>
      </p:sp>
      <p:sp>
        <p:nvSpPr>
          <p:cNvPr id="14" name="키커 32"/>
          <p:cNvSpPr txBox="1"/>
          <p:nvPr/>
        </p:nvSpPr>
        <p:spPr>
          <a:xfrm>
            <a:off x="10855523" y="338138"/>
            <a:ext cx="85425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세로 막대 추이 p07</a:t>
            </a:r>
          </a:p>
        </p:txBody>
      </p:sp>
      <p:sp>
        <p:nvSpPr>
          <p:cNvPr id="15" name="축 제목 36"/>
          <p:cNvSpPr txBox="1"/>
          <p:nvPr/>
        </p:nvSpPr>
        <p:spPr>
          <a:xfrm>
            <a:off x="533400" y="1600200"/>
            <a:ext cx="1053144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월 활성 브랜드사</a:t>
            </a:r>
          </a:p>
        </p:txBody>
      </p:sp>
      <p:sp>
        <p:nvSpPr>
          <p:cNvPr id="16" name="u 37"/>
          <p:cNvSpPr txBox="1"/>
          <p:nvPr/>
        </p:nvSpPr>
        <p:spPr>
          <a:xfrm>
            <a:off x="6062662" y="1647825"/>
            <a:ext cx="88164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곳, 2026년 5~9월</a:t>
            </a:r>
          </a:p>
        </p:txBody>
      </p:sp>
      <p:sp>
        <p:nvSpPr>
          <p:cNvPr id="17" name="단계 39"/>
          <p:cNvSpPr txBox="1"/>
          <p:nvPr/>
        </p:nvSpPr>
        <p:spPr>
          <a:xfrm>
            <a:off x="1130647" y="4160044"/>
            <a:ext cx="194417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98</a:t>
            </a:r>
          </a:p>
        </p:txBody>
      </p:sp>
      <p:sp>
        <p:nvSpPr>
          <p:cNvPr id="18" name="단계 41"/>
          <p:cNvSpPr txBox="1"/>
          <p:nvPr/>
        </p:nvSpPr>
        <p:spPr>
          <a:xfrm>
            <a:off x="2362349" y="3746599"/>
            <a:ext cx="230017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121</a:t>
            </a:r>
          </a:p>
        </p:txBody>
      </p:sp>
      <p:sp>
        <p:nvSpPr>
          <p:cNvPr id="19" name="단계 43"/>
          <p:cNvSpPr txBox="1"/>
          <p:nvPr/>
        </p:nvSpPr>
        <p:spPr>
          <a:xfrm>
            <a:off x="3600748" y="3250555"/>
            <a:ext cx="251996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152</a:t>
            </a:r>
          </a:p>
        </p:txBody>
      </p:sp>
      <p:sp>
        <p:nvSpPr>
          <p:cNvPr id="20" name="단계 45"/>
          <p:cNvSpPr txBox="1"/>
          <p:nvPr/>
        </p:nvSpPr>
        <p:spPr>
          <a:xfrm>
            <a:off x="4846737" y="2713137"/>
            <a:ext cx="257877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183</a:t>
            </a:r>
          </a:p>
        </p:txBody>
      </p:sp>
      <p:sp>
        <p:nvSpPr>
          <p:cNvPr id="21" name="단계 47"/>
          <p:cNvSpPr txBox="1"/>
          <p:nvPr/>
        </p:nvSpPr>
        <p:spPr>
          <a:xfrm>
            <a:off x="6096595" y="2217093"/>
            <a:ext cx="25586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D9415F"/>
                </a:solidFill>
                <a:latin typeface="Pretendard SemiBold"/>
                <a:ea typeface="Pretendard SemiBold"/>
                <a:cs typeface="Pretendard SemiBold"/>
              </a:rPr>
              <a:t>214</a:t>
            </a:r>
          </a:p>
        </p:txBody>
      </p:sp>
      <p:sp>
        <p:nvSpPr>
          <p:cNvPr id="22" name="xs 49"/>
          <p:cNvSpPr txBox="1"/>
          <p:nvPr/>
        </p:nvSpPr>
        <p:spPr>
          <a:xfrm>
            <a:off x="1114964" y="6076950"/>
            <a:ext cx="19998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5월</a:t>
            </a:r>
          </a:p>
        </p:txBody>
      </p:sp>
      <p:sp>
        <p:nvSpPr>
          <p:cNvPr id="23" name="xs 50"/>
          <p:cNvSpPr txBox="1"/>
          <p:nvPr/>
        </p:nvSpPr>
        <p:spPr>
          <a:xfrm>
            <a:off x="2362697" y="6076950"/>
            <a:ext cx="20215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6월</a:t>
            </a:r>
          </a:p>
        </p:txBody>
      </p:sp>
      <p:sp>
        <p:nvSpPr>
          <p:cNvPr id="24" name="xs 51"/>
          <p:cNvSpPr txBox="1"/>
          <p:nvPr/>
        </p:nvSpPr>
        <p:spPr>
          <a:xfrm>
            <a:off x="3615532" y="6076950"/>
            <a:ext cx="19441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7월</a:t>
            </a:r>
          </a:p>
        </p:txBody>
      </p:sp>
      <p:sp>
        <p:nvSpPr>
          <p:cNvPr id="25" name="xs 52"/>
          <p:cNvSpPr txBox="1"/>
          <p:nvPr/>
        </p:nvSpPr>
        <p:spPr>
          <a:xfrm>
            <a:off x="4860944" y="6076950"/>
            <a:ext cx="20122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8월</a:t>
            </a:r>
          </a:p>
        </p:txBody>
      </p:sp>
      <p:sp>
        <p:nvSpPr>
          <p:cNvPr id="26" name="xs 53"/>
          <p:cNvSpPr txBox="1"/>
          <p:nvPr/>
        </p:nvSpPr>
        <p:spPr>
          <a:xfrm>
            <a:off x="6109445" y="6076950"/>
            <a:ext cx="20215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9월</a:t>
            </a:r>
          </a:p>
        </p:txBody>
      </p:sp>
      <p:sp>
        <p:nvSpPr>
          <p:cNvPr id="27" name="열 제목 55"/>
          <p:cNvSpPr txBox="1"/>
          <p:nvPr/>
        </p:nvSpPr>
        <p:spPr>
          <a:xfrm>
            <a:off x="7273082" y="1600200"/>
            <a:ext cx="122773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이 도표가 말하는 것</a:t>
            </a:r>
          </a:p>
        </p:txBody>
      </p:sp>
      <p:sp>
        <p:nvSpPr>
          <p:cNvPr id="28" name="글머리표 56"/>
          <p:cNvSpPr txBox="1"/>
          <p:nvPr/>
        </p:nvSpPr>
        <p:spPr>
          <a:xfrm>
            <a:off x="7273082" y="3643312"/>
            <a:ext cx="4385518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5개월 만에 2.2배가 되었다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매달 23~31곳씩 늘었다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9월 증가 폭 31곳이 가장 크다</a:t>
            </a:r>
          </a:p>
        </p:txBody>
      </p:sp>
      <p:sp>
        <p:nvSpPr>
          <p:cNvPr id="29" name="출처 57"/>
          <p:cNvSpPr txBox="1"/>
          <p:nvPr/>
        </p:nvSpPr>
        <p:spPr>
          <a:xfrm>
            <a:off x="533400" y="6324600"/>
            <a:ext cx="137137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출처: 예시 데이터, 실제 수치 아님</a:t>
            </a:r>
          </a:p>
        </p:txBody>
      </p:sp>
      <p:sp>
        <p:nvSpPr>
          <p:cNvPr id="30" name="꼬리말 59"/>
          <p:cNvSpPr txBox="1"/>
          <p:nvPr/>
        </p:nvSpPr>
        <p:spPr>
          <a:xfrm>
            <a:off x="533400" y="6600825"/>
            <a:ext cx="115375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Hankki Lab | 도표 부품 견본</a:t>
            </a:r>
          </a:p>
        </p:txBody>
      </p:sp>
      <p:sp>
        <p:nvSpPr>
          <p:cNvPr id="31" name="pg 60"/>
          <p:cNvSpPr txBox="1"/>
          <p:nvPr/>
        </p:nvSpPr>
        <p:spPr>
          <a:xfrm>
            <a:off x="11601896" y="6600825"/>
            <a:ext cx="78022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90550"/>
            <a:ext cx="11125200" cy="704850"/>
          </a:xfrm>
        </p:spPr>
        <p:txBody>
          <a:bodyPr lIns="0" rIns="0" tIns="0" bIns="0" wrap="square" anchor="t">
            <a:noAutofit/>
          </a:bodyPr>
          <a:lstStyle/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매출의 48%는 중소 브랜드사에서 발생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376362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33400" y="2745581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sp>
        <p:nvSpPr>
          <p:cNvPr id="5" name="구성 조각 8"/>
          <p:cNvSpPr/>
          <p:nvPr/>
        </p:nvSpPr>
        <p:spPr>
          <a:xfrm>
            <a:off x="533400" y="2902744"/>
            <a:ext cx="5339953" cy="381000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구성 조각 10"/>
          <p:cNvSpPr/>
          <p:nvPr/>
        </p:nvSpPr>
        <p:spPr>
          <a:xfrm>
            <a:off x="5873353" y="2902744"/>
            <a:ext cx="3003798" cy="381000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구성 조각 12"/>
          <p:cNvSpPr/>
          <p:nvPr/>
        </p:nvSpPr>
        <p:spPr>
          <a:xfrm>
            <a:off x="8877151" y="2902744"/>
            <a:ext cx="1779984" cy="38100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구성 조각 14"/>
          <p:cNvSpPr/>
          <p:nvPr/>
        </p:nvSpPr>
        <p:spPr>
          <a:xfrm>
            <a:off x="10657136" y="2902744"/>
            <a:ext cx="1001167" cy="381000"/>
          </a:xfrm>
          <a:prstGeom prst="rect">
            <a:avLst/>
          </a:prstGeom>
          <a:solidFill>
            <a:srgbClr val="FBE9E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a 17"/>
          <p:cNvSpPr/>
          <p:nvPr/>
        </p:nvSpPr>
        <p:spPr>
          <a:xfrm>
            <a:off x="533400" y="3459956"/>
            <a:ext cx="104775" cy="104775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b 19"/>
          <p:cNvSpPr/>
          <p:nvPr/>
        </p:nvSpPr>
        <p:spPr>
          <a:xfrm>
            <a:off x="1386780" y="3459956"/>
            <a:ext cx="104775" cy="104775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c 21"/>
          <p:cNvSpPr/>
          <p:nvPr/>
        </p:nvSpPr>
        <p:spPr>
          <a:xfrm>
            <a:off x="2240161" y="3459956"/>
            <a:ext cx="104775" cy="104775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d 23"/>
          <p:cNvSpPr/>
          <p:nvPr/>
        </p:nvSpPr>
        <p:spPr>
          <a:xfrm>
            <a:off x="2876699" y="3459956"/>
            <a:ext cx="104775" cy="104775"/>
          </a:xfrm>
          <a:prstGeom prst="rect">
            <a:avLst/>
          </a:prstGeom>
          <a:solidFill>
            <a:srgbClr val="FBE9ED"/>
          </a:solidFill>
          <a:ln>
            <a:noFill/>
          </a:ln>
        </p:spPr>
        <p:txBody>
          <a:bodyPr rtlCol="0" anchor="ctr"/>
          <a:lstStyle/>
          <a:p/>
        </p:txBody>
      </p:sp>
      <p:graphicFrame>
        <p:nvGraphicFramePr>
          <p:cNvPr id="13" name="표 24"/>
          <p:cNvGraphicFramePr>
            <a:graphicFrameLocks noGrp="1"/>
          </p:cNvGraphicFramePr>
          <p:nvPr/>
        </p:nvGraphicFramePr>
        <p:xfrm>
          <a:off x="533400" y="3740944"/>
          <a:ext cx="11125200" cy="1595438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809750"/>
                <a:gridCol w="1143000"/>
                <a:gridCol w="8172450"/>
              </a:tblGrid>
              <a:tr h="285750"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고객 규모</a:t>
                      </a:r>
                      <a:endParaRPr sz="100"/>
                    </a:p>
                  </a:txBody>
                  <a:tcPr marT="0" marR="95250" marB="66675" marL="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8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 latinLnBrk="0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매출</a:t>
                      </a:r>
                      <a:endParaRPr sz="100"/>
                    </a:p>
                  </a:txBody>
                  <a:tcPr marT="0" marR="95250" marB="66675" marL="952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8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특징</a:t>
                      </a:r>
                      <a:endParaRPr sz="100"/>
                    </a:p>
                  </a:txBody>
                  <a:tcPr marT="0" marR="95250" marB="66675" marL="952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8181C"/>
                      </a:solidFill>
                    </a:lnB>
                    <a:noFill/>
                  </a:tcPr>
                </a:tc>
              </a:tr>
              <a:tr h="438150"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중소 브랜드</a:t>
                      </a:r>
                      <a:endParaRPr sz="100"/>
                    </a:p>
                  </a:txBody>
                  <a:tcPr marT="104775" marR="95250" marB="104775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FCFD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232326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20.2억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FCFD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23232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캠페인을 자주, 작게 집행한다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FCFD4"/>
                      </a:solidFill>
                    </a:lnB>
                    <a:noFill/>
                  </a:tcPr>
                </a:tc>
              </a:tr>
              <a:tr h="438150"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중견 브랜드</a:t>
                      </a:r>
                      <a:endParaRPr sz="100"/>
                    </a:p>
                  </a:txBody>
                  <a:tcPr marT="104775" marR="95250" marB="104775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FCFD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23232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11.3억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FCFD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23232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분기마다 큰 캠페인을 한 번씩 연다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FCFD4"/>
                      </a:solidFill>
                    </a:lnB>
                    <a:noFill/>
                  </a:tcPr>
                </a:tc>
              </a:tr>
              <a:tr h="433388"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대기업</a:t>
                      </a:r>
                      <a:endParaRPr sz="100"/>
                    </a:p>
                  </a:txBody>
                  <a:tcPr marT="104775" marR="95250" marB="104775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23232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6.7억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232326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계약 기간이 길고 해지가 적다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14" name="Connector 13"/>
          <p:cNvCxnSpPr/>
          <p:nvPr/>
        </p:nvCxnSpPr>
        <p:spPr>
          <a:xfrm>
            <a:off x="533400" y="6538912"/>
            <a:ext cx="11125200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15" name="회사명 29"/>
          <p:cNvSpPr txBox="1"/>
          <p:nvPr/>
        </p:nvSpPr>
        <p:spPr>
          <a:xfrm>
            <a:off x="533400" y="338138"/>
            <a:ext cx="59808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Hankki Lab</a:t>
            </a:r>
          </a:p>
        </p:txBody>
      </p:sp>
      <p:sp>
        <p:nvSpPr>
          <p:cNvPr id="16" name="키커 30"/>
          <p:cNvSpPr txBox="1"/>
          <p:nvPr/>
        </p:nvSpPr>
        <p:spPr>
          <a:xfrm>
            <a:off x="10756850" y="338138"/>
            <a:ext cx="95687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구성비 누적 막대 p08</a:t>
            </a:r>
          </a:p>
        </p:txBody>
      </p:sp>
      <p:sp>
        <p:nvSpPr>
          <p:cNvPr id="17" name="축 제목 34"/>
          <p:cNvSpPr txBox="1"/>
          <p:nvPr/>
        </p:nvSpPr>
        <p:spPr>
          <a:xfrm>
            <a:off x="533400" y="2493169"/>
            <a:ext cx="136471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고객 규모별 매출 비중</a:t>
            </a:r>
          </a:p>
        </p:txBody>
      </p:sp>
      <p:sp>
        <p:nvSpPr>
          <p:cNvPr id="18" name="u 35"/>
          <p:cNvSpPr txBox="1"/>
          <p:nvPr/>
        </p:nvSpPr>
        <p:spPr>
          <a:xfrm>
            <a:off x="10846743" y="2540794"/>
            <a:ext cx="86338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%, 2026년 1~9월</a:t>
            </a:r>
          </a:p>
        </p:txBody>
      </p:sp>
      <p:sp>
        <p:nvSpPr>
          <p:cNvPr id="19" name="구성 조각 37"/>
          <p:cNvSpPr txBox="1"/>
          <p:nvPr/>
        </p:nvSpPr>
        <p:spPr>
          <a:xfrm>
            <a:off x="3066901" y="3021806"/>
            <a:ext cx="30291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48%</a:t>
            </a:r>
          </a:p>
        </p:txBody>
      </p:sp>
      <p:sp>
        <p:nvSpPr>
          <p:cNvPr id="20" name="구성 조각 39"/>
          <p:cNvSpPr txBox="1"/>
          <p:nvPr/>
        </p:nvSpPr>
        <p:spPr>
          <a:xfrm>
            <a:off x="7245251" y="3021806"/>
            <a:ext cx="28929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27%</a:t>
            </a:r>
          </a:p>
        </p:txBody>
      </p:sp>
      <p:sp>
        <p:nvSpPr>
          <p:cNvPr id="21" name="구성 조각 41"/>
          <p:cNvSpPr txBox="1"/>
          <p:nvPr/>
        </p:nvSpPr>
        <p:spPr>
          <a:xfrm>
            <a:off x="9641979" y="3021806"/>
            <a:ext cx="27923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16%</a:t>
            </a:r>
          </a:p>
        </p:txBody>
      </p:sp>
      <p:sp>
        <p:nvSpPr>
          <p:cNvPr id="22" name="구성 조각 43"/>
          <p:cNvSpPr txBox="1"/>
          <p:nvPr/>
        </p:nvSpPr>
        <p:spPr>
          <a:xfrm>
            <a:off x="11061055" y="3021806"/>
            <a:ext cx="22011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325" y="3445669"/>
            <a:ext cx="54004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중소 브랜드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48705" y="3445669"/>
            <a:ext cx="54004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중견 브랜드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02086" y="3445669"/>
            <a:ext cx="31452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대기업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38624" y="3445669"/>
            <a:ext cx="49144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1인 브랜드</a:t>
            </a:r>
          </a:p>
        </p:txBody>
      </p:sp>
      <p:sp>
        <p:nvSpPr>
          <p:cNvPr id="27" name="출처 53"/>
          <p:cNvSpPr txBox="1"/>
          <p:nvPr/>
        </p:nvSpPr>
        <p:spPr>
          <a:xfrm>
            <a:off x="533400" y="6324600"/>
            <a:ext cx="137137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출처: 예시 데이터, 실제 수치 아님</a:t>
            </a:r>
          </a:p>
        </p:txBody>
      </p:sp>
      <p:sp>
        <p:nvSpPr>
          <p:cNvPr id="28" name="꼬리말 55"/>
          <p:cNvSpPr txBox="1"/>
          <p:nvPr/>
        </p:nvSpPr>
        <p:spPr>
          <a:xfrm>
            <a:off x="533400" y="6600825"/>
            <a:ext cx="115375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Hankki Lab | 도표 부품 견본</a:t>
            </a:r>
          </a:p>
        </p:txBody>
      </p:sp>
      <p:sp>
        <p:nvSpPr>
          <p:cNvPr id="29" name="pg 56"/>
          <p:cNvSpPr txBox="1"/>
          <p:nvPr/>
        </p:nvSpPr>
        <p:spPr>
          <a:xfrm>
            <a:off x="11599069" y="6600825"/>
            <a:ext cx="80962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90550"/>
            <a:ext cx="11125200" cy="704850"/>
          </a:xfrm>
        </p:spPr>
        <p:txBody>
          <a:bodyPr lIns="0" rIns="0" tIns="0" bIns="0" wrap="square" anchor="t">
            <a:noAutofit/>
          </a:bodyPr>
          <a:lstStyle/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콘텐츠 1건을 3일 안에 만들면서</a:t>
            </a:r>
          </a:p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실사용 후기를 쓰는 방식은 자사뿐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376362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33400" y="5976938"/>
            <a:ext cx="63586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538162" y="1800225"/>
            <a:ext cx="0" cy="4181475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3722191" y="1800225"/>
            <a:ext cx="0" cy="4171950"/>
          </a:xfrm>
          <a:prstGeom prst="line">
            <a:avLst/>
          </a:prstGeom>
          <a:ln w="9525">
            <a:solidFill>
              <a:srgbClr val="CFCFD4"/>
            </a:solidFill>
            <a:prstDash val="dash"/>
          </a:ln>
        </p:spPr>
      </p:cxnSp>
      <p:cxnSp>
        <p:nvCxnSpPr>
          <p:cNvPr id="7" name="Connector 6"/>
          <p:cNvCxnSpPr/>
          <p:nvPr/>
        </p:nvCxnSpPr>
        <p:spPr>
          <a:xfrm>
            <a:off x="542925" y="3890962"/>
            <a:ext cx="6349157" cy="0"/>
          </a:xfrm>
          <a:prstGeom prst="line">
            <a:avLst/>
          </a:prstGeom>
          <a:ln w="9525">
            <a:solidFill>
              <a:srgbClr val="CFCFD4"/>
            </a:solidFill>
            <a:prstDash val="dash"/>
          </a:ln>
        </p:spPr>
      </p:cxnSp>
      <p:sp>
        <p:nvSpPr>
          <p:cNvPr id="8" name="위치 점 10"/>
          <p:cNvSpPr/>
          <p:nvPr/>
        </p:nvSpPr>
        <p:spPr>
          <a:xfrm>
            <a:off x="5114181" y="2551063"/>
            <a:ext cx="171450" cy="171450"/>
          </a:xfrm>
          <a:prstGeom prst="ellipse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위치 점 12"/>
          <p:cNvSpPr/>
          <p:nvPr/>
        </p:nvSpPr>
        <p:spPr>
          <a:xfrm>
            <a:off x="2066627" y="2889647"/>
            <a:ext cx="133350" cy="1333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위치 점 14"/>
          <p:cNvSpPr/>
          <p:nvPr/>
        </p:nvSpPr>
        <p:spPr>
          <a:xfrm>
            <a:off x="4606379" y="4725293"/>
            <a:ext cx="133350" cy="1333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위치 점 16"/>
          <p:cNvSpPr/>
          <p:nvPr/>
        </p:nvSpPr>
        <p:spPr>
          <a:xfrm>
            <a:off x="1685627" y="4975622"/>
            <a:ext cx="133350" cy="1333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2" name="Connector 11"/>
          <p:cNvCxnSpPr/>
          <p:nvPr/>
        </p:nvCxnSpPr>
        <p:spPr>
          <a:xfrm>
            <a:off x="7273082" y="1852612"/>
            <a:ext cx="4385518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533400" y="6538912"/>
            <a:ext cx="11125200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14" name="회사명 28"/>
          <p:cNvSpPr txBox="1"/>
          <p:nvPr/>
        </p:nvSpPr>
        <p:spPr>
          <a:xfrm>
            <a:off x="533400" y="338138"/>
            <a:ext cx="59808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Hankki Lab</a:t>
            </a:r>
          </a:p>
        </p:txBody>
      </p:sp>
      <p:sp>
        <p:nvSpPr>
          <p:cNvPr id="15" name="키커 29"/>
          <p:cNvSpPr txBox="1"/>
          <p:nvPr/>
        </p:nvSpPr>
        <p:spPr>
          <a:xfrm>
            <a:off x="10879931" y="338138"/>
            <a:ext cx="828866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2×2 포지셔닝 p13</a:t>
            </a:r>
          </a:p>
        </p:txBody>
      </p:sp>
      <p:sp>
        <p:nvSpPr>
          <p:cNvPr id="16" name="ylab 32"/>
          <p:cNvSpPr txBox="1"/>
          <p:nvPr/>
        </p:nvSpPr>
        <p:spPr>
          <a:xfrm>
            <a:off x="533400" y="1571625"/>
            <a:ext cx="89898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콘텐츠 신뢰도 높음</a:t>
            </a:r>
          </a:p>
        </p:txBody>
      </p:sp>
      <p:sp>
        <p:nvSpPr>
          <p:cNvPr id="17" name="위치 점 38"/>
          <p:cNvSpPr txBox="1"/>
          <p:nvPr/>
        </p:nvSpPr>
        <p:spPr>
          <a:xfrm>
            <a:off x="5352306" y="2565350"/>
            <a:ext cx="24178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자사</a:t>
            </a:r>
          </a:p>
        </p:txBody>
      </p:sp>
      <p:sp>
        <p:nvSpPr>
          <p:cNvPr id="18" name="위치 점 40"/>
          <p:cNvSpPr txBox="1"/>
          <p:nvPr/>
        </p:nvSpPr>
        <p:spPr>
          <a:xfrm>
            <a:off x="2266652" y="2884884"/>
            <a:ext cx="94185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인플루언서 대행사</a:t>
            </a:r>
          </a:p>
        </p:txBody>
      </p:sp>
      <p:sp>
        <p:nvSpPr>
          <p:cNvPr id="19" name="위치 점 42"/>
          <p:cNvSpPr txBox="1"/>
          <p:nvPr/>
        </p:nvSpPr>
        <p:spPr>
          <a:xfrm>
            <a:off x="4806404" y="4720530"/>
            <a:ext cx="64359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AI 생성 도구</a:t>
            </a:r>
          </a:p>
        </p:txBody>
      </p:sp>
      <p:sp>
        <p:nvSpPr>
          <p:cNvPr id="20" name="위치 점 44"/>
          <p:cNvSpPr txBox="1"/>
          <p:nvPr/>
        </p:nvSpPr>
        <p:spPr>
          <a:xfrm>
            <a:off x="1885652" y="4970859"/>
            <a:ext cx="49670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자체 촬영</a:t>
            </a:r>
          </a:p>
        </p:txBody>
      </p:sp>
      <p:sp>
        <p:nvSpPr>
          <p:cNvPr id="21" name="xlab 45"/>
          <p:cNvSpPr txBox="1"/>
          <p:nvPr/>
        </p:nvSpPr>
        <p:spPr>
          <a:xfrm>
            <a:off x="533400" y="6096000"/>
            <a:ext cx="22460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낮음</a:t>
            </a:r>
          </a:p>
        </p:txBody>
      </p:sp>
      <p:sp>
        <p:nvSpPr>
          <p:cNvPr id="22" name="xlab 46"/>
          <p:cNvSpPr txBox="1"/>
          <p:nvPr/>
        </p:nvSpPr>
        <p:spPr>
          <a:xfrm>
            <a:off x="3501182" y="6096000"/>
            <a:ext cx="459093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제작 속도</a:t>
            </a:r>
          </a:p>
        </p:txBody>
      </p:sp>
      <p:sp>
        <p:nvSpPr>
          <p:cNvPr id="23" name="xlab 47"/>
          <p:cNvSpPr txBox="1"/>
          <p:nvPr/>
        </p:nvSpPr>
        <p:spPr>
          <a:xfrm>
            <a:off x="6694438" y="6096000"/>
            <a:ext cx="22460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높음</a:t>
            </a:r>
          </a:p>
        </p:txBody>
      </p:sp>
      <p:sp>
        <p:nvSpPr>
          <p:cNvPr id="24" name="열 제목 49"/>
          <p:cNvSpPr txBox="1"/>
          <p:nvPr/>
        </p:nvSpPr>
        <p:spPr>
          <a:xfrm>
            <a:off x="7273082" y="1600200"/>
            <a:ext cx="46760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읽는 법</a:t>
            </a:r>
          </a:p>
        </p:txBody>
      </p:sp>
      <p:sp>
        <p:nvSpPr>
          <p:cNvPr id="25" name="글머리표 50"/>
          <p:cNvSpPr txBox="1"/>
          <p:nvPr/>
        </p:nvSpPr>
        <p:spPr>
          <a:xfrm>
            <a:off x="7273082" y="3643312"/>
            <a:ext cx="4385518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오른쪽 위가 빠르면서 믿을 만한 자리다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자사는 1건에 3일, 대행사는 3주가 걸린다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AI 도구는 빠르지만 실제 사용 후기와 다르다</a:t>
            </a:r>
          </a:p>
        </p:txBody>
      </p:sp>
      <p:sp>
        <p:nvSpPr>
          <p:cNvPr id="26" name="출처 51"/>
          <p:cNvSpPr txBox="1"/>
          <p:nvPr/>
        </p:nvSpPr>
        <p:spPr>
          <a:xfrm>
            <a:off x="533400" y="6324600"/>
            <a:ext cx="137137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출처: 예시 데이터, 실제 수치 아님</a:t>
            </a:r>
          </a:p>
        </p:txBody>
      </p:sp>
      <p:sp>
        <p:nvSpPr>
          <p:cNvPr id="27" name="꼬리말 53"/>
          <p:cNvSpPr txBox="1"/>
          <p:nvPr/>
        </p:nvSpPr>
        <p:spPr>
          <a:xfrm>
            <a:off x="533400" y="6600825"/>
            <a:ext cx="115375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Hankki Lab | 도표 부품 견본</a:t>
            </a:r>
          </a:p>
        </p:txBody>
      </p:sp>
      <p:sp>
        <p:nvSpPr>
          <p:cNvPr id="28" name="pg 54"/>
          <p:cNvSpPr txBox="1"/>
          <p:nvPr/>
        </p:nvSpPr>
        <p:spPr>
          <a:xfrm>
            <a:off x="11598027" y="6600825"/>
            <a:ext cx="82046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90550"/>
            <a:ext cx="11125200" cy="704850"/>
          </a:xfrm>
        </p:spPr>
        <p:txBody>
          <a:bodyPr lIns="0" rIns="0" tIns="0" bIns="0" wrap="square" anchor="t">
            <a:noAutofit/>
          </a:bodyPr>
          <a:lstStyle/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연 매출은 48억 원에서 81억 원으로 증가,</a:t>
            </a:r>
          </a:p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신규 브랜드가 18억 원 기여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376362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33400" y="1852612"/>
            <a:ext cx="63586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533400" y="5995988"/>
            <a:ext cx="63586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sp>
        <p:nvSpPr>
          <p:cNvPr id="6" name="wb 10"/>
          <p:cNvSpPr/>
          <p:nvPr/>
        </p:nvSpPr>
        <p:spPr>
          <a:xfrm>
            <a:off x="802481" y="3883075"/>
            <a:ext cx="600968" cy="2108150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wb 12"/>
          <p:cNvSpPr/>
          <p:nvPr/>
        </p:nvSpPr>
        <p:spPr>
          <a:xfrm>
            <a:off x="1846362" y="3093541"/>
            <a:ext cx="601117" cy="789533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wb 14"/>
          <p:cNvSpPr/>
          <p:nvPr/>
        </p:nvSpPr>
        <p:spPr>
          <a:xfrm>
            <a:off x="2890391" y="2696766"/>
            <a:ext cx="600968" cy="396776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wb 16"/>
          <p:cNvSpPr/>
          <p:nvPr/>
        </p:nvSpPr>
        <p:spPr>
          <a:xfrm>
            <a:off x="3934271" y="2696766"/>
            <a:ext cx="600968" cy="264468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wb 18"/>
          <p:cNvSpPr/>
          <p:nvPr/>
        </p:nvSpPr>
        <p:spPr>
          <a:xfrm>
            <a:off x="4978152" y="2436316"/>
            <a:ext cx="600968" cy="524917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wb 20"/>
          <p:cNvSpPr/>
          <p:nvPr/>
        </p:nvSpPr>
        <p:spPr>
          <a:xfrm>
            <a:off x="6022032" y="2436168"/>
            <a:ext cx="600968" cy="3555057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2" name="Connector 11"/>
          <p:cNvCxnSpPr/>
          <p:nvPr/>
        </p:nvCxnSpPr>
        <p:spPr>
          <a:xfrm>
            <a:off x="7273082" y="1852612"/>
            <a:ext cx="4385518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533400" y="6538912"/>
            <a:ext cx="11125200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14" name="회사명 34"/>
          <p:cNvSpPr txBox="1"/>
          <p:nvPr/>
        </p:nvSpPr>
        <p:spPr>
          <a:xfrm>
            <a:off x="533400" y="338138"/>
            <a:ext cx="59808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Hankki Lab</a:t>
            </a:r>
          </a:p>
        </p:txBody>
      </p:sp>
      <p:sp>
        <p:nvSpPr>
          <p:cNvPr id="15" name="키커 35"/>
          <p:cNvSpPr txBox="1"/>
          <p:nvPr/>
        </p:nvSpPr>
        <p:spPr>
          <a:xfrm>
            <a:off x="11262568" y="338138"/>
            <a:ext cx="430923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폭포 p26</a:t>
            </a:r>
          </a:p>
        </p:txBody>
      </p:sp>
      <p:sp>
        <p:nvSpPr>
          <p:cNvPr id="16" name="축 제목 39"/>
          <p:cNvSpPr txBox="1"/>
          <p:nvPr/>
        </p:nvSpPr>
        <p:spPr>
          <a:xfrm>
            <a:off x="533400" y="1600200"/>
            <a:ext cx="109075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연 매출 증감 요인</a:t>
            </a:r>
          </a:p>
        </p:txBody>
      </p:sp>
      <p:sp>
        <p:nvSpPr>
          <p:cNvPr id="17" name="u 40"/>
          <p:cNvSpPr txBox="1"/>
          <p:nvPr/>
        </p:nvSpPr>
        <p:spPr>
          <a:xfrm>
            <a:off x="5448895" y="1647825"/>
            <a:ext cx="151996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억 원, 2025년 대비 2026년 전망</a:t>
            </a:r>
          </a:p>
        </p:txBody>
      </p:sp>
      <p:sp>
        <p:nvSpPr>
          <p:cNvPr id="18" name="wv 42"/>
          <p:cNvSpPr txBox="1"/>
          <p:nvPr/>
        </p:nvSpPr>
        <p:spPr>
          <a:xfrm>
            <a:off x="685800" y="3664000"/>
            <a:ext cx="83433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48</a:t>
            </a:r>
          </a:p>
        </p:txBody>
      </p:sp>
      <p:sp>
        <p:nvSpPr>
          <p:cNvPr id="19" name="wv 44"/>
          <p:cNvSpPr txBox="1"/>
          <p:nvPr/>
        </p:nvSpPr>
        <p:spPr>
          <a:xfrm>
            <a:off x="1729680" y="2874466"/>
            <a:ext cx="834479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D9415F"/>
                </a:solidFill>
                <a:latin typeface="Pretendard SemiBold"/>
                <a:ea typeface="Pretendard SemiBold"/>
                <a:cs typeface="Pretendard SemiBold"/>
              </a:rPr>
              <a:t>+18</a:t>
            </a:r>
          </a:p>
        </p:txBody>
      </p:sp>
      <p:sp>
        <p:nvSpPr>
          <p:cNvPr id="20" name="wv 46"/>
          <p:cNvSpPr txBox="1"/>
          <p:nvPr/>
        </p:nvSpPr>
        <p:spPr>
          <a:xfrm>
            <a:off x="2773710" y="2481709"/>
            <a:ext cx="83433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D9415F"/>
                </a:solidFill>
                <a:latin typeface="Pretendard SemiBold"/>
                <a:ea typeface="Pretendard SemiBold"/>
                <a:cs typeface="Pretendard SemiBold"/>
              </a:rPr>
              <a:t>+9</a:t>
            </a:r>
          </a:p>
        </p:txBody>
      </p:sp>
      <p:sp>
        <p:nvSpPr>
          <p:cNvPr id="21" name="wv 48"/>
          <p:cNvSpPr txBox="1"/>
          <p:nvPr/>
        </p:nvSpPr>
        <p:spPr>
          <a:xfrm>
            <a:off x="3817590" y="2481709"/>
            <a:ext cx="83433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−6</a:t>
            </a:r>
          </a:p>
        </p:txBody>
      </p:sp>
      <p:sp>
        <p:nvSpPr>
          <p:cNvPr id="22" name="wv 50"/>
          <p:cNvSpPr txBox="1"/>
          <p:nvPr/>
        </p:nvSpPr>
        <p:spPr>
          <a:xfrm>
            <a:off x="4861471" y="2217093"/>
            <a:ext cx="83433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D9415F"/>
                </a:solidFill>
                <a:latin typeface="Pretendard SemiBold"/>
                <a:ea typeface="Pretendard SemiBold"/>
                <a:cs typeface="Pretendard SemiBold"/>
              </a:rPr>
              <a:t>+12</a:t>
            </a:r>
          </a:p>
        </p:txBody>
      </p:sp>
      <p:sp>
        <p:nvSpPr>
          <p:cNvPr id="23" name="wv 52"/>
          <p:cNvSpPr txBox="1"/>
          <p:nvPr/>
        </p:nvSpPr>
        <p:spPr>
          <a:xfrm>
            <a:off x="5905351" y="2217093"/>
            <a:ext cx="83433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81</a:t>
            </a:r>
          </a:p>
        </p:txBody>
      </p:sp>
      <p:sp>
        <p:nvSpPr>
          <p:cNvPr id="24" name="xs 54"/>
          <p:cNvSpPr txBox="1"/>
          <p:nvPr/>
        </p:nvSpPr>
        <p:spPr>
          <a:xfrm>
            <a:off x="946865" y="6076950"/>
            <a:ext cx="31205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2025</a:t>
            </a:r>
          </a:p>
        </p:txBody>
      </p:sp>
      <p:sp>
        <p:nvSpPr>
          <p:cNvPr id="25" name="xs 55"/>
          <p:cNvSpPr txBox="1"/>
          <p:nvPr/>
        </p:nvSpPr>
        <p:spPr>
          <a:xfrm>
            <a:off x="1854226" y="6076950"/>
            <a:ext cx="58524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신규 브랜드</a:t>
            </a:r>
          </a:p>
        </p:txBody>
      </p:sp>
      <p:sp>
        <p:nvSpPr>
          <p:cNvPr id="26" name="xs 56"/>
          <p:cNvSpPr txBox="1"/>
          <p:nvPr/>
        </p:nvSpPr>
        <p:spPr>
          <a:xfrm>
            <a:off x="3020690" y="6076950"/>
            <a:ext cx="34022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객단가</a:t>
            </a:r>
          </a:p>
        </p:txBody>
      </p:sp>
      <p:sp>
        <p:nvSpPr>
          <p:cNvPr id="27" name="xs 57"/>
          <p:cNvSpPr txBox="1"/>
          <p:nvPr/>
        </p:nvSpPr>
        <p:spPr>
          <a:xfrm>
            <a:off x="4118125" y="6076950"/>
            <a:ext cx="23311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이탈</a:t>
            </a:r>
          </a:p>
        </p:txBody>
      </p:sp>
      <p:sp>
        <p:nvSpPr>
          <p:cNvPr id="28" name="xs 58"/>
          <p:cNvSpPr txBox="1"/>
          <p:nvPr/>
        </p:nvSpPr>
        <p:spPr>
          <a:xfrm>
            <a:off x="5108451" y="6076950"/>
            <a:ext cx="34022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신상품</a:t>
            </a:r>
          </a:p>
        </p:txBody>
      </p:sp>
      <p:sp>
        <p:nvSpPr>
          <p:cNvPr id="29" name="xs 59"/>
          <p:cNvSpPr txBox="1"/>
          <p:nvPr/>
        </p:nvSpPr>
        <p:spPr>
          <a:xfrm>
            <a:off x="6130198" y="6076950"/>
            <a:ext cx="38448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2026E</a:t>
            </a:r>
          </a:p>
        </p:txBody>
      </p:sp>
      <p:sp>
        <p:nvSpPr>
          <p:cNvPr id="30" name="열 제목 61"/>
          <p:cNvSpPr txBox="1"/>
          <p:nvPr/>
        </p:nvSpPr>
        <p:spPr>
          <a:xfrm>
            <a:off x="7273082" y="1600200"/>
            <a:ext cx="122773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이 도표가 말하는 것</a:t>
            </a:r>
          </a:p>
        </p:txBody>
      </p:sp>
      <p:sp>
        <p:nvSpPr>
          <p:cNvPr id="31" name="글머리표 62"/>
          <p:cNvSpPr txBox="1"/>
          <p:nvPr/>
        </p:nvSpPr>
        <p:spPr>
          <a:xfrm>
            <a:off x="7273082" y="3643312"/>
            <a:ext cx="4385518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신규 브랜드 18억 원이 증가분의 가장 큰 몫이다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이탈로 6억 원이 빠진다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신상품 데이터 리포트가 12억 원을 더한다</a:t>
            </a:r>
          </a:p>
        </p:txBody>
      </p:sp>
      <p:sp>
        <p:nvSpPr>
          <p:cNvPr id="32" name="출처 63"/>
          <p:cNvSpPr txBox="1"/>
          <p:nvPr/>
        </p:nvSpPr>
        <p:spPr>
          <a:xfrm>
            <a:off x="533400" y="6324600"/>
            <a:ext cx="137137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출처: 예시 데이터, 실제 수치 아님</a:t>
            </a:r>
          </a:p>
        </p:txBody>
      </p:sp>
      <p:sp>
        <p:nvSpPr>
          <p:cNvPr id="33" name="꼬리말 65"/>
          <p:cNvSpPr txBox="1"/>
          <p:nvPr/>
        </p:nvSpPr>
        <p:spPr>
          <a:xfrm>
            <a:off x="533400" y="6600825"/>
            <a:ext cx="115375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Hankki Lab | 도표 부품 견본</a:t>
            </a:r>
          </a:p>
        </p:txBody>
      </p:sp>
      <p:sp>
        <p:nvSpPr>
          <p:cNvPr id="34" name="pg 66"/>
          <p:cNvSpPr txBox="1"/>
          <p:nvPr/>
        </p:nvSpPr>
        <p:spPr>
          <a:xfrm>
            <a:off x="11600706" y="6600825"/>
            <a:ext cx="79260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90550"/>
            <a:ext cx="11125200" cy="704850"/>
          </a:xfrm>
        </p:spPr>
        <p:txBody>
          <a:bodyPr lIns="0" rIns="0" tIns="0" bIns="0" wrap="square" anchor="t">
            <a:noAutofit/>
          </a:bodyPr>
          <a:lstStyle/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분기 매출은 11억 원에서 26억 원으로 증가,</a:t>
            </a:r>
          </a:p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구독이 3배로 가장 빠르게 성장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376362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33400" y="1852612"/>
            <a:ext cx="63586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533400" y="5748338"/>
            <a:ext cx="63586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sp>
        <p:nvSpPr>
          <p:cNvPr id="6" name="구성 조각 10"/>
          <p:cNvSpPr/>
          <p:nvPr/>
        </p:nvSpPr>
        <p:spPr>
          <a:xfrm>
            <a:off x="935236" y="4360366"/>
            <a:ext cx="914400" cy="252561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구성 조각 12"/>
          <p:cNvSpPr/>
          <p:nvPr/>
        </p:nvSpPr>
        <p:spPr>
          <a:xfrm>
            <a:off x="935236" y="4612928"/>
            <a:ext cx="914400" cy="376833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구성 조각 14"/>
          <p:cNvSpPr/>
          <p:nvPr/>
        </p:nvSpPr>
        <p:spPr>
          <a:xfrm>
            <a:off x="935236" y="4989761"/>
            <a:ext cx="914400" cy="753814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구성 조각 17"/>
          <p:cNvSpPr/>
          <p:nvPr/>
        </p:nvSpPr>
        <p:spPr>
          <a:xfrm>
            <a:off x="2482155" y="3734693"/>
            <a:ext cx="914400" cy="376833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구성 조각 19"/>
          <p:cNvSpPr/>
          <p:nvPr/>
        </p:nvSpPr>
        <p:spPr>
          <a:xfrm>
            <a:off x="2482155" y="4111526"/>
            <a:ext cx="914400" cy="629543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구성 조각 21"/>
          <p:cNvSpPr/>
          <p:nvPr/>
        </p:nvSpPr>
        <p:spPr>
          <a:xfrm>
            <a:off x="2482155" y="4741069"/>
            <a:ext cx="914400" cy="1002506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구성 조각 24"/>
          <p:cNvSpPr/>
          <p:nvPr/>
        </p:nvSpPr>
        <p:spPr>
          <a:xfrm>
            <a:off x="4028926" y="3108871"/>
            <a:ext cx="914400" cy="501253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구성 조각 26"/>
          <p:cNvSpPr/>
          <p:nvPr/>
        </p:nvSpPr>
        <p:spPr>
          <a:xfrm>
            <a:off x="4028926" y="3610124"/>
            <a:ext cx="914400" cy="878235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구성 조각 28"/>
          <p:cNvSpPr/>
          <p:nvPr/>
        </p:nvSpPr>
        <p:spPr>
          <a:xfrm>
            <a:off x="4028926" y="4488359"/>
            <a:ext cx="914400" cy="1255216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구성 조각 31"/>
          <p:cNvSpPr/>
          <p:nvPr/>
        </p:nvSpPr>
        <p:spPr>
          <a:xfrm>
            <a:off x="5575697" y="2475458"/>
            <a:ext cx="914400" cy="629543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구성 조각 33"/>
          <p:cNvSpPr/>
          <p:nvPr/>
        </p:nvSpPr>
        <p:spPr>
          <a:xfrm>
            <a:off x="5575697" y="3105001"/>
            <a:ext cx="914400" cy="1130796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구성 조각 35"/>
          <p:cNvSpPr/>
          <p:nvPr/>
        </p:nvSpPr>
        <p:spPr>
          <a:xfrm>
            <a:off x="5575697" y="4235797"/>
            <a:ext cx="914400" cy="1507778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a 42"/>
          <p:cNvSpPr/>
          <p:nvPr/>
        </p:nvSpPr>
        <p:spPr>
          <a:xfrm>
            <a:off x="533400" y="6100762"/>
            <a:ext cx="104775" cy="104775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b 44"/>
          <p:cNvSpPr/>
          <p:nvPr/>
        </p:nvSpPr>
        <p:spPr>
          <a:xfrm>
            <a:off x="1292126" y="6100762"/>
            <a:ext cx="104775" cy="104775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c 46"/>
          <p:cNvSpPr/>
          <p:nvPr/>
        </p:nvSpPr>
        <p:spPr>
          <a:xfrm>
            <a:off x="1834009" y="6100762"/>
            <a:ext cx="104775" cy="104775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1" name="Connector 20"/>
          <p:cNvCxnSpPr/>
          <p:nvPr/>
        </p:nvCxnSpPr>
        <p:spPr>
          <a:xfrm>
            <a:off x="7273082" y="1852612"/>
            <a:ext cx="4385518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3400" y="6538912"/>
            <a:ext cx="11125200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23" name="회사명 54"/>
          <p:cNvSpPr txBox="1"/>
          <p:nvPr/>
        </p:nvSpPr>
        <p:spPr>
          <a:xfrm>
            <a:off x="533400" y="338138"/>
            <a:ext cx="59808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Hankki Lab</a:t>
            </a:r>
          </a:p>
        </p:txBody>
      </p:sp>
      <p:sp>
        <p:nvSpPr>
          <p:cNvPr id="24" name="키커 55"/>
          <p:cNvSpPr txBox="1"/>
          <p:nvPr/>
        </p:nvSpPr>
        <p:spPr>
          <a:xfrm>
            <a:off x="10855821" y="338138"/>
            <a:ext cx="85394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누적 세로 막대 p27</a:t>
            </a:r>
          </a:p>
        </p:txBody>
      </p:sp>
      <p:sp>
        <p:nvSpPr>
          <p:cNvPr id="25" name="축 제목 59"/>
          <p:cNvSpPr txBox="1"/>
          <p:nvPr/>
        </p:nvSpPr>
        <p:spPr>
          <a:xfrm>
            <a:off x="533400" y="1600200"/>
            <a:ext cx="1053144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상품별 분기 매출</a:t>
            </a:r>
          </a:p>
        </p:txBody>
      </p:sp>
      <p:sp>
        <p:nvSpPr>
          <p:cNvPr id="26" name="u 60"/>
          <p:cNvSpPr txBox="1"/>
          <p:nvPr/>
        </p:nvSpPr>
        <p:spPr>
          <a:xfrm>
            <a:off x="5275362" y="1647825"/>
            <a:ext cx="170043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억 원, 2025년 4분기~2026년 3분기</a:t>
            </a:r>
          </a:p>
        </p:txBody>
      </p:sp>
      <p:sp>
        <p:nvSpPr>
          <p:cNvPr id="27" name="tv 62"/>
          <p:cNvSpPr txBox="1"/>
          <p:nvPr/>
        </p:nvSpPr>
        <p:spPr>
          <a:xfrm>
            <a:off x="1331268" y="4141291"/>
            <a:ext cx="14643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11</a:t>
            </a:r>
          </a:p>
        </p:txBody>
      </p:sp>
      <p:sp>
        <p:nvSpPr>
          <p:cNvPr id="28" name="구성 조각 64"/>
          <p:cNvSpPr txBox="1"/>
          <p:nvPr/>
        </p:nvSpPr>
        <p:spPr>
          <a:xfrm>
            <a:off x="1357908" y="4419898"/>
            <a:ext cx="9071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2</a:t>
            </a:r>
          </a:p>
        </p:txBody>
      </p:sp>
      <p:sp>
        <p:nvSpPr>
          <p:cNvPr id="29" name="구성 조각 66"/>
          <p:cNvSpPr txBox="1"/>
          <p:nvPr/>
        </p:nvSpPr>
        <p:spPr>
          <a:xfrm>
            <a:off x="1356271" y="4734669"/>
            <a:ext cx="9427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3</a:t>
            </a:r>
          </a:p>
        </p:txBody>
      </p:sp>
      <p:sp>
        <p:nvSpPr>
          <p:cNvPr id="30" name="구성 조각 68"/>
          <p:cNvSpPr txBox="1"/>
          <p:nvPr/>
        </p:nvSpPr>
        <p:spPr>
          <a:xfrm>
            <a:off x="1356271" y="5299918"/>
            <a:ext cx="9427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6</a:t>
            </a:r>
          </a:p>
        </p:txBody>
      </p:sp>
      <p:sp>
        <p:nvSpPr>
          <p:cNvPr id="31" name="tv 69"/>
          <p:cNvSpPr txBox="1"/>
          <p:nvPr/>
        </p:nvSpPr>
        <p:spPr>
          <a:xfrm>
            <a:off x="2866430" y="3515618"/>
            <a:ext cx="170581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16</a:t>
            </a:r>
          </a:p>
        </p:txBody>
      </p:sp>
      <p:sp>
        <p:nvSpPr>
          <p:cNvPr id="32" name="구성 조각 71"/>
          <p:cNvSpPr txBox="1"/>
          <p:nvPr/>
        </p:nvSpPr>
        <p:spPr>
          <a:xfrm>
            <a:off x="2903190" y="3856434"/>
            <a:ext cx="9427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3</a:t>
            </a:r>
          </a:p>
        </p:txBody>
      </p:sp>
      <p:sp>
        <p:nvSpPr>
          <p:cNvPr id="33" name="구성 조각 73"/>
          <p:cNvSpPr txBox="1"/>
          <p:nvPr/>
        </p:nvSpPr>
        <p:spPr>
          <a:xfrm>
            <a:off x="2904083" y="4359622"/>
            <a:ext cx="924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5</a:t>
            </a:r>
          </a:p>
        </p:txBody>
      </p:sp>
      <p:sp>
        <p:nvSpPr>
          <p:cNvPr id="34" name="구성 조각 75"/>
          <p:cNvSpPr txBox="1"/>
          <p:nvPr/>
        </p:nvSpPr>
        <p:spPr>
          <a:xfrm>
            <a:off x="2903190" y="5175647"/>
            <a:ext cx="9411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8</a:t>
            </a:r>
          </a:p>
        </p:txBody>
      </p:sp>
      <p:sp>
        <p:nvSpPr>
          <p:cNvPr id="35" name="tv 76"/>
          <p:cNvSpPr txBox="1"/>
          <p:nvPr/>
        </p:nvSpPr>
        <p:spPr>
          <a:xfrm>
            <a:off x="4415284" y="2889796"/>
            <a:ext cx="16640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21</a:t>
            </a:r>
          </a:p>
        </p:txBody>
      </p:sp>
      <p:sp>
        <p:nvSpPr>
          <p:cNvPr id="36" name="구성 조각 78"/>
          <p:cNvSpPr txBox="1"/>
          <p:nvPr/>
        </p:nvSpPr>
        <p:spPr>
          <a:xfrm>
            <a:off x="4449217" y="3292822"/>
            <a:ext cx="9582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4</a:t>
            </a:r>
          </a:p>
        </p:txBody>
      </p:sp>
      <p:sp>
        <p:nvSpPr>
          <p:cNvPr id="37" name="구성 조각 80"/>
          <p:cNvSpPr txBox="1"/>
          <p:nvPr/>
        </p:nvSpPr>
        <p:spPr>
          <a:xfrm>
            <a:off x="4453682" y="3982492"/>
            <a:ext cx="8653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7</a:t>
            </a:r>
          </a:p>
        </p:txBody>
      </p:sp>
      <p:sp>
        <p:nvSpPr>
          <p:cNvPr id="38" name="구성 조각 82"/>
          <p:cNvSpPr txBox="1"/>
          <p:nvPr/>
        </p:nvSpPr>
        <p:spPr>
          <a:xfrm>
            <a:off x="4423321" y="5049292"/>
            <a:ext cx="14953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10</a:t>
            </a:r>
          </a:p>
        </p:txBody>
      </p:sp>
      <p:sp>
        <p:nvSpPr>
          <p:cNvPr id="39" name="tv 83"/>
          <p:cNvSpPr txBox="1"/>
          <p:nvPr/>
        </p:nvSpPr>
        <p:spPr>
          <a:xfrm>
            <a:off x="5950595" y="2256383"/>
            <a:ext cx="190393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26</a:t>
            </a:r>
          </a:p>
        </p:txBody>
      </p:sp>
      <p:sp>
        <p:nvSpPr>
          <p:cNvPr id="40" name="구성 조각 85"/>
          <p:cNvSpPr txBox="1"/>
          <p:nvPr/>
        </p:nvSpPr>
        <p:spPr>
          <a:xfrm>
            <a:off x="5997625" y="2723555"/>
            <a:ext cx="924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5</a:t>
            </a:r>
          </a:p>
        </p:txBody>
      </p:sp>
      <p:sp>
        <p:nvSpPr>
          <p:cNvPr id="41" name="구성 조각 87"/>
          <p:cNvSpPr txBox="1"/>
          <p:nvPr/>
        </p:nvSpPr>
        <p:spPr>
          <a:xfrm>
            <a:off x="5996732" y="3603724"/>
            <a:ext cx="9427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9</a:t>
            </a:r>
          </a:p>
        </p:txBody>
      </p:sp>
      <p:sp>
        <p:nvSpPr>
          <p:cNvPr id="42" name="구성 조각 89"/>
          <p:cNvSpPr txBox="1"/>
          <p:nvPr/>
        </p:nvSpPr>
        <p:spPr>
          <a:xfrm>
            <a:off x="5972175" y="4922937"/>
            <a:ext cx="14535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12</a:t>
            </a:r>
          </a:p>
        </p:txBody>
      </p:sp>
      <p:sp>
        <p:nvSpPr>
          <p:cNvPr id="43" name="xs 90"/>
          <p:cNvSpPr txBox="1"/>
          <p:nvPr/>
        </p:nvSpPr>
        <p:spPr>
          <a:xfrm>
            <a:off x="1211878" y="5829300"/>
            <a:ext cx="36111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25.4Q</a:t>
            </a:r>
          </a:p>
        </p:txBody>
      </p:sp>
      <p:sp>
        <p:nvSpPr>
          <p:cNvPr id="44" name="xs 91"/>
          <p:cNvSpPr txBox="1"/>
          <p:nvPr/>
        </p:nvSpPr>
        <p:spPr>
          <a:xfrm>
            <a:off x="2774894" y="5829300"/>
            <a:ext cx="32892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26.1Q</a:t>
            </a:r>
          </a:p>
        </p:txBody>
      </p:sp>
      <p:sp>
        <p:nvSpPr>
          <p:cNvPr id="45" name="xs 92"/>
          <p:cNvSpPr txBox="1"/>
          <p:nvPr/>
        </p:nvSpPr>
        <p:spPr>
          <a:xfrm>
            <a:off x="4307270" y="5829300"/>
            <a:ext cx="35771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26.2Q</a:t>
            </a:r>
          </a:p>
        </p:txBody>
      </p:sp>
      <p:sp>
        <p:nvSpPr>
          <p:cNvPr id="46" name="xs 93"/>
          <p:cNvSpPr txBox="1"/>
          <p:nvPr/>
        </p:nvSpPr>
        <p:spPr>
          <a:xfrm>
            <a:off x="5853883" y="5829300"/>
            <a:ext cx="35817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26.3Q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5325" y="6086475"/>
            <a:ext cx="441603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광고 상품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54051" y="6086475"/>
            <a:ext cx="21608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구독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95934" y="6086475"/>
            <a:ext cx="63848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데이터 리포트</a:t>
            </a:r>
          </a:p>
        </p:txBody>
      </p:sp>
      <p:sp>
        <p:nvSpPr>
          <p:cNvPr id="50" name="열 제목 101"/>
          <p:cNvSpPr txBox="1"/>
          <p:nvPr/>
        </p:nvSpPr>
        <p:spPr>
          <a:xfrm>
            <a:off x="7273082" y="1600200"/>
            <a:ext cx="122773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이 도표가 말하는 것</a:t>
            </a:r>
          </a:p>
        </p:txBody>
      </p:sp>
      <p:sp>
        <p:nvSpPr>
          <p:cNvPr id="51" name="글머리표 102"/>
          <p:cNvSpPr txBox="1"/>
          <p:nvPr/>
        </p:nvSpPr>
        <p:spPr>
          <a:xfrm>
            <a:off x="7273082" y="3643312"/>
            <a:ext cx="4385518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구독은 3억 원에서 9억 원으로 3배가 되었다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광고 상품은 여전히 가장 크다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데이터 리포트는 5억 원까지 늘었다</a:t>
            </a:r>
          </a:p>
        </p:txBody>
      </p:sp>
      <p:sp>
        <p:nvSpPr>
          <p:cNvPr id="52" name="출처 103"/>
          <p:cNvSpPr txBox="1"/>
          <p:nvPr/>
        </p:nvSpPr>
        <p:spPr>
          <a:xfrm>
            <a:off x="533400" y="6324600"/>
            <a:ext cx="137137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출처: 예시 데이터, 실제 수치 아님</a:t>
            </a:r>
          </a:p>
        </p:txBody>
      </p:sp>
      <p:sp>
        <p:nvSpPr>
          <p:cNvPr id="53" name="꼬리말 105"/>
          <p:cNvSpPr txBox="1"/>
          <p:nvPr/>
        </p:nvSpPr>
        <p:spPr>
          <a:xfrm>
            <a:off x="533400" y="6600825"/>
            <a:ext cx="115375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Hankki Lab | 도표 부품 견본</a:t>
            </a:r>
          </a:p>
        </p:txBody>
      </p:sp>
      <p:sp>
        <p:nvSpPr>
          <p:cNvPr id="54" name="pg 106"/>
          <p:cNvSpPr txBox="1"/>
          <p:nvPr/>
        </p:nvSpPr>
        <p:spPr>
          <a:xfrm>
            <a:off x="11599218" y="6600825"/>
            <a:ext cx="80808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90550"/>
            <a:ext cx="11125200" cy="704850"/>
          </a:xfrm>
        </p:spPr>
        <p:txBody>
          <a:bodyPr lIns="0" rIns="0" tIns="0" bIns="0" wrap="square" anchor="t">
            <a:noAutofit/>
          </a:bodyPr>
          <a:lstStyle/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도입 뒤 스킨케어 브랜드의 월 콘텐츠는</a:t>
            </a:r>
          </a:p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18건에서 52건으로 증가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376362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33400" y="1852612"/>
            <a:ext cx="63586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533400" y="5748338"/>
            <a:ext cx="63586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sp>
        <p:nvSpPr>
          <p:cNvPr id="6" name="b 10"/>
          <p:cNvSpPr/>
          <p:nvPr/>
        </p:nvSpPr>
        <p:spPr>
          <a:xfrm>
            <a:off x="949523" y="4694337"/>
            <a:ext cx="400050" cy="1049238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b 12"/>
          <p:cNvSpPr/>
          <p:nvPr/>
        </p:nvSpPr>
        <p:spPr>
          <a:xfrm>
            <a:off x="1406723" y="2712393"/>
            <a:ext cx="400050" cy="3031182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b 14"/>
          <p:cNvSpPr/>
          <p:nvPr/>
        </p:nvSpPr>
        <p:spPr>
          <a:xfrm>
            <a:off x="2505968" y="4927550"/>
            <a:ext cx="400050" cy="816025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b 16"/>
          <p:cNvSpPr/>
          <p:nvPr/>
        </p:nvSpPr>
        <p:spPr>
          <a:xfrm>
            <a:off x="2963168" y="3411885"/>
            <a:ext cx="400050" cy="2331690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b 18"/>
          <p:cNvSpPr/>
          <p:nvPr/>
        </p:nvSpPr>
        <p:spPr>
          <a:xfrm>
            <a:off x="4062264" y="5199608"/>
            <a:ext cx="400050" cy="543967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b 20"/>
          <p:cNvSpPr/>
          <p:nvPr/>
        </p:nvSpPr>
        <p:spPr>
          <a:xfrm>
            <a:off x="4519464" y="4461272"/>
            <a:ext cx="400050" cy="1282303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b 22"/>
          <p:cNvSpPr/>
          <p:nvPr/>
        </p:nvSpPr>
        <p:spPr>
          <a:xfrm>
            <a:off x="5618559" y="5393829"/>
            <a:ext cx="400050" cy="349746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b 24"/>
          <p:cNvSpPr/>
          <p:nvPr/>
        </p:nvSpPr>
        <p:spPr>
          <a:xfrm>
            <a:off x="6075759" y="4888706"/>
            <a:ext cx="400050" cy="854869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c 30"/>
          <p:cNvSpPr/>
          <p:nvPr/>
        </p:nvSpPr>
        <p:spPr>
          <a:xfrm>
            <a:off x="533400" y="6100762"/>
            <a:ext cx="104775" cy="104775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b 32"/>
          <p:cNvSpPr/>
          <p:nvPr/>
        </p:nvSpPr>
        <p:spPr>
          <a:xfrm>
            <a:off x="1197322" y="6100762"/>
            <a:ext cx="104775" cy="104775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6" name="Connector 15"/>
          <p:cNvCxnSpPr/>
          <p:nvPr/>
        </p:nvCxnSpPr>
        <p:spPr>
          <a:xfrm>
            <a:off x="7273082" y="1852612"/>
            <a:ext cx="4385518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533400" y="6538912"/>
            <a:ext cx="11125200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18" name="회사명 40"/>
          <p:cNvSpPr txBox="1"/>
          <p:nvPr/>
        </p:nvSpPr>
        <p:spPr>
          <a:xfrm>
            <a:off x="533400" y="338138"/>
            <a:ext cx="59808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Hankki Lab</a:t>
            </a:r>
          </a:p>
        </p:txBody>
      </p:sp>
      <p:sp>
        <p:nvSpPr>
          <p:cNvPr id="19" name="키커 41"/>
          <p:cNvSpPr txBox="1"/>
          <p:nvPr/>
        </p:nvSpPr>
        <p:spPr>
          <a:xfrm>
            <a:off x="10849719" y="338138"/>
            <a:ext cx="860286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묶음 세로 막대 p28</a:t>
            </a:r>
          </a:p>
        </p:txBody>
      </p:sp>
      <p:sp>
        <p:nvSpPr>
          <p:cNvPr id="20" name="축 제목 45"/>
          <p:cNvSpPr txBox="1"/>
          <p:nvPr/>
        </p:nvSpPr>
        <p:spPr>
          <a:xfrm>
            <a:off x="533400" y="1600200"/>
            <a:ext cx="1749040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브랜드사 1곳의 월 콘텐츠 수</a:t>
            </a:r>
          </a:p>
        </p:txBody>
      </p:sp>
      <p:sp>
        <p:nvSpPr>
          <p:cNvPr id="21" name="u 46"/>
          <p:cNvSpPr txBox="1"/>
          <p:nvPr/>
        </p:nvSpPr>
        <p:spPr>
          <a:xfrm>
            <a:off x="5210919" y="1647825"/>
            <a:ext cx="176745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건, 도입 전 3개월과 도입 뒤 3개월 평균</a:t>
            </a:r>
          </a:p>
        </p:txBody>
      </p:sp>
      <p:sp>
        <p:nvSpPr>
          <p:cNvPr id="22" name="b 48"/>
          <p:cNvSpPr txBox="1"/>
          <p:nvPr/>
        </p:nvSpPr>
        <p:spPr>
          <a:xfrm>
            <a:off x="1084659" y="4494312"/>
            <a:ext cx="15401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18</a:t>
            </a:r>
          </a:p>
        </p:txBody>
      </p:sp>
      <p:sp>
        <p:nvSpPr>
          <p:cNvPr id="23" name="b 50"/>
          <p:cNvSpPr txBox="1"/>
          <p:nvPr/>
        </p:nvSpPr>
        <p:spPr>
          <a:xfrm>
            <a:off x="1534120" y="2512368"/>
            <a:ext cx="17011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D9415F"/>
                </a:solidFill>
                <a:latin typeface="Pretendard SemiBold"/>
                <a:ea typeface="Pretendard SemiBold"/>
                <a:cs typeface="Pretendard SemiBold"/>
              </a:rPr>
              <a:t>52</a:t>
            </a:r>
          </a:p>
        </p:txBody>
      </p:sp>
      <p:sp>
        <p:nvSpPr>
          <p:cNvPr id="24" name="b 52"/>
          <p:cNvSpPr txBox="1"/>
          <p:nvPr/>
        </p:nvSpPr>
        <p:spPr>
          <a:xfrm>
            <a:off x="2640211" y="4727525"/>
            <a:ext cx="15587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14</a:t>
            </a:r>
          </a:p>
        </p:txBody>
      </p:sp>
      <p:sp>
        <p:nvSpPr>
          <p:cNvPr id="25" name="b 54"/>
          <p:cNvSpPr txBox="1"/>
          <p:nvPr/>
        </p:nvSpPr>
        <p:spPr>
          <a:xfrm>
            <a:off x="3086695" y="3211860"/>
            <a:ext cx="17816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D9415F"/>
                </a:solidFill>
                <a:latin typeface="Pretendard SemiBold"/>
                <a:ea typeface="Pretendard SemiBold"/>
                <a:cs typeface="Pretendard SemiBold"/>
              </a:rPr>
              <a:t>40</a:t>
            </a:r>
          </a:p>
        </p:txBody>
      </p:sp>
      <p:sp>
        <p:nvSpPr>
          <p:cNvPr id="26" name="b 56"/>
          <p:cNvSpPr txBox="1"/>
          <p:nvPr/>
        </p:nvSpPr>
        <p:spPr>
          <a:xfrm>
            <a:off x="4224486" y="4999583"/>
            <a:ext cx="9752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9</a:t>
            </a:r>
          </a:p>
        </p:txBody>
      </p:sp>
      <p:sp>
        <p:nvSpPr>
          <p:cNvPr id="27" name="b 58"/>
          <p:cNvSpPr txBox="1"/>
          <p:nvPr/>
        </p:nvSpPr>
        <p:spPr>
          <a:xfrm>
            <a:off x="4647605" y="4261247"/>
            <a:ext cx="16841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D9415F"/>
                </a:solidFill>
                <a:latin typeface="Pretendard SemiBold"/>
                <a:ea typeface="Pretendard SemiBold"/>
                <a:cs typeface="Pretendard SemiBold"/>
              </a:rPr>
              <a:t>22</a:t>
            </a:r>
          </a:p>
        </p:txBody>
      </p:sp>
      <p:sp>
        <p:nvSpPr>
          <p:cNvPr id="28" name="b 60"/>
          <p:cNvSpPr txBox="1"/>
          <p:nvPr/>
        </p:nvSpPr>
        <p:spPr>
          <a:xfrm>
            <a:off x="5780782" y="5193804"/>
            <a:ext cx="9752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6</a:t>
            </a:r>
          </a:p>
        </p:txBody>
      </p:sp>
      <p:sp>
        <p:nvSpPr>
          <p:cNvPr id="29" name="b 62"/>
          <p:cNvSpPr txBox="1"/>
          <p:nvPr/>
        </p:nvSpPr>
        <p:spPr>
          <a:xfrm>
            <a:off x="6211639" y="4688681"/>
            <a:ext cx="15231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D9415F"/>
                </a:solidFill>
                <a:latin typeface="Pretendard SemiBold"/>
                <a:ea typeface="Pretendard SemiBold"/>
                <a:cs typeface="Pretendard SemiBold"/>
              </a:rPr>
              <a:t>15</a:t>
            </a:r>
          </a:p>
        </p:txBody>
      </p:sp>
      <p:sp>
        <p:nvSpPr>
          <p:cNvPr id="30" name="xs 64"/>
          <p:cNvSpPr txBox="1"/>
          <p:nvPr/>
        </p:nvSpPr>
        <p:spPr>
          <a:xfrm>
            <a:off x="1154561" y="5829300"/>
            <a:ext cx="44717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스킨케어</a:t>
            </a:r>
          </a:p>
        </p:txBody>
      </p:sp>
      <p:sp>
        <p:nvSpPr>
          <p:cNvPr id="31" name="xs 65"/>
          <p:cNvSpPr txBox="1"/>
          <p:nvPr/>
        </p:nvSpPr>
        <p:spPr>
          <a:xfrm>
            <a:off x="2817962" y="5829300"/>
            <a:ext cx="23311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색조</a:t>
            </a:r>
          </a:p>
        </p:txBody>
      </p:sp>
      <p:sp>
        <p:nvSpPr>
          <p:cNvPr id="32" name="xs 66"/>
          <p:cNvSpPr txBox="1"/>
          <p:nvPr/>
        </p:nvSpPr>
        <p:spPr>
          <a:xfrm>
            <a:off x="4374407" y="5829300"/>
            <a:ext cx="23311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헤어</a:t>
            </a:r>
          </a:p>
        </p:txBody>
      </p:sp>
      <p:sp>
        <p:nvSpPr>
          <p:cNvPr id="33" name="xs 67"/>
          <p:cNvSpPr txBox="1"/>
          <p:nvPr/>
        </p:nvSpPr>
        <p:spPr>
          <a:xfrm>
            <a:off x="5930703" y="5829300"/>
            <a:ext cx="23311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바디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5325" y="6086475"/>
            <a:ext cx="34300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도입 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59247" y="6086475"/>
            <a:ext cx="34300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도입 후</a:t>
            </a:r>
          </a:p>
        </p:txBody>
      </p:sp>
      <p:sp>
        <p:nvSpPr>
          <p:cNvPr id="36" name="열 제목 73"/>
          <p:cNvSpPr txBox="1"/>
          <p:nvPr/>
        </p:nvSpPr>
        <p:spPr>
          <a:xfrm>
            <a:off x="7273082" y="1600200"/>
            <a:ext cx="122773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이 도표가 말하는 것</a:t>
            </a:r>
          </a:p>
        </p:txBody>
      </p:sp>
      <p:sp>
        <p:nvSpPr>
          <p:cNvPr id="37" name="글머리표 74"/>
          <p:cNvSpPr txBox="1"/>
          <p:nvPr/>
        </p:nvSpPr>
        <p:spPr>
          <a:xfrm>
            <a:off x="7273082" y="3643312"/>
            <a:ext cx="4385518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네 카테고리 모두 2.4배 이상 늘었다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스킨케어는 34건이 늘어 증가 폭이 가장 크다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바디는 15건으로 아직 적다</a:t>
            </a:r>
          </a:p>
        </p:txBody>
      </p:sp>
      <p:sp>
        <p:nvSpPr>
          <p:cNvPr id="38" name="출처 75"/>
          <p:cNvSpPr txBox="1"/>
          <p:nvPr/>
        </p:nvSpPr>
        <p:spPr>
          <a:xfrm>
            <a:off x="533400" y="6324600"/>
            <a:ext cx="137137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출처: 예시 데이터, 실제 수치 아님</a:t>
            </a:r>
          </a:p>
        </p:txBody>
      </p:sp>
      <p:sp>
        <p:nvSpPr>
          <p:cNvPr id="39" name="꼬리말 77"/>
          <p:cNvSpPr txBox="1"/>
          <p:nvPr/>
        </p:nvSpPr>
        <p:spPr>
          <a:xfrm>
            <a:off x="533400" y="6600825"/>
            <a:ext cx="115375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Hankki Lab | 도표 부품 견본</a:t>
            </a:r>
          </a:p>
        </p:txBody>
      </p:sp>
      <p:sp>
        <p:nvSpPr>
          <p:cNvPr id="40" name="pg 78"/>
          <p:cNvSpPr txBox="1"/>
          <p:nvPr/>
        </p:nvSpPr>
        <p:spPr>
          <a:xfrm>
            <a:off x="11605171" y="6600825"/>
            <a:ext cx="74616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90550"/>
            <a:ext cx="11125200" cy="704850"/>
          </a:xfrm>
        </p:spPr>
        <p:txBody>
          <a:bodyPr lIns="0" rIns="0" tIns="0" bIns="0" wrap="square" anchor="t">
            <a:noAutofit/>
          </a:bodyPr>
          <a:lstStyle/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상품을 본 고객의 46%만 장바구니에 담아,</a:t>
            </a:r>
          </a:p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장바구니 단계에서 가장 큰 이탈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376362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33400" y="1852612"/>
            <a:ext cx="63586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sp>
        <p:nvSpPr>
          <p:cNvPr id="5" name="fb 9"/>
          <p:cNvSpPr/>
          <p:nvPr/>
        </p:nvSpPr>
        <p:spPr>
          <a:xfrm>
            <a:off x="2114550" y="2881312"/>
            <a:ext cx="3482132" cy="342900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fb 13"/>
          <p:cNvSpPr/>
          <p:nvPr/>
        </p:nvSpPr>
        <p:spPr>
          <a:xfrm>
            <a:off x="2671762" y="3376612"/>
            <a:ext cx="2367707" cy="34290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fb 17"/>
          <p:cNvSpPr/>
          <p:nvPr/>
        </p:nvSpPr>
        <p:spPr>
          <a:xfrm>
            <a:off x="3315891" y="3871912"/>
            <a:ext cx="1079450" cy="342900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fb 21"/>
          <p:cNvSpPr/>
          <p:nvPr/>
        </p:nvSpPr>
        <p:spPr>
          <a:xfrm>
            <a:off x="3524845" y="4367212"/>
            <a:ext cx="661541" cy="34290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fb 25"/>
          <p:cNvSpPr/>
          <p:nvPr/>
        </p:nvSpPr>
        <p:spPr>
          <a:xfrm>
            <a:off x="3646736" y="4862512"/>
            <a:ext cx="417761" cy="34290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0" name="Connector 9"/>
          <p:cNvCxnSpPr/>
          <p:nvPr/>
        </p:nvCxnSpPr>
        <p:spPr>
          <a:xfrm>
            <a:off x="7273082" y="1852612"/>
            <a:ext cx="4385518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533400" y="6538912"/>
            <a:ext cx="11125200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12" name="회사명 35"/>
          <p:cNvSpPr txBox="1"/>
          <p:nvPr/>
        </p:nvSpPr>
        <p:spPr>
          <a:xfrm>
            <a:off x="533400" y="338138"/>
            <a:ext cx="59808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Hankki Lab</a:t>
            </a:r>
          </a:p>
        </p:txBody>
      </p:sp>
      <p:sp>
        <p:nvSpPr>
          <p:cNvPr id="13" name="키커 36"/>
          <p:cNvSpPr txBox="1"/>
          <p:nvPr/>
        </p:nvSpPr>
        <p:spPr>
          <a:xfrm>
            <a:off x="11171932" y="338138"/>
            <a:ext cx="525185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깔때기 p29</a:t>
            </a:r>
          </a:p>
        </p:txBody>
      </p:sp>
      <p:sp>
        <p:nvSpPr>
          <p:cNvPr id="14" name="축 제목 40"/>
          <p:cNvSpPr txBox="1"/>
          <p:nvPr/>
        </p:nvSpPr>
        <p:spPr>
          <a:xfrm>
            <a:off x="533400" y="1600200"/>
            <a:ext cx="1501700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캠페인 상품의 구매 흐름</a:t>
            </a:r>
          </a:p>
        </p:txBody>
      </p:sp>
      <p:sp>
        <p:nvSpPr>
          <p:cNvPr id="15" name="u 41"/>
          <p:cNvSpPr txBox="1"/>
          <p:nvPr/>
        </p:nvSpPr>
        <p:spPr>
          <a:xfrm>
            <a:off x="5434012" y="1647825"/>
            <a:ext cx="153544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명, 2026년 9월 캠페인 12건 합계</a:t>
            </a:r>
          </a:p>
        </p:txBody>
      </p:sp>
      <p:sp>
        <p:nvSpPr>
          <p:cNvPr id="16" name="nm 42"/>
          <p:cNvSpPr txBox="1"/>
          <p:nvPr/>
        </p:nvSpPr>
        <p:spPr>
          <a:xfrm>
            <a:off x="533400" y="2967038"/>
            <a:ext cx="275987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방문</a:t>
            </a:r>
          </a:p>
        </p:txBody>
      </p:sp>
      <p:sp>
        <p:nvSpPr>
          <p:cNvPr id="17" name="fb 44"/>
          <p:cNvSpPr txBox="1"/>
          <p:nvPr/>
        </p:nvSpPr>
        <p:spPr>
          <a:xfrm>
            <a:off x="3639889" y="2976562"/>
            <a:ext cx="467761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10,000</a:t>
            </a:r>
          </a:p>
        </p:txBody>
      </p:sp>
      <p:sp>
        <p:nvSpPr>
          <p:cNvPr id="18" name="rt 45"/>
          <p:cNvSpPr txBox="1"/>
          <p:nvPr/>
        </p:nvSpPr>
        <p:spPr>
          <a:xfrm>
            <a:off x="5749082" y="2976562"/>
            <a:ext cx="24178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19" name="nm 46"/>
          <p:cNvSpPr txBox="1"/>
          <p:nvPr/>
        </p:nvSpPr>
        <p:spPr>
          <a:xfrm>
            <a:off x="533400" y="3462338"/>
            <a:ext cx="568059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상품 조회</a:t>
            </a:r>
          </a:p>
        </p:txBody>
      </p:sp>
      <p:sp>
        <p:nvSpPr>
          <p:cNvPr id="20" name="fb 48"/>
          <p:cNvSpPr txBox="1"/>
          <p:nvPr/>
        </p:nvSpPr>
        <p:spPr>
          <a:xfrm>
            <a:off x="3671441" y="3471862"/>
            <a:ext cx="40213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6,800</a:t>
            </a:r>
          </a:p>
        </p:txBody>
      </p:sp>
      <p:sp>
        <p:nvSpPr>
          <p:cNvPr id="21" name="rt 49"/>
          <p:cNvSpPr txBox="1"/>
          <p:nvPr/>
        </p:nvSpPr>
        <p:spPr>
          <a:xfrm>
            <a:off x="5749082" y="3457575"/>
            <a:ext cx="854559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앞 단계의 </a:t>
            </a:r>
            <a:r>
              <a:rPr sz="11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68%</a:t>
            </a:r>
          </a:p>
        </p:txBody>
      </p:sp>
      <p:sp>
        <p:nvSpPr>
          <p:cNvPr id="22" name="nm 50"/>
          <p:cNvSpPr txBox="1"/>
          <p:nvPr/>
        </p:nvSpPr>
        <p:spPr>
          <a:xfrm>
            <a:off x="533400" y="3957638"/>
            <a:ext cx="532769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장바구니</a:t>
            </a:r>
          </a:p>
        </p:txBody>
      </p:sp>
      <p:sp>
        <p:nvSpPr>
          <p:cNvPr id="23" name="fb 52"/>
          <p:cNvSpPr txBox="1"/>
          <p:nvPr/>
        </p:nvSpPr>
        <p:spPr>
          <a:xfrm>
            <a:off x="3686324" y="3967162"/>
            <a:ext cx="371023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3,100</a:t>
            </a:r>
          </a:p>
        </p:txBody>
      </p:sp>
      <p:sp>
        <p:nvSpPr>
          <p:cNvPr id="24" name="rt 53"/>
          <p:cNvSpPr txBox="1"/>
          <p:nvPr/>
        </p:nvSpPr>
        <p:spPr>
          <a:xfrm>
            <a:off x="5749082" y="3952875"/>
            <a:ext cx="856726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앞 단계의 </a:t>
            </a:r>
            <a:r>
              <a:rPr sz="11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46%</a:t>
            </a:r>
          </a:p>
        </p:txBody>
      </p:sp>
      <p:sp>
        <p:nvSpPr>
          <p:cNvPr id="25" name="nm 54"/>
          <p:cNvSpPr txBox="1"/>
          <p:nvPr/>
        </p:nvSpPr>
        <p:spPr>
          <a:xfrm>
            <a:off x="533400" y="4452938"/>
            <a:ext cx="568059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결제 시작</a:t>
            </a:r>
          </a:p>
        </p:txBody>
      </p:sp>
      <p:sp>
        <p:nvSpPr>
          <p:cNvPr id="26" name="fb 56"/>
          <p:cNvSpPr txBox="1"/>
          <p:nvPr/>
        </p:nvSpPr>
        <p:spPr>
          <a:xfrm>
            <a:off x="3682454" y="4462462"/>
            <a:ext cx="379226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1,900</a:t>
            </a:r>
          </a:p>
        </p:txBody>
      </p:sp>
      <p:sp>
        <p:nvSpPr>
          <p:cNvPr id="27" name="rt 57"/>
          <p:cNvSpPr txBox="1"/>
          <p:nvPr/>
        </p:nvSpPr>
        <p:spPr>
          <a:xfrm>
            <a:off x="5749082" y="4448175"/>
            <a:ext cx="8290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앞 단계의 </a:t>
            </a:r>
            <a:r>
              <a:rPr sz="11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61%</a:t>
            </a:r>
          </a:p>
        </p:txBody>
      </p:sp>
      <p:sp>
        <p:nvSpPr>
          <p:cNvPr id="28" name="nm 58"/>
          <p:cNvSpPr txBox="1"/>
          <p:nvPr/>
        </p:nvSpPr>
        <p:spPr>
          <a:xfrm>
            <a:off x="533400" y="4948238"/>
            <a:ext cx="275987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구매</a:t>
            </a:r>
          </a:p>
        </p:txBody>
      </p:sp>
      <p:sp>
        <p:nvSpPr>
          <p:cNvPr id="29" name="fb 60"/>
          <p:cNvSpPr txBox="1"/>
          <p:nvPr/>
        </p:nvSpPr>
        <p:spPr>
          <a:xfrm>
            <a:off x="3683645" y="4957762"/>
            <a:ext cx="37659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1,200</a:t>
            </a:r>
          </a:p>
        </p:txBody>
      </p:sp>
      <p:sp>
        <p:nvSpPr>
          <p:cNvPr id="30" name="rt 61"/>
          <p:cNvSpPr txBox="1"/>
          <p:nvPr/>
        </p:nvSpPr>
        <p:spPr>
          <a:xfrm>
            <a:off x="5749082" y="4943475"/>
            <a:ext cx="854714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앞 단계의 </a:t>
            </a:r>
            <a:r>
              <a:rPr sz="11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63%</a:t>
            </a:r>
          </a:p>
        </p:txBody>
      </p:sp>
      <p:sp>
        <p:nvSpPr>
          <p:cNvPr id="31" name="열 제목 63"/>
          <p:cNvSpPr txBox="1"/>
          <p:nvPr/>
        </p:nvSpPr>
        <p:spPr>
          <a:xfrm>
            <a:off x="7273082" y="1600200"/>
            <a:ext cx="122773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이 도표가 말하는 것</a:t>
            </a:r>
          </a:p>
        </p:txBody>
      </p:sp>
      <p:sp>
        <p:nvSpPr>
          <p:cNvPr id="32" name="글머리표 64"/>
          <p:cNvSpPr txBox="1"/>
          <p:nvPr/>
        </p:nvSpPr>
        <p:spPr>
          <a:xfrm>
            <a:off x="7273082" y="3643312"/>
            <a:ext cx="4385518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방문 1만 명 가운데 1,200명이 샀다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장바구니 단계의 전환율 46%가 가장 낮다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결제를 시작한 뒤에는 63%가 구매를 마친다</a:t>
            </a:r>
          </a:p>
        </p:txBody>
      </p:sp>
      <p:sp>
        <p:nvSpPr>
          <p:cNvPr id="33" name="출처 65"/>
          <p:cNvSpPr txBox="1"/>
          <p:nvPr/>
        </p:nvSpPr>
        <p:spPr>
          <a:xfrm>
            <a:off x="533400" y="6324600"/>
            <a:ext cx="137137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출처: 예시 데이터, 실제 수치 아님</a:t>
            </a:r>
          </a:p>
        </p:txBody>
      </p:sp>
      <p:sp>
        <p:nvSpPr>
          <p:cNvPr id="34" name="꼬리말 67"/>
          <p:cNvSpPr txBox="1"/>
          <p:nvPr/>
        </p:nvSpPr>
        <p:spPr>
          <a:xfrm>
            <a:off x="533400" y="6600825"/>
            <a:ext cx="115375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Hankki Lab | 도표 부품 견본</a:t>
            </a:r>
          </a:p>
        </p:txBody>
      </p:sp>
      <p:sp>
        <p:nvSpPr>
          <p:cNvPr id="35" name="pg 68"/>
          <p:cNvSpPr txBox="1"/>
          <p:nvPr/>
        </p:nvSpPr>
        <p:spPr>
          <a:xfrm>
            <a:off x="11599664" y="6600825"/>
            <a:ext cx="80343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90550"/>
            <a:ext cx="11125200" cy="704850"/>
          </a:xfrm>
        </p:spPr>
        <p:txBody>
          <a:bodyPr lIns="0" rIns="0" tIns="0" bIns="0" wrap="square" anchor="t">
            <a:noAutofit/>
          </a:bodyPr>
          <a:lstStyle/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콘텐츠 1건에 22만 원을 쓰고 구매 전환율 5.2%,</a:t>
            </a:r>
          </a:p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비용이 비슷한 대안보다 높은 전환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376362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33400" y="1852612"/>
            <a:ext cx="63586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952500" y="5938838"/>
            <a:ext cx="59395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57262" y="1952625"/>
            <a:ext cx="0" cy="3990975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962025" y="1957388"/>
            <a:ext cx="5930057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962025" y="3948112"/>
            <a:ext cx="5930057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9" name="위치 점 15"/>
          <p:cNvSpPr/>
          <p:nvPr/>
        </p:nvSpPr>
        <p:spPr>
          <a:xfrm>
            <a:off x="1673572" y="4913114"/>
            <a:ext cx="114300" cy="11430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위치 점 17"/>
          <p:cNvSpPr/>
          <p:nvPr/>
        </p:nvSpPr>
        <p:spPr>
          <a:xfrm>
            <a:off x="2503736" y="4355753"/>
            <a:ext cx="114300" cy="11430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위치 점 19"/>
          <p:cNvSpPr/>
          <p:nvPr/>
        </p:nvSpPr>
        <p:spPr>
          <a:xfrm>
            <a:off x="3215432" y="4037261"/>
            <a:ext cx="114300" cy="11430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위치 점 21"/>
          <p:cNvSpPr/>
          <p:nvPr/>
        </p:nvSpPr>
        <p:spPr>
          <a:xfrm>
            <a:off x="4045595" y="3479750"/>
            <a:ext cx="114300" cy="11430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위치 점 23"/>
          <p:cNvSpPr/>
          <p:nvPr/>
        </p:nvSpPr>
        <p:spPr>
          <a:xfrm>
            <a:off x="4697909" y="3161258"/>
            <a:ext cx="114300" cy="11430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위치 점 25"/>
          <p:cNvSpPr/>
          <p:nvPr/>
        </p:nvSpPr>
        <p:spPr>
          <a:xfrm>
            <a:off x="3571131" y="2524274"/>
            <a:ext cx="114300" cy="114300"/>
          </a:xfrm>
          <a:prstGeom prst="ellipse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>
            <a:off x="7273082" y="1852612"/>
            <a:ext cx="4385518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533400" y="6538912"/>
            <a:ext cx="11125200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17" name="회사명 37"/>
          <p:cNvSpPr txBox="1"/>
          <p:nvPr/>
        </p:nvSpPr>
        <p:spPr>
          <a:xfrm>
            <a:off x="533400" y="338138"/>
            <a:ext cx="59808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Hankki Lab</a:t>
            </a:r>
          </a:p>
        </p:txBody>
      </p:sp>
      <p:sp>
        <p:nvSpPr>
          <p:cNvPr id="18" name="키커 38"/>
          <p:cNvSpPr txBox="1"/>
          <p:nvPr/>
        </p:nvSpPr>
        <p:spPr>
          <a:xfrm>
            <a:off x="11169551" y="338138"/>
            <a:ext cx="527661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분산형 p30</a:t>
            </a:r>
          </a:p>
        </p:txBody>
      </p:sp>
      <p:sp>
        <p:nvSpPr>
          <p:cNvPr id="19" name="축 제목 42"/>
          <p:cNvSpPr txBox="1"/>
          <p:nvPr/>
        </p:nvSpPr>
        <p:spPr>
          <a:xfrm>
            <a:off x="533400" y="1600200"/>
            <a:ext cx="278684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구매 전환율 (세로), 콘텐츠 1건당 비용 (가로)</a:t>
            </a:r>
          </a:p>
        </p:txBody>
      </p:sp>
      <p:sp>
        <p:nvSpPr>
          <p:cNvPr id="20" name="u 43"/>
          <p:cNvSpPr txBox="1"/>
          <p:nvPr/>
        </p:nvSpPr>
        <p:spPr>
          <a:xfrm>
            <a:off x="5762923" y="1647825"/>
            <a:ext cx="11933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%와 만 원, 2026년 3분기</a:t>
            </a:r>
          </a:p>
        </p:txBody>
      </p:sp>
      <p:sp>
        <p:nvSpPr>
          <p:cNvPr id="21" name="yt 44"/>
          <p:cNvSpPr txBox="1"/>
          <p:nvPr/>
        </p:nvSpPr>
        <p:spPr>
          <a:xfrm>
            <a:off x="714524" y="1952625"/>
            <a:ext cx="18729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6%</a:t>
            </a:r>
          </a:p>
        </p:txBody>
      </p:sp>
      <p:sp>
        <p:nvSpPr>
          <p:cNvPr id="22" name="yt 45"/>
          <p:cNvSpPr txBox="1"/>
          <p:nvPr/>
        </p:nvSpPr>
        <p:spPr>
          <a:xfrm>
            <a:off x="714226" y="3881438"/>
            <a:ext cx="18760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3%</a:t>
            </a:r>
          </a:p>
        </p:txBody>
      </p:sp>
      <p:sp>
        <p:nvSpPr>
          <p:cNvPr id="23" name="yt 46"/>
          <p:cNvSpPr txBox="1"/>
          <p:nvPr/>
        </p:nvSpPr>
        <p:spPr>
          <a:xfrm>
            <a:off x="810964" y="5810250"/>
            <a:ext cx="8699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24" name="위치 점 52"/>
          <p:cNvSpPr txBox="1"/>
          <p:nvPr/>
        </p:nvSpPr>
        <p:spPr>
          <a:xfrm>
            <a:off x="1854547" y="4898827"/>
            <a:ext cx="34022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체험단</a:t>
            </a:r>
          </a:p>
        </p:txBody>
      </p:sp>
      <p:sp>
        <p:nvSpPr>
          <p:cNvPr id="25" name="위치 점 54"/>
          <p:cNvSpPr txBox="1"/>
          <p:nvPr/>
        </p:nvSpPr>
        <p:spPr>
          <a:xfrm>
            <a:off x="2684711" y="4341465"/>
            <a:ext cx="58524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블로그 대행</a:t>
            </a:r>
          </a:p>
        </p:txBody>
      </p:sp>
      <p:sp>
        <p:nvSpPr>
          <p:cNvPr id="26" name="위치 점 56"/>
          <p:cNvSpPr txBox="1"/>
          <p:nvPr/>
        </p:nvSpPr>
        <p:spPr>
          <a:xfrm>
            <a:off x="3396407" y="4022973"/>
            <a:ext cx="79930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소형 인플루언서</a:t>
            </a:r>
          </a:p>
        </p:txBody>
      </p:sp>
      <p:sp>
        <p:nvSpPr>
          <p:cNvPr id="27" name="위치 점 58"/>
          <p:cNvSpPr txBox="1"/>
          <p:nvPr/>
        </p:nvSpPr>
        <p:spPr>
          <a:xfrm>
            <a:off x="4226570" y="3465463"/>
            <a:ext cx="79930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중형 인플루언서</a:t>
            </a:r>
          </a:p>
        </p:txBody>
      </p:sp>
      <p:sp>
        <p:nvSpPr>
          <p:cNvPr id="28" name="위치 점 60"/>
          <p:cNvSpPr txBox="1"/>
          <p:nvPr/>
        </p:nvSpPr>
        <p:spPr>
          <a:xfrm>
            <a:off x="4878884" y="3146971"/>
            <a:ext cx="79930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대형 인플루언서</a:t>
            </a:r>
          </a:p>
        </p:txBody>
      </p:sp>
      <p:sp>
        <p:nvSpPr>
          <p:cNvPr id="29" name="위치 점 62"/>
          <p:cNvSpPr txBox="1"/>
          <p:nvPr/>
        </p:nvSpPr>
        <p:spPr>
          <a:xfrm>
            <a:off x="3752106" y="2509986"/>
            <a:ext cx="23311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자사</a:t>
            </a:r>
          </a:p>
        </p:txBody>
      </p:sp>
      <p:sp>
        <p:nvSpPr>
          <p:cNvPr id="30" name="xt 63"/>
          <p:cNvSpPr txBox="1"/>
          <p:nvPr/>
        </p:nvSpPr>
        <p:spPr>
          <a:xfrm>
            <a:off x="952500" y="6096000"/>
            <a:ext cx="8699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31" name="xt 64"/>
          <p:cNvSpPr txBox="1"/>
          <p:nvPr/>
        </p:nvSpPr>
        <p:spPr>
          <a:xfrm>
            <a:off x="3730079" y="6096000"/>
            <a:ext cx="25246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25만</a:t>
            </a:r>
          </a:p>
        </p:txBody>
      </p:sp>
      <p:sp>
        <p:nvSpPr>
          <p:cNvPr id="32" name="xt 65"/>
          <p:cNvSpPr txBox="1"/>
          <p:nvPr/>
        </p:nvSpPr>
        <p:spPr>
          <a:xfrm>
            <a:off x="6666756" y="6096000"/>
            <a:ext cx="25338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50만</a:t>
            </a:r>
          </a:p>
        </p:txBody>
      </p:sp>
      <p:sp>
        <p:nvSpPr>
          <p:cNvPr id="33" name="열 제목 67"/>
          <p:cNvSpPr txBox="1"/>
          <p:nvPr/>
        </p:nvSpPr>
        <p:spPr>
          <a:xfrm>
            <a:off x="7273082" y="1600200"/>
            <a:ext cx="122773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이 도표가 말하는 것</a:t>
            </a:r>
          </a:p>
        </p:txBody>
      </p:sp>
      <p:sp>
        <p:nvSpPr>
          <p:cNvPr id="34" name="글머리표 68"/>
          <p:cNvSpPr txBox="1"/>
          <p:nvPr/>
        </p:nvSpPr>
        <p:spPr>
          <a:xfrm>
            <a:off x="7273082" y="3643312"/>
            <a:ext cx="4385518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자사는 1건에 22만 원, 전환율 5.2%다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비용이 비슷한 소형 인플루언서는 2.9%다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대형 인플루언서는 31만 원을 써도 4.2%다</a:t>
            </a:r>
          </a:p>
        </p:txBody>
      </p:sp>
      <p:sp>
        <p:nvSpPr>
          <p:cNvPr id="35" name="출처 69"/>
          <p:cNvSpPr txBox="1"/>
          <p:nvPr/>
        </p:nvSpPr>
        <p:spPr>
          <a:xfrm>
            <a:off x="533400" y="6324600"/>
            <a:ext cx="137137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출처: 예시 데이터, 실제 수치 아님</a:t>
            </a:r>
          </a:p>
        </p:txBody>
      </p:sp>
      <p:sp>
        <p:nvSpPr>
          <p:cNvPr id="36" name="꼬리말 71"/>
          <p:cNvSpPr txBox="1"/>
          <p:nvPr/>
        </p:nvSpPr>
        <p:spPr>
          <a:xfrm>
            <a:off x="533400" y="6600825"/>
            <a:ext cx="115375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Hankki Lab | 도표 부품 견본</a:t>
            </a:r>
          </a:p>
        </p:txBody>
      </p:sp>
      <p:sp>
        <p:nvSpPr>
          <p:cNvPr id="37" name="pg 72"/>
          <p:cNvSpPr txBox="1"/>
          <p:nvPr/>
        </p:nvSpPr>
        <p:spPr>
          <a:xfrm>
            <a:off x="11599218" y="6600825"/>
            <a:ext cx="80808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90550"/>
            <a:ext cx="11125200" cy="704850"/>
          </a:xfrm>
        </p:spPr>
        <p:txBody>
          <a:bodyPr lIns="0" rIns="0" tIns="0" bIns="0" wrap="square" anchor="t">
            <a:noAutofit/>
          </a:bodyPr>
          <a:lstStyle/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가장 크고 빠르게 크는 스킨케어 시장에서</a:t>
            </a:r>
          </a:p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점유율 31% 확보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376362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33400" y="1852612"/>
            <a:ext cx="63586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952500" y="5938838"/>
            <a:ext cx="59395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57262" y="1952625"/>
            <a:ext cx="0" cy="3990975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962025" y="1957388"/>
            <a:ext cx="5930057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962025" y="3948112"/>
            <a:ext cx="5930057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931741" y="1952625"/>
            <a:ext cx="0" cy="3981450"/>
          </a:xfrm>
          <a:prstGeom prst="line">
            <a:avLst/>
          </a:prstGeom>
          <a:ln w="9525">
            <a:solidFill>
              <a:srgbClr val="CFCFD4"/>
            </a:solidFill>
            <a:prstDash val="dash"/>
          </a:ln>
        </p:spPr>
      </p:cxnSp>
      <p:sp>
        <p:nvSpPr>
          <p:cNvPr id="10" name="위치 점 16"/>
          <p:cNvSpPr/>
          <p:nvPr/>
        </p:nvSpPr>
        <p:spPr>
          <a:xfrm>
            <a:off x="1554956" y="4421088"/>
            <a:ext cx="495300" cy="49530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위치 점 18"/>
          <p:cNvSpPr/>
          <p:nvPr/>
        </p:nvSpPr>
        <p:spPr>
          <a:xfrm>
            <a:off x="2978200" y="3704332"/>
            <a:ext cx="381000" cy="38100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위치 점 20"/>
          <p:cNvSpPr/>
          <p:nvPr/>
        </p:nvSpPr>
        <p:spPr>
          <a:xfrm>
            <a:off x="4401443" y="4182219"/>
            <a:ext cx="285750" cy="2857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위치 점 22"/>
          <p:cNvSpPr/>
          <p:nvPr/>
        </p:nvSpPr>
        <p:spPr>
          <a:xfrm>
            <a:off x="4638526" y="2430363"/>
            <a:ext cx="609600" cy="609600"/>
          </a:xfrm>
          <a:prstGeom prst="ellipse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4" name="Connector 13"/>
          <p:cNvCxnSpPr/>
          <p:nvPr/>
        </p:nvCxnSpPr>
        <p:spPr>
          <a:xfrm>
            <a:off x="7273082" y="1852612"/>
            <a:ext cx="4385518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533400" y="6538912"/>
            <a:ext cx="11125200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16" name="회사명 34"/>
          <p:cNvSpPr txBox="1"/>
          <p:nvPr/>
        </p:nvSpPr>
        <p:spPr>
          <a:xfrm>
            <a:off x="533400" y="338138"/>
            <a:ext cx="59808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Hankki Lab</a:t>
            </a:r>
          </a:p>
        </p:txBody>
      </p:sp>
      <p:sp>
        <p:nvSpPr>
          <p:cNvPr id="17" name="키커 35"/>
          <p:cNvSpPr txBox="1"/>
          <p:nvPr/>
        </p:nvSpPr>
        <p:spPr>
          <a:xfrm>
            <a:off x="11277749" y="338138"/>
            <a:ext cx="415135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버블 p31</a:t>
            </a:r>
          </a:p>
        </p:txBody>
      </p:sp>
      <p:sp>
        <p:nvSpPr>
          <p:cNvPr id="18" name="축 제목 39"/>
          <p:cNvSpPr txBox="1"/>
          <p:nvPr/>
        </p:nvSpPr>
        <p:spPr>
          <a:xfrm>
            <a:off x="533400" y="1600200"/>
            <a:ext cx="3826204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시장 성장률 (세로), 자사 점유율 (가로), 원의 크기는 시장 규모</a:t>
            </a:r>
          </a:p>
        </p:txBody>
      </p:sp>
      <p:sp>
        <p:nvSpPr>
          <p:cNvPr id="19" name="u 40"/>
          <p:cNvSpPr txBox="1"/>
          <p:nvPr/>
        </p:nvSpPr>
        <p:spPr>
          <a:xfrm>
            <a:off x="6386364" y="1647825"/>
            <a:ext cx="54499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%, 2026년</a:t>
            </a:r>
          </a:p>
        </p:txBody>
      </p:sp>
      <p:sp>
        <p:nvSpPr>
          <p:cNvPr id="20" name="yt 41"/>
          <p:cNvSpPr txBox="1"/>
          <p:nvPr/>
        </p:nvSpPr>
        <p:spPr>
          <a:xfrm>
            <a:off x="649932" y="1952625"/>
            <a:ext cx="25447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32%</a:t>
            </a:r>
          </a:p>
        </p:txBody>
      </p:sp>
      <p:sp>
        <p:nvSpPr>
          <p:cNvPr id="21" name="yt 42"/>
          <p:cNvSpPr txBox="1"/>
          <p:nvPr/>
        </p:nvSpPr>
        <p:spPr>
          <a:xfrm>
            <a:off x="666601" y="3881438"/>
            <a:ext cx="23713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16%</a:t>
            </a:r>
          </a:p>
        </p:txBody>
      </p:sp>
      <p:sp>
        <p:nvSpPr>
          <p:cNvPr id="22" name="yt 43"/>
          <p:cNvSpPr txBox="1"/>
          <p:nvPr/>
        </p:nvSpPr>
        <p:spPr>
          <a:xfrm>
            <a:off x="810964" y="5810250"/>
            <a:ext cx="8699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23" name="위치 점 50"/>
          <p:cNvSpPr txBox="1"/>
          <p:nvPr/>
        </p:nvSpPr>
        <p:spPr>
          <a:xfrm>
            <a:off x="2116931" y="4597301"/>
            <a:ext cx="23311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색조</a:t>
            </a:r>
          </a:p>
        </p:txBody>
      </p:sp>
      <p:sp>
        <p:nvSpPr>
          <p:cNvPr id="24" name="위치 점 52"/>
          <p:cNvSpPr txBox="1"/>
          <p:nvPr/>
        </p:nvSpPr>
        <p:spPr>
          <a:xfrm>
            <a:off x="3425875" y="3823395"/>
            <a:ext cx="23311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헤어</a:t>
            </a:r>
          </a:p>
        </p:txBody>
      </p:sp>
      <p:sp>
        <p:nvSpPr>
          <p:cNvPr id="25" name="위치 점 54"/>
          <p:cNvSpPr txBox="1"/>
          <p:nvPr/>
        </p:nvSpPr>
        <p:spPr>
          <a:xfrm>
            <a:off x="4753868" y="4253657"/>
            <a:ext cx="23311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바디</a:t>
            </a:r>
          </a:p>
        </p:txBody>
      </p:sp>
      <p:sp>
        <p:nvSpPr>
          <p:cNvPr id="26" name="위치 점 56"/>
          <p:cNvSpPr txBox="1"/>
          <p:nvPr/>
        </p:nvSpPr>
        <p:spPr>
          <a:xfrm>
            <a:off x="5314801" y="2663726"/>
            <a:ext cx="44717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스킨케어</a:t>
            </a:r>
          </a:p>
        </p:txBody>
      </p:sp>
      <p:sp>
        <p:nvSpPr>
          <p:cNvPr id="27" name="xt 57"/>
          <p:cNvSpPr txBox="1"/>
          <p:nvPr/>
        </p:nvSpPr>
        <p:spPr>
          <a:xfrm>
            <a:off x="952500" y="6096000"/>
            <a:ext cx="8699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28" name="xt 58"/>
          <p:cNvSpPr txBox="1"/>
          <p:nvPr/>
        </p:nvSpPr>
        <p:spPr>
          <a:xfrm>
            <a:off x="3730377" y="6096000"/>
            <a:ext cx="25215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25%</a:t>
            </a:r>
          </a:p>
        </p:txBody>
      </p:sp>
      <p:sp>
        <p:nvSpPr>
          <p:cNvPr id="29" name="xt 59"/>
          <p:cNvSpPr txBox="1"/>
          <p:nvPr/>
        </p:nvSpPr>
        <p:spPr>
          <a:xfrm>
            <a:off x="6666905" y="6096000"/>
            <a:ext cx="25323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50%</a:t>
            </a:r>
          </a:p>
        </p:txBody>
      </p:sp>
      <p:sp>
        <p:nvSpPr>
          <p:cNvPr id="30" name="열 제목 61"/>
          <p:cNvSpPr txBox="1"/>
          <p:nvPr/>
        </p:nvSpPr>
        <p:spPr>
          <a:xfrm>
            <a:off x="7273082" y="1600200"/>
            <a:ext cx="122773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이 도표가 말하는 것</a:t>
            </a:r>
          </a:p>
        </p:txBody>
      </p:sp>
      <p:sp>
        <p:nvSpPr>
          <p:cNvPr id="31" name="글머리표 62"/>
          <p:cNvSpPr txBox="1"/>
          <p:nvPr/>
        </p:nvSpPr>
        <p:spPr>
          <a:xfrm>
            <a:off x="7273082" y="3643312"/>
            <a:ext cx="4385518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스킨케어 시장은 연 28% 성장하고 자사 점유율은 31%다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색조는 시장이 크지만 점유율이 5%뿐이다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바디는 점유율 29%지만 시장 성장률이 14%다</a:t>
            </a:r>
          </a:p>
        </p:txBody>
      </p:sp>
      <p:sp>
        <p:nvSpPr>
          <p:cNvPr id="32" name="출처 63"/>
          <p:cNvSpPr txBox="1"/>
          <p:nvPr/>
        </p:nvSpPr>
        <p:spPr>
          <a:xfrm>
            <a:off x="533400" y="6324600"/>
            <a:ext cx="137137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출처: 예시 데이터, 실제 수치 아님</a:t>
            </a:r>
          </a:p>
        </p:txBody>
      </p:sp>
      <p:sp>
        <p:nvSpPr>
          <p:cNvPr id="33" name="꼬리말 65"/>
          <p:cNvSpPr txBox="1"/>
          <p:nvPr/>
        </p:nvSpPr>
        <p:spPr>
          <a:xfrm>
            <a:off x="533400" y="6600825"/>
            <a:ext cx="115375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Hankki Lab | 도표 부품 견본</a:t>
            </a:r>
          </a:p>
        </p:txBody>
      </p:sp>
      <p:sp>
        <p:nvSpPr>
          <p:cNvPr id="34" name="pg 66"/>
          <p:cNvSpPr txBox="1"/>
          <p:nvPr/>
        </p:nvSpPr>
        <p:spPr>
          <a:xfrm>
            <a:off x="11557099" y="6600825"/>
            <a:ext cx="12461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90550"/>
            <a:ext cx="11125200" cy="704850"/>
          </a:xfrm>
        </p:spPr>
        <p:txBody>
          <a:bodyPr lIns="0" rIns="0" tIns="0" bIns="0" wrap="square" anchor="t">
            <a:noAutofit/>
          </a:bodyPr>
          <a:lstStyle/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브랜드사 재구매율은 5분기 동안 52%에서 71%로 상승,</a:t>
            </a:r>
          </a:p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업계 평균은 45%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376362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33400" y="1852612"/>
            <a:ext cx="63586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533400" y="5748338"/>
            <a:ext cx="63586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sp>
        <p:nvSpPr>
          <p:cNvPr id="6" name="d 10"/>
          <p:cNvSpPr/>
          <p:nvPr/>
        </p:nvSpPr>
        <p:spPr>
          <a:xfrm>
            <a:off x="1146274" y="3608487"/>
            <a:ext cx="114300" cy="114300"/>
          </a:xfrm>
          <a:prstGeom prst="ellipse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d 12"/>
          <p:cNvSpPr/>
          <p:nvPr/>
        </p:nvSpPr>
        <p:spPr>
          <a:xfrm>
            <a:off x="1146274" y="4074914"/>
            <a:ext cx="114300" cy="11430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8" name="Connector 7"/>
          <p:cNvCxnSpPr/>
          <p:nvPr/>
        </p:nvCxnSpPr>
        <p:spPr>
          <a:xfrm>
            <a:off x="1935510" y="1857375"/>
            <a:ext cx="0" cy="388620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9" name="d 15"/>
          <p:cNvSpPr/>
          <p:nvPr/>
        </p:nvSpPr>
        <p:spPr>
          <a:xfrm>
            <a:off x="2400895" y="3375422"/>
            <a:ext cx="114300" cy="114300"/>
          </a:xfrm>
          <a:prstGeom prst="ellipse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d 17"/>
          <p:cNvSpPr/>
          <p:nvPr/>
        </p:nvSpPr>
        <p:spPr>
          <a:xfrm>
            <a:off x="2400895" y="4036070"/>
            <a:ext cx="114300" cy="11430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>
            <a:off x="3190131" y="1857375"/>
            <a:ext cx="0" cy="388620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12" name="d 20"/>
          <p:cNvSpPr/>
          <p:nvPr/>
        </p:nvSpPr>
        <p:spPr>
          <a:xfrm>
            <a:off x="3655516" y="3181052"/>
            <a:ext cx="114300" cy="114300"/>
          </a:xfrm>
          <a:prstGeom prst="ellipse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d 22"/>
          <p:cNvSpPr/>
          <p:nvPr/>
        </p:nvSpPr>
        <p:spPr>
          <a:xfrm>
            <a:off x="3655516" y="3958233"/>
            <a:ext cx="114300" cy="11430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4" name="Connector 13"/>
          <p:cNvCxnSpPr/>
          <p:nvPr/>
        </p:nvCxnSpPr>
        <p:spPr>
          <a:xfrm>
            <a:off x="4444752" y="1857375"/>
            <a:ext cx="0" cy="388620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15" name="d 25"/>
          <p:cNvSpPr/>
          <p:nvPr/>
        </p:nvSpPr>
        <p:spPr>
          <a:xfrm>
            <a:off x="4910138" y="2986683"/>
            <a:ext cx="114300" cy="114300"/>
          </a:xfrm>
          <a:prstGeom prst="ellipse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d 27"/>
          <p:cNvSpPr/>
          <p:nvPr/>
        </p:nvSpPr>
        <p:spPr>
          <a:xfrm>
            <a:off x="4910138" y="3919389"/>
            <a:ext cx="114300" cy="11430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7" name="Connector 16"/>
          <p:cNvCxnSpPr/>
          <p:nvPr/>
        </p:nvCxnSpPr>
        <p:spPr>
          <a:xfrm>
            <a:off x="5699373" y="1857375"/>
            <a:ext cx="0" cy="388620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18" name="d 30"/>
          <p:cNvSpPr/>
          <p:nvPr/>
        </p:nvSpPr>
        <p:spPr>
          <a:xfrm>
            <a:off x="6164759" y="2870150"/>
            <a:ext cx="114300" cy="114300"/>
          </a:xfrm>
          <a:prstGeom prst="ellipse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d 32"/>
          <p:cNvSpPr/>
          <p:nvPr/>
        </p:nvSpPr>
        <p:spPr>
          <a:xfrm>
            <a:off x="6164759" y="3880545"/>
            <a:ext cx="114300" cy="11430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b 39"/>
          <p:cNvSpPr/>
          <p:nvPr/>
        </p:nvSpPr>
        <p:spPr>
          <a:xfrm>
            <a:off x="533400" y="6100762"/>
            <a:ext cx="104775" cy="104775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c 41"/>
          <p:cNvSpPr/>
          <p:nvPr/>
        </p:nvSpPr>
        <p:spPr>
          <a:xfrm>
            <a:off x="1075283" y="6100762"/>
            <a:ext cx="104775" cy="104775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2" name="Connector 21"/>
          <p:cNvCxnSpPr/>
          <p:nvPr/>
        </p:nvCxnSpPr>
        <p:spPr>
          <a:xfrm>
            <a:off x="7273082" y="1852612"/>
            <a:ext cx="4385518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33400" y="6538912"/>
            <a:ext cx="11125200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24" name="회사명 49"/>
          <p:cNvSpPr txBox="1"/>
          <p:nvPr/>
        </p:nvSpPr>
        <p:spPr>
          <a:xfrm>
            <a:off x="533400" y="338138"/>
            <a:ext cx="59808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Hankki Lab</a:t>
            </a:r>
          </a:p>
        </p:txBody>
      </p:sp>
      <p:sp>
        <p:nvSpPr>
          <p:cNvPr id="25" name="키커 50"/>
          <p:cNvSpPr txBox="1"/>
          <p:nvPr/>
        </p:nvSpPr>
        <p:spPr>
          <a:xfrm>
            <a:off x="11146334" y="338138"/>
            <a:ext cx="55180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점 추이 p32</a:t>
            </a:r>
          </a:p>
        </p:txBody>
      </p:sp>
      <p:sp>
        <p:nvSpPr>
          <p:cNvPr id="26" name="축 제목 54"/>
          <p:cNvSpPr txBox="1"/>
          <p:nvPr/>
        </p:nvSpPr>
        <p:spPr>
          <a:xfrm>
            <a:off x="533400" y="1600200"/>
            <a:ext cx="943094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90일 재구매율</a:t>
            </a:r>
          </a:p>
        </p:txBody>
      </p:sp>
      <p:sp>
        <p:nvSpPr>
          <p:cNvPr id="27" name="u 55"/>
          <p:cNvSpPr txBox="1"/>
          <p:nvPr/>
        </p:nvSpPr>
        <p:spPr>
          <a:xfrm>
            <a:off x="4577804" y="1647825"/>
            <a:ext cx="242589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%, 2025년 3분기~2026년 3분기 (세로축 0~100%)</a:t>
            </a:r>
          </a:p>
        </p:txBody>
      </p:sp>
      <p:sp>
        <p:nvSpPr>
          <p:cNvPr id="28" name="d 57"/>
          <p:cNvSpPr txBox="1"/>
          <p:nvPr/>
        </p:nvSpPr>
        <p:spPr>
          <a:xfrm>
            <a:off x="1070521" y="3446562"/>
            <a:ext cx="29564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D9415F"/>
                </a:solidFill>
                <a:latin typeface="Pretendard SemiBold"/>
                <a:ea typeface="Pretendard SemiBold"/>
                <a:cs typeface="Pretendard SemiBold"/>
              </a:rPr>
              <a:t>52%</a:t>
            </a:r>
          </a:p>
        </p:txBody>
      </p:sp>
      <p:sp>
        <p:nvSpPr>
          <p:cNvPr id="29" name="d 59"/>
          <p:cNvSpPr txBox="1"/>
          <p:nvPr/>
        </p:nvSpPr>
        <p:spPr>
          <a:xfrm>
            <a:off x="1066502" y="3912989"/>
            <a:ext cx="30400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6B6B73"/>
                </a:solidFill>
                <a:latin typeface="Pretendard SemiBold"/>
                <a:ea typeface="Pretendard SemiBold"/>
                <a:cs typeface="Pretendard SemiBold"/>
              </a:rPr>
              <a:t>40%</a:t>
            </a:r>
          </a:p>
        </p:txBody>
      </p:sp>
      <p:sp>
        <p:nvSpPr>
          <p:cNvPr id="30" name="d 62"/>
          <p:cNvSpPr txBox="1"/>
          <p:nvPr/>
        </p:nvSpPr>
        <p:spPr>
          <a:xfrm>
            <a:off x="2323207" y="3213497"/>
            <a:ext cx="29935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D9415F"/>
                </a:solidFill>
                <a:latin typeface="Pretendard SemiBold"/>
                <a:ea typeface="Pretendard SemiBold"/>
                <a:cs typeface="Pretendard SemiBold"/>
              </a:rPr>
              <a:t>58%</a:t>
            </a:r>
          </a:p>
        </p:txBody>
      </p:sp>
      <p:sp>
        <p:nvSpPr>
          <p:cNvPr id="31" name="d 64"/>
          <p:cNvSpPr txBox="1"/>
          <p:nvPr/>
        </p:nvSpPr>
        <p:spPr>
          <a:xfrm>
            <a:off x="2332732" y="3874145"/>
            <a:ext cx="27954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6B6B73"/>
                </a:solidFill>
                <a:latin typeface="Pretendard SemiBold"/>
                <a:ea typeface="Pretendard SemiBold"/>
                <a:cs typeface="Pretendard SemiBold"/>
              </a:rPr>
              <a:t>41%</a:t>
            </a:r>
          </a:p>
        </p:txBody>
      </p:sp>
      <p:sp>
        <p:nvSpPr>
          <p:cNvPr id="32" name="d 67"/>
          <p:cNvSpPr txBox="1"/>
          <p:nvPr/>
        </p:nvSpPr>
        <p:spPr>
          <a:xfrm>
            <a:off x="3576786" y="3019127"/>
            <a:ext cx="30152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D9415F"/>
                </a:solidFill>
                <a:latin typeface="Pretendard SemiBold"/>
                <a:ea typeface="Pretendard SemiBold"/>
                <a:cs typeface="Pretendard SemiBold"/>
              </a:rPr>
              <a:t>63%</a:t>
            </a:r>
          </a:p>
        </p:txBody>
      </p:sp>
      <p:sp>
        <p:nvSpPr>
          <p:cNvPr id="33" name="d 69"/>
          <p:cNvSpPr txBox="1"/>
          <p:nvPr/>
        </p:nvSpPr>
        <p:spPr>
          <a:xfrm>
            <a:off x="3576042" y="3796308"/>
            <a:ext cx="30307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6B6B73"/>
                </a:solidFill>
                <a:latin typeface="Pretendard SemiBold"/>
                <a:ea typeface="Pretendard SemiBold"/>
                <a:cs typeface="Pretendard SemiBold"/>
              </a:rPr>
              <a:t>43%</a:t>
            </a:r>
          </a:p>
        </p:txBody>
      </p:sp>
      <p:sp>
        <p:nvSpPr>
          <p:cNvPr id="34" name="d 72"/>
          <p:cNvSpPr txBox="1"/>
          <p:nvPr/>
        </p:nvSpPr>
        <p:spPr>
          <a:xfrm>
            <a:off x="4831556" y="2824758"/>
            <a:ext cx="30137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D9415F"/>
                </a:solidFill>
                <a:latin typeface="Pretendard SemiBold"/>
                <a:ea typeface="Pretendard SemiBold"/>
                <a:cs typeface="Pretendard SemiBold"/>
              </a:rPr>
              <a:t>68%</a:t>
            </a:r>
          </a:p>
        </p:txBody>
      </p:sp>
      <p:sp>
        <p:nvSpPr>
          <p:cNvPr id="35" name="d 74"/>
          <p:cNvSpPr txBox="1"/>
          <p:nvPr/>
        </p:nvSpPr>
        <p:spPr>
          <a:xfrm>
            <a:off x="4829919" y="3757464"/>
            <a:ext cx="30477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6B6B73"/>
                </a:solidFill>
                <a:latin typeface="Pretendard SemiBold"/>
                <a:ea typeface="Pretendard SemiBold"/>
                <a:cs typeface="Pretendard SemiBold"/>
              </a:rPr>
              <a:t>44%</a:t>
            </a:r>
          </a:p>
        </p:txBody>
      </p:sp>
      <p:sp>
        <p:nvSpPr>
          <p:cNvPr id="36" name="d 77"/>
          <p:cNvSpPr txBox="1"/>
          <p:nvPr/>
        </p:nvSpPr>
        <p:spPr>
          <a:xfrm>
            <a:off x="6100911" y="2708225"/>
            <a:ext cx="27072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D9415F"/>
                </a:solidFill>
                <a:latin typeface="Pretendard SemiBold"/>
                <a:ea typeface="Pretendard SemiBold"/>
                <a:cs typeface="Pretendard SemiBold"/>
              </a:rPr>
              <a:t>71%</a:t>
            </a:r>
          </a:p>
        </p:txBody>
      </p:sp>
      <p:sp>
        <p:nvSpPr>
          <p:cNvPr id="37" name="d 79"/>
          <p:cNvSpPr txBox="1"/>
          <p:nvPr/>
        </p:nvSpPr>
        <p:spPr>
          <a:xfrm>
            <a:off x="6086177" y="3718620"/>
            <a:ext cx="30121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6B6B73"/>
                </a:solidFill>
                <a:latin typeface="Pretendard SemiBold"/>
                <a:ea typeface="Pretendard SemiBold"/>
                <a:cs typeface="Pretendard SemiBold"/>
              </a:rPr>
              <a:t>45%</a:t>
            </a:r>
          </a:p>
        </p:txBody>
      </p:sp>
      <p:sp>
        <p:nvSpPr>
          <p:cNvPr id="38" name="xs 81"/>
          <p:cNvSpPr txBox="1"/>
          <p:nvPr/>
        </p:nvSpPr>
        <p:spPr>
          <a:xfrm>
            <a:off x="1028899" y="5829300"/>
            <a:ext cx="35693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25.3Q</a:t>
            </a:r>
          </a:p>
        </p:txBody>
      </p:sp>
      <p:sp>
        <p:nvSpPr>
          <p:cNvPr id="39" name="xs 82"/>
          <p:cNvSpPr txBox="1"/>
          <p:nvPr/>
        </p:nvSpPr>
        <p:spPr>
          <a:xfrm>
            <a:off x="2279422" y="5829300"/>
            <a:ext cx="36111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25.4Q</a:t>
            </a:r>
          </a:p>
        </p:txBody>
      </p:sp>
      <p:sp>
        <p:nvSpPr>
          <p:cNvPr id="40" name="xs 83"/>
          <p:cNvSpPr txBox="1"/>
          <p:nvPr/>
        </p:nvSpPr>
        <p:spPr>
          <a:xfrm>
            <a:off x="3548205" y="5829300"/>
            <a:ext cx="32892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26.1Q</a:t>
            </a:r>
          </a:p>
        </p:txBody>
      </p:sp>
      <p:sp>
        <p:nvSpPr>
          <p:cNvPr id="41" name="xs 84"/>
          <p:cNvSpPr txBox="1"/>
          <p:nvPr/>
        </p:nvSpPr>
        <p:spPr>
          <a:xfrm>
            <a:off x="4786497" y="5829300"/>
            <a:ext cx="35771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26.2Q</a:t>
            </a:r>
          </a:p>
        </p:txBody>
      </p:sp>
      <p:sp>
        <p:nvSpPr>
          <p:cNvPr id="42" name="xs 85"/>
          <p:cNvSpPr txBox="1"/>
          <p:nvPr/>
        </p:nvSpPr>
        <p:spPr>
          <a:xfrm>
            <a:off x="6039026" y="5829300"/>
            <a:ext cx="35817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26.3Q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5325" y="6086475"/>
            <a:ext cx="21608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자사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37208" y="6086475"/>
            <a:ext cx="441603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업계 평균</a:t>
            </a:r>
          </a:p>
        </p:txBody>
      </p:sp>
      <p:sp>
        <p:nvSpPr>
          <p:cNvPr id="45" name="열 제목 91"/>
          <p:cNvSpPr txBox="1"/>
          <p:nvPr/>
        </p:nvSpPr>
        <p:spPr>
          <a:xfrm>
            <a:off x="7273082" y="1600200"/>
            <a:ext cx="122773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이 도표가 말하는 것</a:t>
            </a:r>
          </a:p>
        </p:txBody>
      </p:sp>
      <p:sp>
        <p:nvSpPr>
          <p:cNvPr id="46" name="글머리표 92"/>
          <p:cNvSpPr txBox="1"/>
          <p:nvPr/>
        </p:nvSpPr>
        <p:spPr>
          <a:xfrm>
            <a:off x="7273082" y="3643312"/>
            <a:ext cx="4385518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자사는 분기마다 3~6%p씩 올랐다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업계 평균은 40%에서 45%로 5%p 올랐다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격차는 12%p에서 26%p로 벌어졌다</a:t>
            </a:r>
          </a:p>
        </p:txBody>
      </p:sp>
      <p:sp>
        <p:nvSpPr>
          <p:cNvPr id="47" name="출처 93"/>
          <p:cNvSpPr txBox="1"/>
          <p:nvPr/>
        </p:nvSpPr>
        <p:spPr>
          <a:xfrm>
            <a:off x="533400" y="6324600"/>
            <a:ext cx="137137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출처: 예시 데이터, 실제 수치 아님</a:t>
            </a:r>
          </a:p>
        </p:txBody>
      </p:sp>
      <p:sp>
        <p:nvSpPr>
          <p:cNvPr id="48" name="꼬리말 95"/>
          <p:cNvSpPr txBox="1"/>
          <p:nvPr/>
        </p:nvSpPr>
        <p:spPr>
          <a:xfrm>
            <a:off x="533400" y="6600825"/>
            <a:ext cx="115375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Hankki Lab | 도표 부품 견본</a:t>
            </a:r>
          </a:p>
        </p:txBody>
      </p:sp>
      <p:sp>
        <p:nvSpPr>
          <p:cNvPr id="49" name="pg 96"/>
          <p:cNvSpPr txBox="1"/>
          <p:nvPr/>
        </p:nvSpPr>
        <p:spPr>
          <a:xfrm>
            <a:off x="11573173" y="6600825"/>
            <a:ext cx="107894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90550"/>
            <a:ext cx="11125200" cy="704850"/>
          </a:xfrm>
        </p:spPr>
        <p:txBody>
          <a:bodyPr lIns="0" rIns="0" tIns="0" bIns="0" wrap="square" anchor="t">
            <a:noAutofit/>
          </a:bodyPr>
          <a:lstStyle/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중소 브랜드는 콘텐츠 제작과 성과 분석을 주 4회 사용,</a:t>
            </a:r>
          </a:p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대기업은 광고 집행에 집중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376362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graphicFrame>
        <p:nvGraphicFramePr>
          <p:cNvPr id="4" name="표 5"/>
          <p:cNvGraphicFramePr>
            <a:graphicFrameLocks noGrp="1"/>
          </p:cNvGraphicFramePr>
          <p:nvPr/>
        </p:nvGraphicFramePr>
        <p:xfrm>
          <a:off x="533400" y="2714625"/>
          <a:ext cx="11125198" cy="206216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905000"/>
                <a:gridCol w="1843980"/>
                <a:gridCol w="1843980"/>
                <a:gridCol w="1843980"/>
                <a:gridCol w="1843980"/>
                <a:gridCol w="1844278"/>
              </a:tblGrid>
              <a:tr h="285750"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고객 규모</a:t>
                      </a:r>
                      <a:endParaRPr sz="100"/>
                    </a:p>
                  </a:txBody>
                  <a:tcPr marT="0" marR="95250" marB="66675" marL="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8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콘텐츠 제작</a:t>
                      </a:r>
                      <a:endParaRPr sz="100"/>
                    </a:p>
                  </a:txBody>
                  <a:tcPr marT="0" marR="95250" marB="66675" marL="952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8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리뷰 관리</a:t>
                      </a:r>
                      <a:endParaRPr sz="100"/>
                    </a:p>
                  </a:txBody>
                  <a:tcPr marT="0" marR="95250" marB="66675" marL="952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8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광고 집행</a:t>
                      </a:r>
                      <a:endParaRPr sz="100"/>
                    </a:p>
                  </a:txBody>
                  <a:tcPr marT="0" marR="95250" marB="66675" marL="952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8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성과 분석</a:t>
                      </a:r>
                      <a:endParaRPr sz="100"/>
                    </a:p>
                  </a:txBody>
                  <a:tcPr marT="0" marR="95250" marB="66675" marL="952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8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정산</a:t>
                      </a:r>
                      <a:endParaRPr sz="100"/>
                    </a:p>
                  </a:txBody>
                  <a:tcPr marT="0" marR="95250" marB="66675" marL="952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8181C"/>
                      </a:solidFill>
                    </a:lnB>
                    <a:noFill/>
                  </a:tcPr>
                </a:tc>
              </a:tr>
              <a:tr h="442912"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중소 브랜드</a:t>
                      </a:r>
                      <a:endParaRPr sz="100"/>
                    </a:p>
                  </a:txBody>
                  <a:tcPr marT="104775" marR="95250" marB="104775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FCFD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주 4회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D941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주 2회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C9C9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18181C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월 2회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BE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주 4회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D941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6B6B73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씀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noFill/>
                  </a:tcPr>
                </a:tc>
              </a:tr>
              <a:tr h="447675"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중견 브랜드</a:t>
                      </a:r>
                      <a:endParaRPr sz="100"/>
                    </a:p>
                  </a:txBody>
                  <a:tcPr marT="104775" marR="95250" marB="104775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FCFD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주 2회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C9C9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주 4회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D941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주 2회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C9C9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18181C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월 2회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BE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18181C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월 2회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BE9ED"/>
                    </a:solidFill>
                  </a:tcPr>
                </a:tc>
              </a:tr>
              <a:tr h="447675"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대기업</a:t>
                      </a:r>
                      <a:endParaRPr sz="100"/>
                    </a:p>
                  </a:txBody>
                  <a:tcPr marT="104775" marR="95250" marB="104775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FCFD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18181C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월 2회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BE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18181C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월 2회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BE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주 4회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D941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주 2회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C9C9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6B6B73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씀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noFill/>
                  </a:tcPr>
                </a:tc>
              </a:tr>
              <a:tr h="438150"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1인 브랜드</a:t>
                      </a:r>
                      <a:endParaRPr sz="100"/>
                    </a:p>
                  </a:txBody>
                  <a:tcPr marT="104775" marR="95250" marB="104775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FCFD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6B6B73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씀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주 2회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9C9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18181C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월 2회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BE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주 4회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D941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주 2회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9C9CF"/>
                    </a:solidFill>
                  </a:tcPr>
                </a:tc>
              </a:tr>
            </a:tbl>
          </a:graphicData>
        </a:graphic>
      </p:graphicFrame>
      <p:sp>
        <p:nvSpPr>
          <p:cNvPr id="5" name="h3 7"/>
          <p:cNvSpPr/>
          <p:nvPr/>
        </p:nvSpPr>
        <p:spPr>
          <a:xfrm>
            <a:off x="533400" y="4957762"/>
            <a:ext cx="104775" cy="104775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h2 9"/>
          <p:cNvSpPr/>
          <p:nvPr/>
        </p:nvSpPr>
        <p:spPr>
          <a:xfrm>
            <a:off x="1387227" y="4957762"/>
            <a:ext cx="104775" cy="104775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h1 11"/>
          <p:cNvSpPr/>
          <p:nvPr/>
        </p:nvSpPr>
        <p:spPr>
          <a:xfrm>
            <a:off x="2134046" y="4957762"/>
            <a:ext cx="104775" cy="104775"/>
          </a:xfrm>
          <a:prstGeom prst="rect">
            <a:avLst/>
          </a:prstGeom>
          <a:solidFill>
            <a:srgbClr val="FBE9ED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8" name="Connector 7"/>
          <p:cNvCxnSpPr/>
          <p:nvPr/>
        </p:nvCxnSpPr>
        <p:spPr>
          <a:xfrm>
            <a:off x="533400" y="6538912"/>
            <a:ext cx="11125200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9" name="회사명 16"/>
          <p:cNvSpPr txBox="1"/>
          <p:nvPr/>
        </p:nvSpPr>
        <p:spPr>
          <a:xfrm>
            <a:off x="533400" y="338138"/>
            <a:ext cx="59808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Hankki Lab</a:t>
            </a:r>
          </a:p>
        </p:txBody>
      </p:sp>
      <p:sp>
        <p:nvSpPr>
          <p:cNvPr id="10" name="키커 17"/>
          <p:cNvSpPr txBox="1"/>
          <p:nvPr/>
        </p:nvSpPr>
        <p:spPr>
          <a:xfrm>
            <a:off x="11059418" y="338138"/>
            <a:ext cx="642199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히트맵 표 p37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325" y="4943475"/>
            <a:ext cx="54050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주 3회 이상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49152" y="4943475"/>
            <a:ext cx="42922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주 1~2회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95971" y="4943475"/>
            <a:ext cx="43510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월 1~3회</a:t>
            </a:r>
          </a:p>
        </p:txBody>
      </p:sp>
      <p:sp>
        <p:nvSpPr>
          <p:cNvPr id="14" name="출처 27"/>
          <p:cNvSpPr txBox="1"/>
          <p:nvPr/>
        </p:nvSpPr>
        <p:spPr>
          <a:xfrm>
            <a:off x="533400" y="6324600"/>
            <a:ext cx="137137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출처: 예시 데이터, 실제 수치 아님</a:t>
            </a:r>
          </a:p>
        </p:txBody>
      </p:sp>
      <p:sp>
        <p:nvSpPr>
          <p:cNvPr id="15" name="꼬리말 29"/>
          <p:cNvSpPr txBox="1"/>
          <p:nvPr/>
        </p:nvSpPr>
        <p:spPr>
          <a:xfrm>
            <a:off x="533400" y="6600825"/>
            <a:ext cx="115375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Hankki Lab | 도표 부품 견본</a:t>
            </a:r>
          </a:p>
        </p:txBody>
      </p:sp>
      <p:sp>
        <p:nvSpPr>
          <p:cNvPr id="16" name="pg 30"/>
          <p:cNvSpPr txBox="1"/>
          <p:nvPr/>
        </p:nvSpPr>
        <p:spPr>
          <a:xfrm>
            <a:off x="11559183" y="6600825"/>
            <a:ext cx="122444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90550"/>
            <a:ext cx="11125200" cy="704850"/>
          </a:xfrm>
        </p:spPr>
        <p:txBody>
          <a:bodyPr lIns="0" rIns="0" tIns="0" bIns="0" wrap="square" anchor="t">
            <a:noAutofit/>
          </a:bodyPr>
          <a:lstStyle/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뷰티 소비자의 68%가</a:t>
            </a:r>
          </a:p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구매 전에 리뷰 영상을 확인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376362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33400" y="1852612"/>
            <a:ext cx="63586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sp>
        <p:nvSpPr>
          <p:cNvPr id="5" name="on 10"/>
          <p:cNvSpPr/>
          <p:nvPr/>
        </p:nvSpPr>
        <p:spPr>
          <a:xfrm>
            <a:off x="2343150" y="23193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on 11"/>
          <p:cNvSpPr/>
          <p:nvPr/>
        </p:nvSpPr>
        <p:spPr>
          <a:xfrm>
            <a:off x="2686050" y="23193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on 12"/>
          <p:cNvSpPr/>
          <p:nvPr/>
        </p:nvSpPr>
        <p:spPr>
          <a:xfrm>
            <a:off x="3028950" y="23193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on 13"/>
          <p:cNvSpPr/>
          <p:nvPr/>
        </p:nvSpPr>
        <p:spPr>
          <a:xfrm>
            <a:off x="3371850" y="23193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on 14"/>
          <p:cNvSpPr/>
          <p:nvPr/>
        </p:nvSpPr>
        <p:spPr>
          <a:xfrm>
            <a:off x="3714750" y="23193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on 15"/>
          <p:cNvSpPr/>
          <p:nvPr/>
        </p:nvSpPr>
        <p:spPr>
          <a:xfrm>
            <a:off x="4057650" y="23193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on 16"/>
          <p:cNvSpPr/>
          <p:nvPr/>
        </p:nvSpPr>
        <p:spPr>
          <a:xfrm>
            <a:off x="4400550" y="23193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on 17"/>
          <p:cNvSpPr/>
          <p:nvPr/>
        </p:nvSpPr>
        <p:spPr>
          <a:xfrm>
            <a:off x="4743450" y="23193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on 18"/>
          <p:cNvSpPr/>
          <p:nvPr/>
        </p:nvSpPr>
        <p:spPr>
          <a:xfrm>
            <a:off x="5086350" y="23193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on 19"/>
          <p:cNvSpPr/>
          <p:nvPr/>
        </p:nvSpPr>
        <p:spPr>
          <a:xfrm>
            <a:off x="5429250" y="23193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on 20"/>
          <p:cNvSpPr/>
          <p:nvPr/>
        </p:nvSpPr>
        <p:spPr>
          <a:xfrm>
            <a:off x="2343150" y="26622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on 21"/>
          <p:cNvSpPr/>
          <p:nvPr/>
        </p:nvSpPr>
        <p:spPr>
          <a:xfrm>
            <a:off x="2686050" y="26622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on 22"/>
          <p:cNvSpPr/>
          <p:nvPr/>
        </p:nvSpPr>
        <p:spPr>
          <a:xfrm>
            <a:off x="3028950" y="26622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on 23"/>
          <p:cNvSpPr/>
          <p:nvPr/>
        </p:nvSpPr>
        <p:spPr>
          <a:xfrm>
            <a:off x="3371850" y="26622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on 24"/>
          <p:cNvSpPr/>
          <p:nvPr/>
        </p:nvSpPr>
        <p:spPr>
          <a:xfrm>
            <a:off x="3714750" y="26622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on 25"/>
          <p:cNvSpPr/>
          <p:nvPr/>
        </p:nvSpPr>
        <p:spPr>
          <a:xfrm>
            <a:off x="4057650" y="26622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on 26"/>
          <p:cNvSpPr/>
          <p:nvPr/>
        </p:nvSpPr>
        <p:spPr>
          <a:xfrm>
            <a:off x="4400550" y="26622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on 27"/>
          <p:cNvSpPr/>
          <p:nvPr/>
        </p:nvSpPr>
        <p:spPr>
          <a:xfrm>
            <a:off x="4743450" y="26622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on 28"/>
          <p:cNvSpPr/>
          <p:nvPr/>
        </p:nvSpPr>
        <p:spPr>
          <a:xfrm>
            <a:off x="5086350" y="26622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on 29"/>
          <p:cNvSpPr/>
          <p:nvPr/>
        </p:nvSpPr>
        <p:spPr>
          <a:xfrm>
            <a:off x="5429250" y="26622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on 30"/>
          <p:cNvSpPr/>
          <p:nvPr/>
        </p:nvSpPr>
        <p:spPr>
          <a:xfrm>
            <a:off x="2343150" y="30051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on 31"/>
          <p:cNvSpPr/>
          <p:nvPr/>
        </p:nvSpPr>
        <p:spPr>
          <a:xfrm>
            <a:off x="2686050" y="30051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on 32"/>
          <p:cNvSpPr/>
          <p:nvPr/>
        </p:nvSpPr>
        <p:spPr>
          <a:xfrm>
            <a:off x="3028950" y="30051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on 33"/>
          <p:cNvSpPr/>
          <p:nvPr/>
        </p:nvSpPr>
        <p:spPr>
          <a:xfrm>
            <a:off x="3371850" y="30051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on 34"/>
          <p:cNvSpPr/>
          <p:nvPr/>
        </p:nvSpPr>
        <p:spPr>
          <a:xfrm>
            <a:off x="3714750" y="30051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on 35"/>
          <p:cNvSpPr/>
          <p:nvPr/>
        </p:nvSpPr>
        <p:spPr>
          <a:xfrm>
            <a:off x="4057650" y="30051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on 36"/>
          <p:cNvSpPr/>
          <p:nvPr/>
        </p:nvSpPr>
        <p:spPr>
          <a:xfrm>
            <a:off x="4400550" y="30051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on 37"/>
          <p:cNvSpPr/>
          <p:nvPr/>
        </p:nvSpPr>
        <p:spPr>
          <a:xfrm>
            <a:off x="4743450" y="30051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on 38"/>
          <p:cNvSpPr/>
          <p:nvPr/>
        </p:nvSpPr>
        <p:spPr>
          <a:xfrm>
            <a:off x="5086350" y="30051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" name="on 39"/>
          <p:cNvSpPr/>
          <p:nvPr/>
        </p:nvSpPr>
        <p:spPr>
          <a:xfrm>
            <a:off x="5429250" y="30051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on 40"/>
          <p:cNvSpPr/>
          <p:nvPr/>
        </p:nvSpPr>
        <p:spPr>
          <a:xfrm>
            <a:off x="2343150" y="33480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6" name="on 41"/>
          <p:cNvSpPr/>
          <p:nvPr/>
        </p:nvSpPr>
        <p:spPr>
          <a:xfrm>
            <a:off x="2686050" y="33480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on 42"/>
          <p:cNvSpPr/>
          <p:nvPr/>
        </p:nvSpPr>
        <p:spPr>
          <a:xfrm>
            <a:off x="3028950" y="33480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on 43"/>
          <p:cNvSpPr/>
          <p:nvPr/>
        </p:nvSpPr>
        <p:spPr>
          <a:xfrm>
            <a:off x="3371850" y="33480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on 44"/>
          <p:cNvSpPr/>
          <p:nvPr/>
        </p:nvSpPr>
        <p:spPr>
          <a:xfrm>
            <a:off x="3714750" y="33480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on 45"/>
          <p:cNvSpPr/>
          <p:nvPr/>
        </p:nvSpPr>
        <p:spPr>
          <a:xfrm>
            <a:off x="4057650" y="33480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on 46"/>
          <p:cNvSpPr/>
          <p:nvPr/>
        </p:nvSpPr>
        <p:spPr>
          <a:xfrm>
            <a:off x="4400550" y="33480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on 47"/>
          <p:cNvSpPr/>
          <p:nvPr/>
        </p:nvSpPr>
        <p:spPr>
          <a:xfrm>
            <a:off x="4743450" y="33480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on 48"/>
          <p:cNvSpPr/>
          <p:nvPr/>
        </p:nvSpPr>
        <p:spPr>
          <a:xfrm>
            <a:off x="5086350" y="33480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on 49"/>
          <p:cNvSpPr/>
          <p:nvPr/>
        </p:nvSpPr>
        <p:spPr>
          <a:xfrm>
            <a:off x="5429250" y="33480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5" name="on 50"/>
          <p:cNvSpPr/>
          <p:nvPr/>
        </p:nvSpPr>
        <p:spPr>
          <a:xfrm>
            <a:off x="2343150" y="36909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on 51"/>
          <p:cNvSpPr/>
          <p:nvPr/>
        </p:nvSpPr>
        <p:spPr>
          <a:xfrm>
            <a:off x="2686050" y="36909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7" name="on 52"/>
          <p:cNvSpPr/>
          <p:nvPr/>
        </p:nvSpPr>
        <p:spPr>
          <a:xfrm>
            <a:off x="3028950" y="36909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on 53"/>
          <p:cNvSpPr/>
          <p:nvPr/>
        </p:nvSpPr>
        <p:spPr>
          <a:xfrm>
            <a:off x="3371850" y="36909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on 54"/>
          <p:cNvSpPr/>
          <p:nvPr/>
        </p:nvSpPr>
        <p:spPr>
          <a:xfrm>
            <a:off x="3714750" y="36909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0" name="on 55"/>
          <p:cNvSpPr/>
          <p:nvPr/>
        </p:nvSpPr>
        <p:spPr>
          <a:xfrm>
            <a:off x="4057650" y="36909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1" name="on 56"/>
          <p:cNvSpPr/>
          <p:nvPr/>
        </p:nvSpPr>
        <p:spPr>
          <a:xfrm>
            <a:off x="4400550" y="36909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on 57"/>
          <p:cNvSpPr/>
          <p:nvPr/>
        </p:nvSpPr>
        <p:spPr>
          <a:xfrm>
            <a:off x="4743450" y="36909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3" name="on 58"/>
          <p:cNvSpPr/>
          <p:nvPr/>
        </p:nvSpPr>
        <p:spPr>
          <a:xfrm>
            <a:off x="5086350" y="36909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on 59"/>
          <p:cNvSpPr/>
          <p:nvPr/>
        </p:nvSpPr>
        <p:spPr>
          <a:xfrm>
            <a:off x="5429250" y="36909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on 60"/>
          <p:cNvSpPr/>
          <p:nvPr/>
        </p:nvSpPr>
        <p:spPr>
          <a:xfrm>
            <a:off x="2343150" y="40338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6" name="on 61"/>
          <p:cNvSpPr/>
          <p:nvPr/>
        </p:nvSpPr>
        <p:spPr>
          <a:xfrm>
            <a:off x="2686050" y="40338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7" name="on 62"/>
          <p:cNvSpPr/>
          <p:nvPr/>
        </p:nvSpPr>
        <p:spPr>
          <a:xfrm>
            <a:off x="3028950" y="40338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on 63"/>
          <p:cNvSpPr/>
          <p:nvPr/>
        </p:nvSpPr>
        <p:spPr>
          <a:xfrm>
            <a:off x="3371850" y="40338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on 64"/>
          <p:cNvSpPr/>
          <p:nvPr/>
        </p:nvSpPr>
        <p:spPr>
          <a:xfrm>
            <a:off x="3714750" y="40338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0" name="on 65"/>
          <p:cNvSpPr/>
          <p:nvPr/>
        </p:nvSpPr>
        <p:spPr>
          <a:xfrm>
            <a:off x="4057650" y="40338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on 66"/>
          <p:cNvSpPr/>
          <p:nvPr/>
        </p:nvSpPr>
        <p:spPr>
          <a:xfrm>
            <a:off x="4400550" y="40338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2" name="on 67"/>
          <p:cNvSpPr/>
          <p:nvPr/>
        </p:nvSpPr>
        <p:spPr>
          <a:xfrm>
            <a:off x="4743450" y="40338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3" name="on 68"/>
          <p:cNvSpPr/>
          <p:nvPr/>
        </p:nvSpPr>
        <p:spPr>
          <a:xfrm>
            <a:off x="5086350" y="40338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4" name="on 69"/>
          <p:cNvSpPr/>
          <p:nvPr/>
        </p:nvSpPr>
        <p:spPr>
          <a:xfrm>
            <a:off x="5429250" y="40338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5" name="on 70"/>
          <p:cNvSpPr/>
          <p:nvPr/>
        </p:nvSpPr>
        <p:spPr>
          <a:xfrm>
            <a:off x="2343150" y="43767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6" name="on 71"/>
          <p:cNvSpPr/>
          <p:nvPr/>
        </p:nvSpPr>
        <p:spPr>
          <a:xfrm>
            <a:off x="2686050" y="43767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7" name="on 72"/>
          <p:cNvSpPr/>
          <p:nvPr/>
        </p:nvSpPr>
        <p:spPr>
          <a:xfrm>
            <a:off x="3028950" y="43767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8" name="on 73"/>
          <p:cNvSpPr/>
          <p:nvPr/>
        </p:nvSpPr>
        <p:spPr>
          <a:xfrm>
            <a:off x="3371850" y="43767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9" name="on 74"/>
          <p:cNvSpPr/>
          <p:nvPr/>
        </p:nvSpPr>
        <p:spPr>
          <a:xfrm>
            <a:off x="3714750" y="43767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0" name="on 75"/>
          <p:cNvSpPr/>
          <p:nvPr/>
        </p:nvSpPr>
        <p:spPr>
          <a:xfrm>
            <a:off x="4057650" y="43767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1" name="on 76"/>
          <p:cNvSpPr/>
          <p:nvPr/>
        </p:nvSpPr>
        <p:spPr>
          <a:xfrm>
            <a:off x="4400550" y="43767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2" name="on 77"/>
          <p:cNvSpPr/>
          <p:nvPr/>
        </p:nvSpPr>
        <p:spPr>
          <a:xfrm>
            <a:off x="4743450" y="4376738"/>
            <a:ext cx="247650" cy="2476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3" name="dm-g 78"/>
          <p:cNvSpPr/>
          <p:nvPr/>
        </p:nvSpPr>
        <p:spPr>
          <a:xfrm>
            <a:off x="5086350" y="43767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4" name="dm-g 79"/>
          <p:cNvSpPr/>
          <p:nvPr/>
        </p:nvSpPr>
        <p:spPr>
          <a:xfrm>
            <a:off x="5429250" y="43767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5" name="dm-g 80"/>
          <p:cNvSpPr/>
          <p:nvPr/>
        </p:nvSpPr>
        <p:spPr>
          <a:xfrm>
            <a:off x="2343150" y="47196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6" name="dm-g 81"/>
          <p:cNvSpPr/>
          <p:nvPr/>
        </p:nvSpPr>
        <p:spPr>
          <a:xfrm>
            <a:off x="2686050" y="47196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7" name="dm-g 82"/>
          <p:cNvSpPr/>
          <p:nvPr/>
        </p:nvSpPr>
        <p:spPr>
          <a:xfrm>
            <a:off x="3028950" y="47196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8" name="dm-g 83"/>
          <p:cNvSpPr/>
          <p:nvPr/>
        </p:nvSpPr>
        <p:spPr>
          <a:xfrm>
            <a:off x="3371850" y="47196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9" name="dm-g 84"/>
          <p:cNvSpPr/>
          <p:nvPr/>
        </p:nvSpPr>
        <p:spPr>
          <a:xfrm>
            <a:off x="3714750" y="47196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0" name="dm-g 85"/>
          <p:cNvSpPr/>
          <p:nvPr/>
        </p:nvSpPr>
        <p:spPr>
          <a:xfrm>
            <a:off x="4057650" y="47196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1" name="dm-g 86"/>
          <p:cNvSpPr/>
          <p:nvPr/>
        </p:nvSpPr>
        <p:spPr>
          <a:xfrm>
            <a:off x="4400550" y="47196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2" name="dm-g 87"/>
          <p:cNvSpPr/>
          <p:nvPr/>
        </p:nvSpPr>
        <p:spPr>
          <a:xfrm>
            <a:off x="4743450" y="47196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3" name="dm-g 88"/>
          <p:cNvSpPr/>
          <p:nvPr/>
        </p:nvSpPr>
        <p:spPr>
          <a:xfrm>
            <a:off x="5086350" y="47196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4" name="dm-g 89"/>
          <p:cNvSpPr/>
          <p:nvPr/>
        </p:nvSpPr>
        <p:spPr>
          <a:xfrm>
            <a:off x="5429250" y="47196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5" name="dm-g 90"/>
          <p:cNvSpPr/>
          <p:nvPr/>
        </p:nvSpPr>
        <p:spPr>
          <a:xfrm>
            <a:off x="2343150" y="50625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6" name="dm-g 91"/>
          <p:cNvSpPr/>
          <p:nvPr/>
        </p:nvSpPr>
        <p:spPr>
          <a:xfrm>
            <a:off x="2686050" y="50625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7" name="dm-g 92"/>
          <p:cNvSpPr/>
          <p:nvPr/>
        </p:nvSpPr>
        <p:spPr>
          <a:xfrm>
            <a:off x="3028950" y="50625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8" name="dm-g 93"/>
          <p:cNvSpPr/>
          <p:nvPr/>
        </p:nvSpPr>
        <p:spPr>
          <a:xfrm>
            <a:off x="3371850" y="50625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9" name="dm-g 94"/>
          <p:cNvSpPr/>
          <p:nvPr/>
        </p:nvSpPr>
        <p:spPr>
          <a:xfrm>
            <a:off x="3714750" y="50625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0" name="dm-g 95"/>
          <p:cNvSpPr/>
          <p:nvPr/>
        </p:nvSpPr>
        <p:spPr>
          <a:xfrm>
            <a:off x="4057650" y="50625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1" name="dm-g 96"/>
          <p:cNvSpPr/>
          <p:nvPr/>
        </p:nvSpPr>
        <p:spPr>
          <a:xfrm>
            <a:off x="4400550" y="50625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2" name="dm-g 97"/>
          <p:cNvSpPr/>
          <p:nvPr/>
        </p:nvSpPr>
        <p:spPr>
          <a:xfrm>
            <a:off x="4743450" y="50625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3" name="dm-g 98"/>
          <p:cNvSpPr/>
          <p:nvPr/>
        </p:nvSpPr>
        <p:spPr>
          <a:xfrm>
            <a:off x="5086350" y="50625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4" name="dm-g 99"/>
          <p:cNvSpPr/>
          <p:nvPr/>
        </p:nvSpPr>
        <p:spPr>
          <a:xfrm>
            <a:off x="5429250" y="50625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5" name="dm-g 100"/>
          <p:cNvSpPr/>
          <p:nvPr/>
        </p:nvSpPr>
        <p:spPr>
          <a:xfrm>
            <a:off x="2343150" y="54054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6" name="dm-g 101"/>
          <p:cNvSpPr/>
          <p:nvPr/>
        </p:nvSpPr>
        <p:spPr>
          <a:xfrm>
            <a:off x="2686050" y="54054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7" name="dm-g 102"/>
          <p:cNvSpPr/>
          <p:nvPr/>
        </p:nvSpPr>
        <p:spPr>
          <a:xfrm>
            <a:off x="3028950" y="54054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8" name="dm-g 103"/>
          <p:cNvSpPr/>
          <p:nvPr/>
        </p:nvSpPr>
        <p:spPr>
          <a:xfrm>
            <a:off x="3371850" y="54054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9" name="dm-g 104"/>
          <p:cNvSpPr/>
          <p:nvPr/>
        </p:nvSpPr>
        <p:spPr>
          <a:xfrm>
            <a:off x="3714750" y="54054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0" name="dm-g 105"/>
          <p:cNvSpPr/>
          <p:nvPr/>
        </p:nvSpPr>
        <p:spPr>
          <a:xfrm>
            <a:off x="4057650" y="54054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1" name="dm-g 106"/>
          <p:cNvSpPr/>
          <p:nvPr/>
        </p:nvSpPr>
        <p:spPr>
          <a:xfrm>
            <a:off x="4400550" y="54054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2" name="dm-g 107"/>
          <p:cNvSpPr/>
          <p:nvPr/>
        </p:nvSpPr>
        <p:spPr>
          <a:xfrm>
            <a:off x="4743450" y="54054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3" name="dm-g 108"/>
          <p:cNvSpPr/>
          <p:nvPr/>
        </p:nvSpPr>
        <p:spPr>
          <a:xfrm>
            <a:off x="5086350" y="54054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4" name="dm-g 109"/>
          <p:cNvSpPr/>
          <p:nvPr/>
        </p:nvSpPr>
        <p:spPr>
          <a:xfrm>
            <a:off x="5429250" y="5405438"/>
            <a:ext cx="247650" cy="2476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5" name="a 111"/>
          <p:cNvSpPr/>
          <p:nvPr/>
        </p:nvSpPr>
        <p:spPr>
          <a:xfrm>
            <a:off x="533400" y="6100762"/>
            <a:ext cx="104775" cy="104775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6" name="c 113"/>
          <p:cNvSpPr/>
          <p:nvPr/>
        </p:nvSpPr>
        <p:spPr>
          <a:xfrm>
            <a:off x="1075283" y="6100762"/>
            <a:ext cx="104775" cy="104775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07" name="Connector 106"/>
          <p:cNvCxnSpPr/>
          <p:nvPr/>
        </p:nvCxnSpPr>
        <p:spPr>
          <a:xfrm>
            <a:off x="7273082" y="1852612"/>
            <a:ext cx="4385518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108" name="Connector 107"/>
          <p:cNvCxnSpPr/>
          <p:nvPr/>
        </p:nvCxnSpPr>
        <p:spPr>
          <a:xfrm>
            <a:off x="533400" y="6538912"/>
            <a:ext cx="11125200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109" name="회사명 121"/>
          <p:cNvSpPr txBox="1"/>
          <p:nvPr/>
        </p:nvSpPr>
        <p:spPr>
          <a:xfrm>
            <a:off x="533400" y="338138"/>
            <a:ext cx="59808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Hankki Lab</a:t>
            </a:r>
          </a:p>
        </p:txBody>
      </p:sp>
      <p:sp>
        <p:nvSpPr>
          <p:cNvPr id="110" name="키커 122"/>
          <p:cNvSpPr txBox="1"/>
          <p:nvPr/>
        </p:nvSpPr>
        <p:spPr>
          <a:xfrm>
            <a:off x="10871150" y="338138"/>
            <a:ext cx="837998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도트 매트릭스 p48</a:t>
            </a:r>
          </a:p>
        </p:txBody>
      </p:sp>
      <p:sp>
        <p:nvSpPr>
          <p:cNvPr id="111" name="축 제목 126"/>
          <p:cNvSpPr txBox="1"/>
          <p:nvPr/>
        </p:nvSpPr>
        <p:spPr>
          <a:xfrm>
            <a:off x="533400" y="1600200"/>
            <a:ext cx="171390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구매 전 리뷰 영상 시청 여부</a:t>
            </a:r>
          </a:p>
        </p:txBody>
      </p:sp>
      <p:sp>
        <p:nvSpPr>
          <p:cNvPr id="112" name="u 127"/>
          <p:cNvSpPr txBox="1"/>
          <p:nvPr/>
        </p:nvSpPr>
        <p:spPr>
          <a:xfrm>
            <a:off x="5481786" y="1647825"/>
            <a:ext cx="148575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%, 2026년 9월 설문 (n=1,200)</a:t>
            </a:r>
          </a:p>
        </p:txBody>
      </p:sp>
      <p:sp>
        <p:nvSpPr>
          <p:cNvPr id="113" name="v 128"/>
          <p:cNvSpPr txBox="1"/>
          <p:nvPr/>
        </p:nvSpPr>
        <p:spPr>
          <a:xfrm>
            <a:off x="533400" y="3367088"/>
            <a:ext cx="1428750" cy="600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latinLnBrk="0">
              <a:lnSpc>
                <a:spcPts val="4650"/>
              </a:lnSpc>
              <a:spcBef>
                <a:spcPts val="0"/>
              </a:spcBef>
              <a:spcAft>
                <a:spcPts val="0"/>
              </a:spcAft>
            </a:pPr>
            <a:r>
              <a:rPr sz="3900" b="0" i="0" lang="ko-KR" altLang="en-US">
                <a:solidFill>
                  <a:srgbClr val="18181C"/>
                </a:solidFill>
                <a:latin typeface="Pretendard ExtraBold"/>
                <a:ea typeface="Pretendard ExtraBold"/>
                <a:cs typeface="Pretendard ExtraBold"/>
              </a:rPr>
              <a:t>68%</a:t>
            </a:r>
          </a:p>
        </p:txBody>
      </p:sp>
      <p:sp>
        <p:nvSpPr>
          <p:cNvPr id="114" name="ds 129"/>
          <p:cNvSpPr txBox="1"/>
          <p:nvPr/>
        </p:nvSpPr>
        <p:spPr>
          <a:xfrm>
            <a:off x="533400" y="4043362"/>
            <a:ext cx="1469231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응답자 100명 가운데 68명이 구매 전에 리뷰 영상을 본다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5325" y="6086475"/>
            <a:ext cx="21608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본다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237208" y="6086475"/>
            <a:ext cx="54004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보지 않는다</a:t>
            </a:r>
          </a:p>
        </p:txBody>
      </p:sp>
      <p:sp>
        <p:nvSpPr>
          <p:cNvPr id="117" name="열 제목 235"/>
          <p:cNvSpPr txBox="1"/>
          <p:nvPr/>
        </p:nvSpPr>
        <p:spPr>
          <a:xfrm>
            <a:off x="7273082" y="1600200"/>
            <a:ext cx="122773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이 도표가 말하는 것</a:t>
            </a:r>
          </a:p>
        </p:txBody>
      </p:sp>
      <p:sp>
        <p:nvSpPr>
          <p:cNvPr id="118" name="글머리표 236"/>
          <p:cNvSpPr txBox="1"/>
          <p:nvPr/>
        </p:nvSpPr>
        <p:spPr>
          <a:xfrm>
            <a:off x="7273082" y="3643312"/>
            <a:ext cx="4385518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리뷰 영상은 구매 직전 단계의 기본 확인 절차다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20대는 81%로 평균보다 13%p 높다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보지 않는 32%는 대부분 재구매 고객이다</a:t>
            </a:r>
          </a:p>
        </p:txBody>
      </p:sp>
      <p:sp>
        <p:nvSpPr>
          <p:cNvPr id="119" name="출처 237"/>
          <p:cNvSpPr txBox="1"/>
          <p:nvPr/>
        </p:nvSpPr>
        <p:spPr>
          <a:xfrm>
            <a:off x="533400" y="6324600"/>
            <a:ext cx="137137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출처: 예시 데이터, 실제 수치 아님</a:t>
            </a:r>
          </a:p>
        </p:txBody>
      </p:sp>
      <p:sp>
        <p:nvSpPr>
          <p:cNvPr id="120" name="꼬리말 239"/>
          <p:cNvSpPr txBox="1"/>
          <p:nvPr/>
        </p:nvSpPr>
        <p:spPr>
          <a:xfrm>
            <a:off x="533400" y="6600825"/>
            <a:ext cx="115375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Hankki Lab | 도표 부품 견본</a:t>
            </a:r>
          </a:p>
        </p:txBody>
      </p:sp>
      <p:sp>
        <p:nvSpPr>
          <p:cNvPr id="121" name="pg 240"/>
          <p:cNvSpPr txBox="1"/>
          <p:nvPr/>
        </p:nvSpPr>
        <p:spPr>
          <a:xfrm>
            <a:off x="11556355" y="6600825"/>
            <a:ext cx="125385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90550"/>
            <a:ext cx="11125200" cy="704850"/>
          </a:xfrm>
        </p:spPr>
        <p:txBody>
          <a:bodyPr lIns="0" rIns="0" tIns="0" bIns="0" wrap="square" anchor="t">
            <a:noAutofit/>
          </a:bodyPr>
          <a:lstStyle/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브랜드 리뷰 콘텐츠 시장 2.4조 원 가운데</a:t>
            </a:r>
          </a:p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3년 안에 확보할 시장은 96억 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376362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33400" y="1852612"/>
            <a:ext cx="53721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sp>
        <p:nvSpPr>
          <p:cNvPr id="5" name="o 8"/>
          <p:cNvSpPr/>
          <p:nvPr/>
        </p:nvSpPr>
        <p:spPr>
          <a:xfrm>
            <a:off x="1600200" y="2481262"/>
            <a:ext cx="3238500" cy="3238500"/>
          </a:xfrm>
          <a:prstGeom prst="ellipse">
            <a:avLst/>
          </a:prstGeom>
          <a:solidFill>
            <a:srgbClr val="FBE9E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o 9"/>
          <p:cNvSpPr/>
          <p:nvPr/>
        </p:nvSpPr>
        <p:spPr>
          <a:xfrm>
            <a:off x="2171700" y="3624262"/>
            <a:ext cx="2095500" cy="209550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o 10"/>
          <p:cNvSpPr/>
          <p:nvPr/>
        </p:nvSpPr>
        <p:spPr>
          <a:xfrm>
            <a:off x="2695575" y="4672012"/>
            <a:ext cx="1047750" cy="1047750"/>
          </a:xfrm>
          <a:prstGeom prst="ellipse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8" name="Connector 7"/>
          <p:cNvCxnSpPr/>
          <p:nvPr/>
        </p:nvCxnSpPr>
        <p:spPr>
          <a:xfrm>
            <a:off x="6286500" y="1852612"/>
            <a:ext cx="53721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graphicFrame>
        <p:nvGraphicFramePr>
          <p:cNvPr id="9" name="표 19"/>
          <p:cNvGraphicFramePr>
            <a:graphicFrameLocks noGrp="1"/>
          </p:cNvGraphicFramePr>
          <p:nvPr/>
        </p:nvGraphicFramePr>
        <p:xfrm>
          <a:off x="6286500" y="3312319"/>
          <a:ext cx="5372100" cy="1595438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238250"/>
                <a:gridCol w="1047750"/>
                <a:gridCol w="3086100"/>
              </a:tblGrid>
              <a:tr h="285750"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구분</a:t>
                      </a:r>
                      <a:endParaRPr sz="100"/>
                    </a:p>
                  </a:txBody>
                  <a:tcPr marT="0" marR="95250" marB="66675" marL="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8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 latinLnBrk="0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규모</a:t>
                      </a:r>
                      <a:endParaRPr sz="100"/>
                    </a:p>
                  </a:txBody>
                  <a:tcPr marT="0" marR="95250" marB="66675" marL="952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8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산정 방식</a:t>
                      </a:r>
                      <a:endParaRPr sz="100"/>
                    </a:p>
                  </a:txBody>
                  <a:tcPr marT="0" marR="95250" marB="66675" marL="952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8181C"/>
                      </a:solidFill>
                    </a:lnB>
                    <a:noFill/>
                  </a:tcPr>
                </a:tc>
              </a:tr>
              <a:tr h="438150"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전체 시장</a:t>
                      </a:r>
                      <a:endParaRPr sz="100"/>
                    </a:p>
                  </a:txBody>
                  <a:tcPr marT="104775" marR="95250" marB="104775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FCFD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232326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2.4조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FCFD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23232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뷰티 브랜드 광고비 중 콘텐츠 비중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FCFD4"/>
                      </a:solidFill>
                    </a:lnB>
                    <a:noFill/>
                  </a:tcPr>
                </a:tc>
              </a:tr>
              <a:tr h="438150"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접근 가능한 시장</a:t>
                      </a:r>
                      <a:endParaRPr sz="100"/>
                    </a:p>
                  </a:txBody>
                  <a:tcPr marT="104775" marR="95250" marB="104775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FCFD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232326"/>
                          </a:solidFill>
                          <a:latin typeface="Pretendard"/>
                          <a:ea typeface="Pretendard"/>
                          <a:cs typeface="Pretendard"/>
                        </a:rPr>
                        <a:t>3,200억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FCFD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23232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중소 브랜드 1.6만 곳 × 연 2,000만 원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FCFD4"/>
                      </a:solidFill>
                    </a:lnB>
                    <a:noFill/>
                  </a:tcPr>
                </a:tc>
              </a:tr>
              <a:tr h="433388"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확보할 시장</a:t>
                      </a:r>
                      <a:endParaRPr sz="100"/>
                    </a:p>
                  </a:txBody>
                  <a:tcPr marT="104775" marR="95250" marB="104775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D9415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96억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7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i="0" lang="ko-KR" altLang="en-US">
                          <a:solidFill>
                            <a:srgbClr val="23232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접근 가능한 시장의 3%</a:t>
                      </a:r>
                      <a:endParaRPr sz="100"/>
                    </a:p>
                  </a:txBody>
                  <a:tcPr marT="104775" marR="95250" marB="1047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10" name="Connector 9"/>
          <p:cNvCxnSpPr/>
          <p:nvPr/>
        </p:nvCxnSpPr>
        <p:spPr>
          <a:xfrm>
            <a:off x="533400" y="6538912"/>
            <a:ext cx="11125200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11" name="회사명 24"/>
          <p:cNvSpPr txBox="1"/>
          <p:nvPr/>
        </p:nvSpPr>
        <p:spPr>
          <a:xfrm>
            <a:off x="533400" y="338138"/>
            <a:ext cx="59808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Hankki Lab</a:t>
            </a:r>
          </a:p>
        </p:txBody>
      </p:sp>
      <p:sp>
        <p:nvSpPr>
          <p:cNvPr id="12" name="키커 25"/>
          <p:cNvSpPr txBox="1"/>
          <p:nvPr/>
        </p:nvSpPr>
        <p:spPr>
          <a:xfrm>
            <a:off x="10935593" y="338138"/>
            <a:ext cx="77097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시장 규모 원 p49</a:t>
            </a:r>
          </a:p>
        </p:txBody>
      </p:sp>
      <p:sp>
        <p:nvSpPr>
          <p:cNvPr id="13" name="축 제목 29"/>
          <p:cNvSpPr txBox="1"/>
          <p:nvPr/>
        </p:nvSpPr>
        <p:spPr>
          <a:xfrm>
            <a:off x="533400" y="1600200"/>
            <a:ext cx="1813274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국내 브랜드 리뷰 콘텐츠 시장</a:t>
            </a:r>
          </a:p>
        </p:txBody>
      </p:sp>
      <p:sp>
        <p:nvSpPr>
          <p:cNvPr id="14" name="u 30"/>
          <p:cNvSpPr txBox="1"/>
          <p:nvPr/>
        </p:nvSpPr>
        <p:spPr>
          <a:xfrm>
            <a:off x="5399484" y="1647825"/>
            <a:ext cx="54530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원, 2026년</a:t>
            </a:r>
          </a:p>
        </p:txBody>
      </p:sp>
      <p:sp>
        <p:nvSpPr>
          <p:cNvPr id="15" name="n 34"/>
          <p:cNvSpPr txBox="1"/>
          <p:nvPr/>
        </p:nvSpPr>
        <p:spPr>
          <a:xfrm>
            <a:off x="2980697" y="2776538"/>
            <a:ext cx="47735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전체 시장</a:t>
            </a:r>
          </a:p>
        </p:txBody>
      </p:sp>
      <p:sp>
        <p:nvSpPr>
          <p:cNvPr id="16" name="v 35"/>
          <p:cNvSpPr txBox="1"/>
          <p:nvPr/>
        </p:nvSpPr>
        <p:spPr>
          <a:xfrm>
            <a:off x="2992148" y="2938462"/>
            <a:ext cx="454604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lang="ko-KR" altLang="en-US">
                <a:solidFill>
                  <a:srgbClr val="18181C"/>
                </a:solidFill>
                <a:latin typeface="Pretendard ExtraBold"/>
                <a:ea typeface="Pretendard ExtraBold"/>
                <a:cs typeface="Pretendard ExtraBold"/>
              </a:rPr>
              <a:t>2.4조</a:t>
            </a:r>
          </a:p>
        </p:txBody>
      </p:sp>
      <p:sp>
        <p:nvSpPr>
          <p:cNvPr id="17" name="n 36"/>
          <p:cNvSpPr txBox="1"/>
          <p:nvPr/>
        </p:nvSpPr>
        <p:spPr>
          <a:xfrm>
            <a:off x="2805020" y="3919538"/>
            <a:ext cx="82871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접근 가능한 시장</a:t>
            </a:r>
          </a:p>
        </p:txBody>
      </p:sp>
      <p:sp>
        <p:nvSpPr>
          <p:cNvPr id="18" name="v 37"/>
          <p:cNvSpPr txBox="1"/>
          <p:nvPr/>
        </p:nvSpPr>
        <p:spPr>
          <a:xfrm>
            <a:off x="2873895" y="4081462"/>
            <a:ext cx="69111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lang="ko-KR" altLang="en-US">
                <a:solidFill>
                  <a:srgbClr val="18181C"/>
                </a:solidFill>
                <a:latin typeface="Pretendard ExtraBold"/>
                <a:ea typeface="Pretendard ExtraBold"/>
                <a:cs typeface="Pretendard ExtraBold"/>
              </a:rPr>
              <a:t>3,200억</a:t>
            </a:r>
          </a:p>
        </p:txBody>
      </p:sp>
      <p:sp>
        <p:nvSpPr>
          <p:cNvPr id="19" name="n 38"/>
          <p:cNvSpPr txBox="1"/>
          <p:nvPr/>
        </p:nvSpPr>
        <p:spPr>
          <a:xfrm>
            <a:off x="2927143" y="5014912"/>
            <a:ext cx="58446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확보할 시장</a:t>
            </a:r>
          </a:p>
        </p:txBody>
      </p:sp>
      <p:sp>
        <p:nvSpPr>
          <p:cNvPr id="20" name="v 39"/>
          <p:cNvSpPr txBox="1"/>
          <p:nvPr/>
        </p:nvSpPr>
        <p:spPr>
          <a:xfrm>
            <a:off x="3016297" y="5176838"/>
            <a:ext cx="406158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lang="ko-KR" altLang="en-US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>96억</a:t>
            </a:r>
          </a:p>
        </p:txBody>
      </p:sp>
      <p:sp>
        <p:nvSpPr>
          <p:cNvPr id="21" name="열 제목 41"/>
          <p:cNvSpPr txBox="1"/>
          <p:nvPr/>
        </p:nvSpPr>
        <p:spPr>
          <a:xfrm>
            <a:off x="6286500" y="1600200"/>
            <a:ext cx="60458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산정 근거</a:t>
            </a:r>
          </a:p>
        </p:txBody>
      </p:sp>
      <p:sp>
        <p:nvSpPr>
          <p:cNvPr id="22" name="출처 43"/>
          <p:cNvSpPr txBox="1"/>
          <p:nvPr/>
        </p:nvSpPr>
        <p:spPr>
          <a:xfrm>
            <a:off x="533400" y="6324600"/>
            <a:ext cx="2400979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출처: 예시 데이터, 실제 수치 아님. 원의 크기는 축척이 아님</a:t>
            </a:r>
          </a:p>
        </p:txBody>
      </p:sp>
      <p:sp>
        <p:nvSpPr>
          <p:cNvPr id="23" name="꼬리말 45"/>
          <p:cNvSpPr txBox="1"/>
          <p:nvPr/>
        </p:nvSpPr>
        <p:spPr>
          <a:xfrm>
            <a:off x="533400" y="6600825"/>
            <a:ext cx="115375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Hankki Lab | 도표 부품 견본</a:t>
            </a:r>
          </a:p>
        </p:txBody>
      </p:sp>
      <p:sp>
        <p:nvSpPr>
          <p:cNvPr id="24" name="pg 46"/>
          <p:cNvSpPr txBox="1"/>
          <p:nvPr/>
        </p:nvSpPr>
        <p:spPr>
          <a:xfrm>
            <a:off x="11555313" y="6600825"/>
            <a:ext cx="126468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90550"/>
            <a:ext cx="11125200" cy="704850"/>
          </a:xfrm>
        </p:spPr>
        <p:txBody>
          <a:bodyPr lIns="0" rIns="0" tIns="0" bIns="0" wrap="square" anchor="t">
            <a:noAutofit/>
          </a:bodyPr>
          <a:lstStyle/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연 매출은 3년간 연평균 59% 성장,</a:t>
            </a:r>
          </a:p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2027년 105억 원 전망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376362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33400" y="1852612"/>
            <a:ext cx="63586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23900" y="2081212"/>
            <a:ext cx="3896171" cy="0"/>
          </a:xfrm>
          <a:prstGeom prst="line">
            <a:avLst/>
          </a:prstGeom>
          <a:ln w="9525">
            <a:solidFill>
              <a:srgbClr val="6B6B73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615309" y="2076450"/>
            <a:ext cx="0" cy="76200"/>
          </a:xfrm>
          <a:prstGeom prst="line">
            <a:avLst/>
          </a:prstGeom>
          <a:ln w="9525">
            <a:solidFill>
              <a:srgbClr val="6B6B73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728662" y="2076450"/>
            <a:ext cx="0" cy="76200"/>
          </a:xfrm>
          <a:prstGeom prst="line">
            <a:avLst/>
          </a:prstGeom>
          <a:ln w="9525">
            <a:solidFill>
              <a:srgbClr val="6B6B73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4886771" y="2081212"/>
            <a:ext cx="1814811" cy="0"/>
          </a:xfrm>
          <a:prstGeom prst="line">
            <a:avLst/>
          </a:prstGeom>
          <a:ln w="9525">
            <a:solidFill>
              <a:srgbClr val="6B6B73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6696819" y="2076450"/>
            <a:ext cx="0" cy="76200"/>
          </a:xfrm>
          <a:prstGeom prst="line">
            <a:avLst/>
          </a:prstGeom>
          <a:ln w="9525">
            <a:solidFill>
              <a:srgbClr val="6B6B73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4891534" y="2076450"/>
            <a:ext cx="0" cy="76200"/>
          </a:xfrm>
          <a:prstGeom prst="line">
            <a:avLst/>
          </a:prstGeom>
          <a:ln w="9525">
            <a:solidFill>
              <a:srgbClr val="6B6B73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533400" y="5748338"/>
            <a:ext cx="63586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sp>
        <p:nvSpPr>
          <p:cNvPr id="12" name="막대 18"/>
          <p:cNvSpPr/>
          <p:nvPr/>
        </p:nvSpPr>
        <p:spPr>
          <a:xfrm>
            <a:off x="723900" y="5395912"/>
            <a:ext cx="773906" cy="347662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막대 20"/>
          <p:cNvSpPr/>
          <p:nvPr/>
        </p:nvSpPr>
        <p:spPr>
          <a:xfrm>
            <a:off x="1764506" y="5187404"/>
            <a:ext cx="774055" cy="556171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막대 22"/>
          <p:cNvSpPr/>
          <p:nvPr/>
        </p:nvSpPr>
        <p:spPr>
          <a:xfrm>
            <a:off x="2805261" y="4839742"/>
            <a:ext cx="774055" cy="903833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막대 24"/>
          <p:cNvSpPr/>
          <p:nvPr/>
        </p:nvSpPr>
        <p:spPr>
          <a:xfrm>
            <a:off x="3846016" y="4352925"/>
            <a:ext cx="774055" cy="1390650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막대 26"/>
          <p:cNvSpPr/>
          <p:nvPr/>
        </p:nvSpPr>
        <p:spPr>
          <a:xfrm>
            <a:off x="4886771" y="3657600"/>
            <a:ext cx="774055" cy="2085975"/>
          </a:xfrm>
          <a:prstGeom prst="rect">
            <a:avLst/>
          </a:prstGeom>
          <a:solidFill>
            <a:srgbClr val="FBE9ED"/>
          </a:solidFill>
          <a:ln w="9525">
            <a:solidFill>
              <a:srgbClr val="D9415F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17" name="막대 28"/>
          <p:cNvSpPr/>
          <p:nvPr/>
        </p:nvSpPr>
        <p:spPr>
          <a:xfrm>
            <a:off x="5927527" y="2684264"/>
            <a:ext cx="774055" cy="3059311"/>
          </a:xfrm>
          <a:prstGeom prst="rect">
            <a:avLst/>
          </a:prstGeom>
          <a:solidFill>
            <a:srgbClr val="FBE9ED"/>
          </a:solidFill>
          <a:ln w="9525">
            <a:solidFill>
              <a:srgbClr val="D9415F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18" name="c 36"/>
          <p:cNvSpPr/>
          <p:nvPr/>
        </p:nvSpPr>
        <p:spPr>
          <a:xfrm>
            <a:off x="533400" y="6100762"/>
            <a:ext cx="104775" cy="104775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fc 38"/>
          <p:cNvSpPr/>
          <p:nvPr/>
        </p:nvSpPr>
        <p:spPr>
          <a:xfrm>
            <a:off x="1075283" y="6100762"/>
            <a:ext cx="104775" cy="104775"/>
          </a:xfrm>
          <a:prstGeom prst="rect">
            <a:avLst/>
          </a:prstGeom>
          <a:solidFill>
            <a:srgbClr val="FBE9ED"/>
          </a:solidFill>
          <a:ln w="9525">
            <a:solidFill>
              <a:srgbClr val="D9415F"/>
            </a:solidFill>
            <a:prstDash val="dash"/>
          </a:ln>
        </p:spPr>
        <p:txBody>
          <a:bodyPr rtlCol="0" anchor="ctr"/>
          <a:lstStyle/>
          <a:p/>
        </p:txBody>
      </p:sp>
      <p:cxnSp>
        <p:nvCxnSpPr>
          <p:cNvPr id="20" name="Connector 19"/>
          <p:cNvCxnSpPr/>
          <p:nvPr/>
        </p:nvCxnSpPr>
        <p:spPr>
          <a:xfrm>
            <a:off x="7273082" y="1852612"/>
            <a:ext cx="4385518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533400" y="6538912"/>
            <a:ext cx="11125200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22" name="회사명 46"/>
          <p:cNvSpPr txBox="1"/>
          <p:nvPr/>
        </p:nvSpPr>
        <p:spPr>
          <a:xfrm>
            <a:off x="533400" y="338138"/>
            <a:ext cx="59808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Hankki Lab</a:t>
            </a:r>
          </a:p>
        </p:txBody>
      </p:sp>
      <p:sp>
        <p:nvSpPr>
          <p:cNvPr id="23" name="키커 47"/>
          <p:cNvSpPr txBox="1"/>
          <p:nvPr/>
        </p:nvSpPr>
        <p:spPr>
          <a:xfrm>
            <a:off x="10551319" y="338138"/>
            <a:ext cx="1170622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성장률 표시 세로 막대 p50</a:t>
            </a:r>
          </a:p>
        </p:txBody>
      </p:sp>
      <p:sp>
        <p:nvSpPr>
          <p:cNvPr id="24" name="축 제목 51"/>
          <p:cNvSpPr txBox="1"/>
          <p:nvPr/>
        </p:nvSpPr>
        <p:spPr>
          <a:xfrm>
            <a:off x="533400" y="1600200"/>
            <a:ext cx="46760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연 매출</a:t>
            </a:r>
          </a:p>
        </p:txBody>
      </p:sp>
      <p:sp>
        <p:nvSpPr>
          <p:cNvPr id="25" name="u 52"/>
          <p:cNvSpPr txBox="1"/>
          <p:nvPr/>
        </p:nvSpPr>
        <p:spPr>
          <a:xfrm>
            <a:off x="5083373" y="1647825"/>
            <a:ext cx="190010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억 원, 2022~2027년 (2026년부터 전망)</a:t>
            </a:r>
          </a:p>
        </p:txBody>
      </p:sp>
      <p:sp>
        <p:nvSpPr>
          <p:cNvPr id="26" name="cagr 53"/>
          <p:cNvSpPr txBox="1"/>
          <p:nvPr/>
        </p:nvSpPr>
        <p:spPr>
          <a:xfrm>
            <a:off x="1962745" y="1866900"/>
            <a:ext cx="149411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2022~2025년 연평균 </a:t>
            </a:r>
            <a:r>
              <a:rPr sz="975" b="0" i="0" lang="ko-KR" altLang="en-US">
                <a:solidFill>
                  <a:srgbClr val="D9415F"/>
                </a:solidFill>
                <a:latin typeface="Pretendard SemiBold"/>
                <a:ea typeface="Pretendard SemiBold"/>
                <a:cs typeface="Pretendard SemiBold"/>
              </a:rPr>
              <a:t>59%</a:t>
            </a:r>
          </a:p>
        </p:txBody>
      </p:sp>
      <p:sp>
        <p:nvSpPr>
          <p:cNvPr id="27" name="cagr 57"/>
          <p:cNvSpPr txBox="1"/>
          <p:nvPr/>
        </p:nvSpPr>
        <p:spPr>
          <a:xfrm>
            <a:off x="5085457" y="1866900"/>
            <a:ext cx="149303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2025~2027년 연평균 </a:t>
            </a:r>
            <a:r>
              <a:rPr sz="975" b="0" i="0" lang="ko-KR" altLang="en-US">
                <a:solidFill>
                  <a:srgbClr val="D9415F"/>
                </a:solidFill>
                <a:latin typeface="Pretendard SemiBold"/>
                <a:ea typeface="Pretendard SemiBold"/>
                <a:cs typeface="Pretendard SemiBold"/>
              </a:rPr>
              <a:t>48%</a:t>
            </a:r>
          </a:p>
        </p:txBody>
      </p:sp>
      <p:sp>
        <p:nvSpPr>
          <p:cNvPr id="28" name="단계 62"/>
          <p:cNvSpPr txBox="1"/>
          <p:nvPr/>
        </p:nvSpPr>
        <p:spPr>
          <a:xfrm>
            <a:off x="1040011" y="5176838"/>
            <a:ext cx="16640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12</a:t>
            </a:r>
          </a:p>
        </p:txBody>
      </p:sp>
      <p:sp>
        <p:nvSpPr>
          <p:cNvPr id="29" name="단계 64"/>
          <p:cNvSpPr txBox="1"/>
          <p:nvPr/>
        </p:nvSpPr>
        <p:spPr>
          <a:xfrm>
            <a:off x="2078682" y="4968329"/>
            <a:ext cx="170581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19</a:t>
            </a:r>
          </a:p>
        </p:txBody>
      </p:sp>
      <p:sp>
        <p:nvSpPr>
          <p:cNvPr id="30" name="단계 66"/>
          <p:cNvSpPr txBox="1"/>
          <p:nvPr/>
        </p:nvSpPr>
        <p:spPr>
          <a:xfrm>
            <a:off x="3119438" y="4620667"/>
            <a:ext cx="170426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31</a:t>
            </a:r>
          </a:p>
        </p:txBody>
      </p:sp>
      <p:sp>
        <p:nvSpPr>
          <p:cNvPr id="31" name="단계 68"/>
          <p:cNvSpPr txBox="1"/>
          <p:nvPr/>
        </p:nvSpPr>
        <p:spPr>
          <a:xfrm>
            <a:off x="4147840" y="4133850"/>
            <a:ext cx="19612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D9415F"/>
                </a:solidFill>
                <a:latin typeface="Pretendard SemiBold"/>
                <a:ea typeface="Pretendard SemiBold"/>
                <a:cs typeface="Pretendard SemiBold"/>
              </a:rPr>
              <a:t>48</a:t>
            </a:r>
          </a:p>
        </p:txBody>
      </p:sp>
      <p:sp>
        <p:nvSpPr>
          <p:cNvPr id="32" name="단계 70"/>
          <p:cNvSpPr txBox="1"/>
          <p:nvPr/>
        </p:nvSpPr>
        <p:spPr>
          <a:xfrm>
            <a:off x="5195739" y="3438525"/>
            <a:ext cx="181416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72</a:t>
            </a:r>
          </a:p>
        </p:txBody>
      </p:sp>
      <p:sp>
        <p:nvSpPr>
          <p:cNvPr id="33" name="단계 72"/>
          <p:cNvSpPr txBox="1"/>
          <p:nvPr/>
        </p:nvSpPr>
        <p:spPr>
          <a:xfrm>
            <a:off x="6200180" y="2465189"/>
            <a:ext cx="25694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105</a:t>
            </a:r>
          </a:p>
        </p:txBody>
      </p:sp>
      <p:sp>
        <p:nvSpPr>
          <p:cNvPr id="34" name="xs 74"/>
          <p:cNvSpPr txBox="1"/>
          <p:nvPr/>
        </p:nvSpPr>
        <p:spPr>
          <a:xfrm>
            <a:off x="955369" y="5829300"/>
            <a:ext cx="31096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2022</a:t>
            </a:r>
          </a:p>
        </p:txBody>
      </p:sp>
      <p:sp>
        <p:nvSpPr>
          <p:cNvPr id="35" name="xs 75"/>
          <p:cNvSpPr txBox="1"/>
          <p:nvPr/>
        </p:nvSpPr>
        <p:spPr>
          <a:xfrm>
            <a:off x="1994118" y="5829300"/>
            <a:ext cx="31468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2023</a:t>
            </a:r>
          </a:p>
        </p:txBody>
      </p:sp>
      <p:sp>
        <p:nvSpPr>
          <p:cNvPr id="36" name="xs 76"/>
          <p:cNvSpPr txBox="1"/>
          <p:nvPr/>
        </p:nvSpPr>
        <p:spPr>
          <a:xfrm>
            <a:off x="3035490" y="5829300"/>
            <a:ext cx="31359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2024</a:t>
            </a:r>
          </a:p>
        </p:txBody>
      </p:sp>
      <p:sp>
        <p:nvSpPr>
          <p:cNvPr id="37" name="xs 77"/>
          <p:cNvSpPr txBox="1"/>
          <p:nvPr/>
        </p:nvSpPr>
        <p:spPr>
          <a:xfrm>
            <a:off x="4077018" y="5829300"/>
            <a:ext cx="31205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2025</a:t>
            </a:r>
          </a:p>
        </p:txBody>
      </p:sp>
      <p:sp>
        <p:nvSpPr>
          <p:cNvPr id="38" name="xs 78"/>
          <p:cNvSpPr txBox="1"/>
          <p:nvPr/>
        </p:nvSpPr>
        <p:spPr>
          <a:xfrm>
            <a:off x="5081555" y="5829300"/>
            <a:ext cx="38448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2026E</a:t>
            </a:r>
          </a:p>
        </p:txBody>
      </p:sp>
      <p:sp>
        <p:nvSpPr>
          <p:cNvPr id="39" name="xs 79"/>
          <p:cNvSpPr txBox="1"/>
          <p:nvPr/>
        </p:nvSpPr>
        <p:spPr>
          <a:xfrm>
            <a:off x="6126179" y="5829300"/>
            <a:ext cx="37674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2027E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5325" y="6086475"/>
            <a:ext cx="21608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실적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7208" y="6086475"/>
            <a:ext cx="21608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전망</a:t>
            </a:r>
          </a:p>
        </p:txBody>
      </p:sp>
      <p:sp>
        <p:nvSpPr>
          <p:cNvPr id="42" name="열 제목 85"/>
          <p:cNvSpPr txBox="1"/>
          <p:nvPr/>
        </p:nvSpPr>
        <p:spPr>
          <a:xfrm>
            <a:off x="7273082" y="1600200"/>
            <a:ext cx="122773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이 도표가 말하는 것</a:t>
            </a:r>
          </a:p>
        </p:txBody>
      </p:sp>
      <p:sp>
        <p:nvSpPr>
          <p:cNvPr id="43" name="글머리표 86"/>
          <p:cNvSpPr txBox="1"/>
          <p:nvPr/>
        </p:nvSpPr>
        <p:spPr>
          <a:xfrm>
            <a:off x="7273082" y="3643312"/>
            <a:ext cx="4385518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2025년 매출 48억 원은 3년 전인 2022년의 4배다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전망 구간의 성장률 48%는 실적 구간보다 낮게 잡았다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2027년 105억 원은 계약 갱신율 85%를 가정했다</a:t>
            </a:r>
          </a:p>
        </p:txBody>
      </p:sp>
      <p:sp>
        <p:nvSpPr>
          <p:cNvPr id="44" name="출처 87"/>
          <p:cNvSpPr txBox="1"/>
          <p:nvPr/>
        </p:nvSpPr>
        <p:spPr>
          <a:xfrm>
            <a:off x="533400" y="6324600"/>
            <a:ext cx="137137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출처: 예시 데이터, 실제 수치 아님</a:t>
            </a:r>
          </a:p>
        </p:txBody>
      </p:sp>
      <p:sp>
        <p:nvSpPr>
          <p:cNvPr id="45" name="꼬리말 89"/>
          <p:cNvSpPr txBox="1"/>
          <p:nvPr/>
        </p:nvSpPr>
        <p:spPr>
          <a:xfrm>
            <a:off x="533400" y="6600825"/>
            <a:ext cx="115375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Hankki Lab | 도표 부품 견본</a:t>
            </a:r>
          </a:p>
        </p:txBody>
      </p:sp>
      <p:sp>
        <p:nvSpPr>
          <p:cNvPr id="46" name="pg 90"/>
          <p:cNvSpPr txBox="1"/>
          <p:nvPr/>
        </p:nvSpPr>
        <p:spPr>
          <a:xfrm>
            <a:off x="11558141" y="6600825"/>
            <a:ext cx="123527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90550"/>
            <a:ext cx="11125200" cy="704850"/>
          </a:xfrm>
        </p:spPr>
        <p:txBody>
          <a:bodyPr lIns="0" rIns="0" tIns="0" bIns="0" wrap="square" anchor="t">
            <a:noAutofit/>
          </a:bodyPr>
          <a:lstStyle/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인스타그램 유입은 4분기 만에 2.6배 증가,</a:t>
            </a:r>
          </a:p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유튜브와 검색은 제자리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376362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33400" y="1852612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533400" y="5357812"/>
            <a:ext cx="3454301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sp>
        <p:nvSpPr>
          <p:cNvPr id="6" name="막대 11"/>
          <p:cNvSpPr/>
          <p:nvPr/>
        </p:nvSpPr>
        <p:spPr>
          <a:xfrm>
            <a:off x="686544" y="4532709"/>
            <a:ext cx="571500" cy="820341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막대 13"/>
          <p:cNvSpPr/>
          <p:nvPr/>
        </p:nvSpPr>
        <p:spPr>
          <a:xfrm>
            <a:off x="1545282" y="4198441"/>
            <a:ext cx="571500" cy="1154609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막대 15"/>
          <p:cNvSpPr/>
          <p:nvPr/>
        </p:nvSpPr>
        <p:spPr>
          <a:xfrm>
            <a:off x="2404170" y="3773091"/>
            <a:ext cx="571500" cy="1579959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막대 17"/>
          <p:cNvSpPr/>
          <p:nvPr/>
        </p:nvSpPr>
        <p:spPr>
          <a:xfrm>
            <a:off x="3262908" y="3226147"/>
            <a:ext cx="571500" cy="2126903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0" name="Connector 9"/>
          <p:cNvCxnSpPr/>
          <p:nvPr/>
        </p:nvCxnSpPr>
        <p:spPr>
          <a:xfrm>
            <a:off x="533400" y="5700712"/>
            <a:ext cx="3454301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4368701" y="5357812"/>
            <a:ext cx="3454449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sp>
        <p:nvSpPr>
          <p:cNvPr id="12" name="막대 27"/>
          <p:cNvSpPr/>
          <p:nvPr/>
        </p:nvSpPr>
        <p:spPr>
          <a:xfrm>
            <a:off x="4521845" y="4654302"/>
            <a:ext cx="571500" cy="698748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막대 29"/>
          <p:cNvSpPr/>
          <p:nvPr/>
        </p:nvSpPr>
        <p:spPr>
          <a:xfrm>
            <a:off x="5380583" y="4532709"/>
            <a:ext cx="571500" cy="820341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막대 31"/>
          <p:cNvSpPr/>
          <p:nvPr/>
        </p:nvSpPr>
        <p:spPr>
          <a:xfrm>
            <a:off x="6239470" y="4471988"/>
            <a:ext cx="571500" cy="881062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막대 33"/>
          <p:cNvSpPr/>
          <p:nvPr/>
        </p:nvSpPr>
        <p:spPr>
          <a:xfrm>
            <a:off x="7098357" y="4320034"/>
            <a:ext cx="571500" cy="1033016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6" name="Connector 15"/>
          <p:cNvCxnSpPr/>
          <p:nvPr/>
        </p:nvCxnSpPr>
        <p:spPr>
          <a:xfrm>
            <a:off x="4368701" y="5700712"/>
            <a:ext cx="3454449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8204150" y="5357812"/>
            <a:ext cx="3454301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sp>
        <p:nvSpPr>
          <p:cNvPr id="18" name="막대 43"/>
          <p:cNvSpPr/>
          <p:nvPr/>
        </p:nvSpPr>
        <p:spPr>
          <a:xfrm>
            <a:off x="8357295" y="5018931"/>
            <a:ext cx="571500" cy="334119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막대 45"/>
          <p:cNvSpPr/>
          <p:nvPr/>
        </p:nvSpPr>
        <p:spPr>
          <a:xfrm>
            <a:off x="9216033" y="4927699"/>
            <a:ext cx="571500" cy="425351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막대 47"/>
          <p:cNvSpPr/>
          <p:nvPr/>
        </p:nvSpPr>
        <p:spPr>
          <a:xfrm>
            <a:off x="10074920" y="4927699"/>
            <a:ext cx="571500" cy="425351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막대 49"/>
          <p:cNvSpPr/>
          <p:nvPr/>
        </p:nvSpPr>
        <p:spPr>
          <a:xfrm>
            <a:off x="10933658" y="4866977"/>
            <a:ext cx="571500" cy="486073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2" name="Connector 21"/>
          <p:cNvCxnSpPr/>
          <p:nvPr/>
        </p:nvCxnSpPr>
        <p:spPr>
          <a:xfrm>
            <a:off x="8204150" y="5700712"/>
            <a:ext cx="3454301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33400" y="6538912"/>
            <a:ext cx="11125200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24" name="회사명 60"/>
          <p:cNvSpPr txBox="1"/>
          <p:nvPr/>
        </p:nvSpPr>
        <p:spPr>
          <a:xfrm>
            <a:off x="533400" y="338138"/>
            <a:ext cx="59808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Hankki Lab</a:t>
            </a:r>
          </a:p>
        </p:txBody>
      </p:sp>
      <p:sp>
        <p:nvSpPr>
          <p:cNvPr id="25" name="키커 61"/>
          <p:cNvSpPr txBox="1"/>
          <p:nvPr/>
        </p:nvSpPr>
        <p:spPr>
          <a:xfrm>
            <a:off x="10866239" y="338138"/>
            <a:ext cx="843105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소형 도표 나열 p51</a:t>
            </a:r>
          </a:p>
        </p:txBody>
      </p:sp>
      <p:sp>
        <p:nvSpPr>
          <p:cNvPr id="26" name="축 제목 65"/>
          <p:cNvSpPr txBox="1"/>
          <p:nvPr/>
        </p:nvSpPr>
        <p:spPr>
          <a:xfrm>
            <a:off x="533400" y="1600200"/>
            <a:ext cx="136471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채널별 분기 신규 고객</a:t>
            </a:r>
          </a:p>
        </p:txBody>
      </p:sp>
      <p:sp>
        <p:nvSpPr>
          <p:cNvPr id="27" name="u 66"/>
          <p:cNvSpPr txBox="1"/>
          <p:nvPr/>
        </p:nvSpPr>
        <p:spPr>
          <a:xfrm>
            <a:off x="8882955" y="1647825"/>
            <a:ext cx="290572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천 명, 2025년 4분기~2026년 3분기 (세 도표의 축 범위가 같다)</a:t>
            </a:r>
          </a:p>
        </p:txBody>
      </p:sp>
      <p:sp>
        <p:nvSpPr>
          <p:cNvPr id="28" name="위치 점 67"/>
          <p:cNvSpPr txBox="1"/>
          <p:nvPr/>
        </p:nvSpPr>
        <p:spPr>
          <a:xfrm>
            <a:off x="533400" y="2057400"/>
            <a:ext cx="70395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인스타그램</a:t>
            </a:r>
          </a:p>
        </p:txBody>
      </p:sp>
      <p:sp>
        <p:nvSpPr>
          <p:cNvPr id="29" name="단계 69"/>
          <p:cNvSpPr txBox="1"/>
          <p:nvPr/>
        </p:nvSpPr>
        <p:spPr>
          <a:xfrm>
            <a:off x="901452" y="4313634"/>
            <a:ext cx="16640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12</a:t>
            </a:r>
          </a:p>
        </p:txBody>
      </p:sp>
      <p:sp>
        <p:nvSpPr>
          <p:cNvPr id="30" name="단계 71"/>
          <p:cNvSpPr txBox="1"/>
          <p:nvPr/>
        </p:nvSpPr>
        <p:spPr>
          <a:xfrm>
            <a:off x="1762571" y="3979366"/>
            <a:ext cx="16144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17</a:t>
            </a:r>
          </a:p>
        </p:txBody>
      </p:sp>
      <p:sp>
        <p:nvSpPr>
          <p:cNvPr id="31" name="단계 73"/>
          <p:cNvSpPr txBox="1"/>
          <p:nvPr/>
        </p:nvSpPr>
        <p:spPr>
          <a:xfrm>
            <a:off x="2607618" y="3554016"/>
            <a:ext cx="19023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23</a:t>
            </a:r>
          </a:p>
        </p:txBody>
      </p:sp>
      <p:sp>
        <p:nvSpPr>
          <p:cNvPr id="32" name="단계 75"/>
          <p:cNvSpPr txBox="1"/>
          <p:nvPr/>
        </p:nvSpPr>
        <p:spPr>
          <a:xfrm>
            <a:off x="3475881" y="3007072"/>
            <a:ext cx="170426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D9415F"/>
                </a:solidFill>
                <a:latin typeface="Pretendard SemiBold"/>
                <a:ea typeface="Pretendard SemiBold"/>
                <a:cs typeface="Pretendard SemiBold"/>
              </a:rPr>
              <a:t>31</a:t>
            </a:r>
          </a:p>
        </p:txBody>
      </p:sp>
      <p:sp>
        <p:nvSpPr>
          <p:cNvPr id="33" name="xs 77"/>
          <p:cNvSpPr txBox="1"/>
          <p:nvPr/>
        </p:nvSpPr>
        <p:spPr>
          <a:xfrm>
            <a:off x="791736" y="5429250"/>
            <a:ext cx="36111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25.4Q</a:t>
            </a:r>
          </a:p>
        </p:txBody>
      </p:sp>
      <p:sp>
        <p:nvSpPr>
          <p:cNvPr id="34" name="xs 78"/>
          <p:cNvSpPr txBox="1"/>
          <p:nvPr/>
        </p:nvSpPr>
        <p:spPr>
          <a:xfrm>
            <a:off x="1666571" y="5429250"/>
            <a:ext cx="32892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26.1Q</a:t>
            </a:r>
          </a:p>
        </p:txBody>
      </p:sp>
      <p:sp>
        <p:nvSpPr>
          <p:cNvPr id="35" name="xs 79"/>
          <p:cNvSpPr txBox="1"/>
          <p:nvPr/>
        </p:nvSpPr>
        <p:spPr>
          <a:xfrm>
            <a:off x="2511064" y="5429250"/>
            <a:ext cx="35771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26.2Q</a:t>
            </a:r>
          </a:p>
        </p:txBody>
      </p:sp>
      <p:sp>
        <p:nvSpPr>
          <p:cNvPr id="36" name="xs 80"/>
          <p:cNvSpPr txBox="1"/>
          <p:nvPr/>
        </p:nvSpPr>
        <p:spPr>
          <a:xfrm>
            <a:off x="3369644" y="5429250"/>
            <a:ext cx="35817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26.3Q</a:t>
            </a:r>
          </a:p>
        </p:txBody>
      </p:sp>
      <p:sp>
        <p:nvSpPr>
          <p:cNvPr id="37" name="rd 82"/>
          <p:cNvSpPr txBox="1"/>
          <p:nvPr/>
        </p:nvSpPr>
        <p:spPr>
          <a:xfrm>
            <a:off x="533400" y="5819775"/>
            <a:ext cx="2193262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12천 명에서 31천 명으로 2.6배 늘었다</a:t>
            </a:r>
          </a:p>
        </p:txBody>
      </p:sp>
      <p:sp>
        <p:nvSpPr>
          <p:cNvPr id="38" name="위치 점 83"/>
          <p:cNvSpPr txBox="1"/>
          <p:nvPr/>
        </p:nvSpPr>
        <p:spPr>
          <a:xfrm>
            <a:off x="4368701" y="2057400"/>
            <a:ext cx="429994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유튜브</a:t>
            </a:r>
          </a:p>
        </p:txBody>
      </p:sp>
      <p:sp>
        <p:nvSpPr>
          <p:cNvPr id="39" name="단계 85"/>
          <p:cNvSpPr txBox="1"/>
          <p:nvPr/>
        </p:nvSpPr>
        <p:spPr>
          <a:xfrm>
            <a:off x="4734371" y="4435227"/>
            <a:ext cx="17135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10</a:t>
            </a:r>
          </a:p>
        </p:txBody>
      </p:sp>
      <p:sp>
        <p:nvSpPr>
          <p:cNvPr id="40" name="단계 87"/>
          <p:cNvSpPr txBox="1"/>
          <p:nvPr/>
        </p:nvSpPr>
        <p:spPr>
          <a:xfrm>
            <a:off x="5595491" y="4313634"/>
            <a:ext cx="16640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12</a:t>
            </a:r>
          </a:p>
        </p:txBody>
      </p:sp>
      <p:sp>
        <p:nvSpPr>
          <p:cNvPr id="41" name="단계 89"/>
          <p:cNvSpPr txBox="1"/>
          <p:nvPr/>
        </p:nvSpPr>
        <p:spPr>
          <a:xfrm>
            <a:off x="6452443" y="4252912"/>
            <a:ext cx="170426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13</a:t>
            </a:r>
          </a:p>
        </p:txBody>
      </p:sp>
      <p:sp>
        <p:nvSpPr>
          <p:cNvPr id="42" name="단계 91"/>
          <p:cNvSpPr txBox="1"/>
          <p:nvPr/>
        </p:nvSpPr>
        <p:spPr>
          <a:xfrm>
            <a:off x="7312372" y="4100959"/>
            <a:ext cx="16841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15</a:t>
            </a:r>
          </a:p>
        </p:txBody>
      </p:sp>
      <p:sp>
        <p:nvSpPr>
          <p:cNvPr id="43" name="xs 93"/>
          <p:cNvSpPr txBox="1"/>
          <p:nvPr/>
        </p:nvSpPr>
        <p:spPr>
          <a:xfrm>
            <a:off x="4627037" y="5429250"/>
            <a:ext cx="36111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25.4Q</a:t>
            </a:r>
          </a:p>
        </p:txBody>
      </p:sp>
      <p:sp>
        <p:nvSpPr>
          <p:cNvPr id="44" name="xs 94"/>
          <p:cNvSpPr txBox="1"/>
          <p:nvPr/>
        </p:nvSpPr>
        <p:spPr>
          <a:xfrm>
            <a:off x="5501872" y="5429250"/>
            <a:ext cx="32892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26.1Q</a:t>
            </a:r>
          </a:p>
        </p:txBody>
      </p:sp>
      <p:sp>
        <p:nvSpPr>
          <p:cNvPr id="45" name="xs 95"/>
          <p:cNvSpPr txBox="1"/>
          <p:nvPr/>
        </p:nvSpPr>
        <p:spPr>
          <a:xfrm>
            <a:off x="6346365" y="5429250"/>
            <a:ext cx="35771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26.2Q</a:t>
            </a:r>
          </a:p>
        </p:txBody>
      </p:sp>
      <p:sp>
        <p:nvSpPr>
          <p:cNvPr id="46" name="xs 96"/>
          <p:cNvSpPr txBox="1"/>
          <p:nvPr/>
        </p:nvSpPr>
        <p:spPr>
          <a:xfrm>
            <a:off x="7205094" y="5429250"/>
            <a:ext cx="35817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26.3Q</a:t>
            </a:r>
          </a:p>
        </p:txBody>
      </p:sp>
      <p:sp>
        <p:nvSpPr>
          <p:cNvPr id="47" name="rd 98"/>
          <p:cNvSpPr txBox="1"/>
          <p:nvPr/>
        </p:nvSpPr>
        <p:spPr>
          <a:xfrm>
            <a:off x="4368701" y="5819775"/>
            <a:ext cx="1990344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1.5배 늘었지만 증가 폭이 줄고 있다</a:t>
            </a:r>
          </a:p>
        </p:txBody>
      </p:sp>
      <p:sp>
        <p:nvSpPr>
          <p:cNvPr id="48" name="위치 점 99"/>
          <p:cNvSpPr txBox="1"/>
          <p:nvPr/>
        </p:nvSpPr>
        <p:spPr>
          <a:xfrm>
            <a:off x="8204150" y="2057400"/>
            <a:ext cx="293013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검색</a:t>
            </a:r>
          </a:p>
        </p:txBody>
      </p:sp>
      <p:sp>
        <p:nvSpPr>
          <p:cNvPr id="49" name="단계 101"/>
          <p:cNvSpPr txBox="1"/>
          <p:nvPr/>
        </p:nvSpPr>
        <p:spPr>
          <a:xfrm>
            <a:off x="8601819" y="4799856"/>
            <a:ext cx="10464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5</a:t>
            </a:r>
          </a:p>
        </p:txBody>
      </p:sp>
      <p:sp>
        <p:nvSpPr>
          <p:cNvPr id="50" name="단계 103"/>
          <p:cNvSpPr txBox="1"/>
          <p:nvPr/>
        </p:nvSpPr>
        <p:spPr>
          <a:xfrm>
            <a:off x="9459664" y="4708624"/>
            <a:ext cx="106811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6</a:t>
            </a:r>
          </a:p>
        </p:txBody>
      </p:sp>
      <p:sp>
        <p:nvSpPr>
          <p:cNvPr id="51" name="단계 105"/>
          <p:cNvSpPr txBox="1"/>
          <p:nvPr/>
        </p:nvSpPr>
        <p:spPr>
          <a:xfrm>
            <a:off x="10318403" y="4708624"/>
            <a:ext cx="106811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6</a:t>
            </a:r>
          </a:p>
        </p:txBody>
      </p:sp>
      <p:sp>
        <p:nvSpPr>
          <p:cNvPr id="52" name="단계 107"/>
          <p:cNvSpPr txBox="1"/>
          <p:nvPr/>
        </p:nvSpPr>
        <p:spPr>
          <a:xfrm>
            <a:off x="11181606" y="4647902"/>
            <a:ext cx="9783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7</a:t>
            </a:r>
          </a:p>
        </p:txBody>
      </p:sp>
      <p:sp>
        <p:nvSpPr>
          <p:cNvPr id="53" name="xs 109"/>
          <p:cNvSpPr txBox="1"/>
          <p:nvPr/>
        </p:nvSpPr>
        <p:spPr>
          <a:xfrm>
            <a:off x="8462486" y="5429250"/>
            <a:ext cx="36111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25.4Q</a:t>
            </a:r>
          </a:p>
        </p:txBody>
      </p:sp>
      <p:sp>
        <p:nvSpPr>
          <p:cNvPr id="54" name="xs 110"/>
          <p:cNvSpPr txBox="1"/>
          <p:nvPr/>
        </p:nvSpPr>
        <p:spPr>
          <a:xfrm>
            <a:off x="9337322" y="5429250"/>
            <a:ext cx="32892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26.1Q</a:t>
            </a:r>
          </a:p>
        </p:txBody>
      </p:sp>
      <p:sp>
        <p:nvSpPr>
          <p:cNvPr id="55" name="xs 111"/>
          <p:cNvSpPr txBox="1"/>
          <p:nvPr/>
        </p:nvSpPr>
        <p:spPr>
          <a:xfrm>
            <a:off x="10181814" y="5429250"/>
            <a:ext cx="35771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26.2Q</a:t>
            </a:r>
          </a:p>
        </p:txBody>
      </p:sp>
      <p:sp>
        <p:nvSpPr>
          <p:cNvPr id="56" name="xs 112"/>
          <p:cNvSpPr txBox="1"/>
          <p:nvPr/>
        </p:nvSpPr>
        <p:spPr>
          <a:xfrm>
            <a:off x="11040395" y="5429250"/>
            <a:ext cx="35817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26.3Q</a:t>
            </a:r>
          </a:p>
        </p:txBody>
      </p:sp>
      <p:sp>
        <p:nvSpPr>
          <p:cNvPr id="57" name="rd 114"/>
          <p:cNvSpPr txBox="1"/>
          <p:nvPr/>
        </p:nvSpPr>
        <p:spPr>
          <a:xfrm>
            <a:off x="8204150" y="5819775"/>
            <a:ext cx="190475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분기마다 5~7천 명으로 거의 같다</a:t>
            </a:r>
          </a:p>
        </p:txBody>
      </p:sp>
      <p:sp>
        <p:nvSpPr>
          <p:cNvPr id="58" name="출처 115"/>
          <p:cNvSpPr txBox="1"/>
          <p:nvPr/>
        </p:nvSpPr>
        <p:spPr>
          <a:xfrm>
            <a:off x="533400" y="6324600"/>
            <a:ext cx="137137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출처: 예시 데이터, 실제 수치 아님</a:t>
            </a:r>
          </a:p>
        </p:txBody>
      </p:sp>
      <p:sp>
        <p:nvSpPr>
          <p:cNvPr id="59" name="꼬리말 117"/>
          <p:cNvSpPr txBox="1"/>
          <p:nvPr/>
        </p:nvSpPr>
        <p:spPr>
          <a:xfrm>
            <a:off x="533400" y="6600825"/>
            <a:ext cx="115375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Hankki Lab | 도표 부품 견본</a:t>
            </a:r>
          </a:p>
        </p:txBody>
      </p:sp>
      <p:sp>
        <p:nvSpPr>
          <p:cNvPr id="60" name="pg 118"/>
          <p:cNvSpPr txBox="1"/>
          <p:nvPr/>
        </p:nvSpPr>
        <p:spPr>
          <a:xfrm>
            <a:off x="11556504" y="6600825"/>
            <a:ext cx="125230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90550"/>
            <a:ext cx="11125200" cy="704850"/>
          </a:xfrm>
        </p:spPr>
        <p:txBody>
          <a:bodyPr lIns="0" rIns="0" tIns="0" bIns="0" wrap="square" anchor="t">
            <a:noAutofit/>
          </a:bodyPr>
          <a:lstStyle/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9월 월 거래액 8.4억 원으로 18% 증가,</a:t>
            </a:r>
          </a:p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객단가만 5% 하락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376362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sp>
        <p:nvSpPr>
          <p:cNvPr id="4" name="주장 패널 7"/>
          <p:cNvSpPr/>
          <p:nvPr/>
        </p:nvSpPr>
        <p:spPr>
          <a:xfrm>
            <a:off x="3413075" y="2990850"/>
            <a:ext cx="85725" cy="15240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주장 패널 8"/>
          <p:cNvSpPr/>
          <p:nvPr/>
        </p:nvSpPr>
        <p:spPr>
          <a:xfrm>
            <a:off x="3536900" y="2945160"/>
            <a:ext cx="85725" cy="19809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주장 패널 9"/>
          <p:cNvSpPr/>
          <p:nvPr/>
        </p:nvSpPr>
        <p:spPr>
          <a:xfrm>
            <a:off x="3660725" y="2910929"/>
            <a:ext cx="85725" cy="232321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주장 패널 10"/>
          <p:cNvSpPr/>
          <p:nvPr/>
        </p:nvSpPr>
        <p:spPr>
          <a:xfrm>
            <a:off x="3784550" y="2857500"/>
            <a:ext cx="85725" cy="28575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on 11"/>
          <p:cNvSpPr/>
          <p:nvPr/>
        </p:nvSpPr>
        <p:spPr>
          <a:xfrm>
            <a:off x="3908375" y="2792760"/>
            <a:ext cx="85725" cy="350490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>
            <a:off x="4246513" y="2486025"/>
            <a:ext cx="0" cy="1343025"/>
          </a:xfrm>
          <a:prstGeom prst="line">
            <a:avLst/>
          </a:prstGeom>
          <a:ln w="9525">
            <a:solidFill>
              <a:srgbClr val="CFCFD4"/>
            </a:solidFill>
          </a:ln>
        </p:spPr>
      </p:cxnSp>
      <p:sp>
        <p:nvSpPr>
          <p:cNvPr id="10" name="주장 패널 17"/>
          <p:cNvSpPr/>
          <p:nvPr/>
        </p:nvSpPr>
        <p:spPr>
          <a:xfrm>
            <a:off x="7121426" y="2933700"/>
            <a:ext cx="85725" cy="20955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주장 패널 18"/>
          <p:cNvSpPr/>
          <p:nvPr/>
        </p:nvSpPr>
        <p:spPr>
          <a:xfrm>
            <a:off x="7245251" y="2914650"/>
            <a:ext cx="85725" cy="22860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주장 패널 19"/>
          <p:cNvSpPr/>
          <p:nvPr/>
        </p:nvSpPr>
        <p:spPr>
          <a:xfrm>
            <a:off x="7369076" y="2922389"/>
            <a:ext cx="85725" cy="220861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주장 패널 20"/>
          <p:cNvSpPr/>
          <p:nvPr/>
        </p:nvSpPr>
        <p:spPr>
          <a:xfrm>
            <a:off x="7492901" y="2891879"/>
            <a:ext cx="85725" cy="251371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on 21"/>
          <p:cNvSpPr/>
          <p:nvPr/>
        </p:nvSpPr>
        <p:spPr>
          <a:xfrm>
            <a:off x="7616726" y="2872829"/>
            <a:ext cx="85725" cy="270421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>
            <a:off x="7954863" y="2486025"/>
            <a:ext cx="0" cy="1343025"/>
          </a:xfrm>
          <a:prstGeom prst="line">
            <a:avLst/>
          </a:prstGeom>
          <a:ln w="9525">
            <a:solidFill>
              <a:srgbClr val="CFCFD4"/>
            </a:solidFill>
          </a:ln>
        </p:spPr>
      </p:cxnSp>
      <p:sp>
        <p:nvSpPr>
          <p:cNvPr id="16" name="주장 패널 27"/>
          <p:cNvSpPr/>
          <p:nvPr/>
        </p:nvSpPr>
        <p:spPr>
          <a:xfrm>
            <a:off x="10829925" y="2838450"/>
            <a:ext cx="85725" cy="30480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주장 패널 28"/>
          <p:cNvSpPr/>
          <p:nvPr/>
        </p:nvSpPr>
        <p:spPr>
          <a:xfrm>
            <a:off x="10953750" y="2861370"/>
            <a:ext cx="85725" cy="28188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주장 패널 29"/>
          <p:cNvSpPr/>
          <p:nvPr/>
        </p:nvSpPr>
        <p:spPr>
          <a:xfrm>
            <a:off x="11077575" y="2876550"/>
            <a:ext cx="85725" cy="26670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주장 패널 30"/>
          <p:cNvSpPr/>
          <p:nvPr/>
        </p:nvSpPr>
        <p:spPr>
          <a:xfrm>
            <a:off x="11201400" y="2903339"/>
            <a:ext cx="85725" cy="239911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on 31"/>
          <p:cNvSpPr/>
          <p:nvPr/>
        </p:nvSpPr>
        <p:spPr>
          <a:xfrm>
            <a:off x="11325225" y="2922389"/>
            <a:ext cx="85725" cy="220861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1" name="Connector 20"/>
          <p:cNvCxnSpPr/>
          <p:nvPr/>
        </p:nvCxnSpPr>
        <p:spPr>
          <a:xfrm>
            <a:off x="533400" y="3833812"/>
            <a:ext cx="3708350" cy="0"/>
          </a:xfrm>
          <a:prstGeom prst="line">
            <a:avLst/>
          </a:prstGeom>
          <a:ln w="9525">
            <a:solidFill>
              <a:srgbClr val="CFCFD4"/>
            </a:solidFill>
          </a:ln>
        </p:spPr>
      </p:cxnSp>
      <p:sp>
        <p:nvSpPr>
          <p:cNvPr id="22" name="주장 패널 37"/>
          <p:cNvSpPr/>
          <p:nvPr/>
        </p:nvSpPr>
        <p:spPr>
          <a:xfrm>
            <a:off x="3413075" y="4552950"/>
            <a:ext cx="85725" cy="7620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주장 패널 38"/>
          <p:cNvSpPr/>
          <p:nvPr/>
        </p:nvSpPr>
        <p:spPr>
          <a:xfrm>
            <a:off x="3536900" y="4499670"/>
            <a:ext cx="85725" cy="12948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주장 패널 39"/>
          <p:cNvSpPr/>
          <p:nvPr/>
        </p:nvSpPr>
        <p:spPr>
          <a:xfrm>
            <a:off x="3660725" y="4450110"/>
            <a:ext cx="85725" cy="17904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주장 패널 40"/>
          <p:cNvSpPr/>
          <p:nvPr/>
        </p:nvSpPr>
        <p:spPr>
          <a:xfrm>
            <a:off x="3784550" y="4377779"/>
            <a:ext cx="85725" cy="251371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on 41"/>
          <p:cNvSpPr/>
          <p:nvPr/>
        </p:nvSpPr>
        <p:spPr>
          <a:xfrm>
            <a:off x="3908375" y="4293989"/>
            <a:ext cx="85725" cy="335161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7" name="Connector 26"/>
          <p:cNvCxnSpPr/>
          <p:nvPr/>
        </p:nvCxnSpPr>
        <p:spPr>
          <a:xfrm>
            <a:off x="4241750" y="3833812"/>
            <a:ext cx="3708351" cy="0"/>
          </a:xfrm>
          <a:prstGeom prst="line">
            <a:avLst/>
          </a:prstGeom>
          <a:ln w="9525">
            <a:solidFill>
              <a:srgbClr val="CFCFD4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4246513" y="3829050"/>
            <a:ext cx="0" cy="1485900"/>
          </a:xfrm>
          <a:prstGeom prst="line">
            <a:avLst/>
          </a:prstGeom>
          <a:ln w="9525">
            <a:solidFill>
              <a:srgbClr val="CFCFD4"/>
            </a:solidFill>
          </a:ln>
        </p:spPr>
      </p:cxnSp>
      <p:sp>
        <p:nvSpPr>
          <p:cNvPr id="29" name="주장 패널 48"/>
          <p:cNvSpPr/>
          <p:nvPr/>
        </p:nvSpPr>
        <p:spPr>
          <a:xfrm>
            <a:off x="7121426" y="4392960"/>
            <a:ext cx="85725" cy="23619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주장 패널 49"/>
          <p:cNvSpPr/>
          <p:nvPr/>
        </p:nvSpPr>
        <p:spPr>
          <a:xfrm>
            <a:off x="7245251" y="4381500"/>
            <a:ext cx="85725" cy="24765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주장 패널 50"/>
          <p:cNvSpPr/>
          <p:nvPr/>
        </p:nvSpPr>
        <p:spPr>
          <a:xfrm>
            <a:off x="7369076" y="4385370"/>
            <a:ext cx="85725" cy="24378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주장 패널 51"/>
          <p:cNvSpPr/>
          <p:nvPr/>
        </p:nvSpPr>
        <p:spPr>
          <a:xfrm>
            <a:off x="7492901" y="4370189"/>
            <a:ext cx="85725" cy="258961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on 52"/>
          <p:cNvSpPr/>
          <p:nvPr/>
        </p:nvSpPr>
        <p:spPr>
          <a:xfrm>
            <a:off x="7616726" y="4362450"/>
            <a:ext cx="85725" cy="266700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34" name="Connector 33"/>
          <p:cNvCxnSpPr/>
          <p:nvPr/>
        </p:nvCxnSpPr>
        <p:spPr>
          <a:xfrm>
            <a:off x="7950101" y="3833812"/>
            <a:ext cx="3708499" cy="0"/>
          </a:xfrm>
          <a:prstGeom prst="line">
            <a:avLst/>
          </a:prstGeom>
          <a:ln w="9525">
            <a:solidFill>
              <a:srgbClr val="CFCFD4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7954863" y="3829050"/>
            <a:ext cx="0" cy="1485900"/>
          </a:xfrm>
          <a:prstGeom prst="line">
            <a:avLst/>
          </a:prstGeom>
          <a:ln w="9525">
            <a:solidFill>
              <a:srgbClr val="CFCFD4"/>
            </a:solidFill>
          </a:ln>
        </p:spPr>
      </p:cxnSp>
      <p:sp>
        <p:nvSpPr>
          <p:cNvPr id="36" name="주장 패널 59"/>
          <p:cNvSpPr/>
          <p:nvPr/>
        </p:nvSpPr>
        <p:spPr>
          <a:xfrm>
            <a:off x="10829925" y="4514850"/>
            <a:ext cx="85725" cy="11430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주장 패널 60"/>
          <p:cNvSpPr/>
          <p:nvPr/>
        </p:nvSpPr>
        <p:spPr>
          <a:xfrm>
            <a:off x="10953750" y="4484489"/>
            <a:ext cx="85725" cy="144661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주장 패널 61"/>
          <p:cNvSpPr/>
          <p:nvPr/>
        </p:nvSpPr>
        <p:spPr>
          <a:xfrm>
            <a:off x="11077575" y="4457700"/>
            <a:ext cx="85725" cy="17145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주장 패널 62"/>
          <p:cNvSpPr/>
          <p:nvPr/>
        </p:nvSpPr>
        <p:spPr>
          <a:xfrm>
            <a:off x="11201400" y="4431060"/>
            <a:ext cx="85725" cy="19809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on 63"/>
          <p:cNvSpPr/>
          <p:nvPr/>
        </p:nvSpPr>
        <p:spPr>
          <a:xfrm>
            <a:off x="11325225" y="4400550"/>
            <a:ext cx="85725" cy="228600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41" name="Connector 40"/>
          <p:cNvCxnSpPr/>
          <p:nvPr/>
        </p:nvCxnSpPr>
        <p:spPr>
          <a:xfrm>
            <a:off x="533400" y="6538912"/>
            <a:ext cx="11125200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42" name="회사명 70"/>
          <p:cNvSpPr txBox="1"/>
          <p:nvPr/>
        </p:nvSpPr>
        <p:spPr>
          <a:xfrm>
            <a:off x="533400" y="338138"/>
            <a:ext cx="59808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Hankki Lab</a:t>
            </a:r>
          </a:p>
        </p:txBody>
      </p:sp>
      <p:sp>
        <p:nvSpPr>
          <p:cNvPr id="43" name="키커 71"/>
          <p:cNvSpPr txBox="1"/>
          <p:nvPr/>
        </p:nvSpPr>
        <p:spPr>
          <a:xfrm>
            <a:off x="10900767" y="338138"/>
            <a:ext cx="807196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KPI 대시보드 p52</a:t>
            </a:r>
          </a:p>
        </p:txBody>
      </p:sp>
      <p:sp>
        <p:nvSpPr>
          <p:cNvPr id="44" name="lb 74"/>
          <p:cNvSpPr txBox="1"/>
          <p:nvPr/>
        </p:nvSpPr>
        <p:spPr>
          <a:xfrm>
            <a:off x="533400" y="2533650"/>
            <a:ext cx="53245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월 거래액</a:t>
            </a:r>
          </a:p>
        </p:txBody>
      </p:sp>
      <p:sp>
        <p:nvSpPr>
          <p:cNvPr id="45" name="v 75"/>
          <p:cNvSpPr txBox="1"/>
          <p:nvPr/>
        </p:nvSpPr>
        <p:spPr>
          <a:xfrm>
            <a:off x="533400" y="2752725"/>
            <a:ext cx="961977" cy="457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375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lang="ko-KR" altLang="en-US">
                <a:solidFill>
                  <a:srgbClr val="18181C"/>
                </a:solidFill>
                <a:latin typeface="Pretendard ExtraBold"/>
                <a:ea typeface="Pretendard ExtraBold"/>
                <a:cs typeface="Pretendard ExtraBold"/>
              </a:rPr>
              <a:t>8.4억</a:t>
            </a:r>
          </a:p>
        </p:txBody>
      </p:sp>
      <p:sp>
        <p:nvSpPr>
          <p:cNvPr id="46" name="dl 81"/>
          <p:cNvSpPr txBox="1"/>
          <p:nvPr/>
        </p:nvSpPr>
        <p:spPr>
          <a:xfrm>
            <a:off x="533400" y="3276600"/>
            <a:ext cx="93349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D9415F"/>
                </a:solidFill>
                <a:latin typeface="Pretendard SemiBold"/>
                <a:ea typeface="Pretendard SemiBold"/>
                <a:cs typeface="Pretendard SemiBold"/>
              </a:rPr>
              <a:t>전월 대비 +18%</a:t>
            </a:r>
          </a:p>
        </p:txBody>
      </p:sp>
      <p:sp>
        <p:nvSpPr>
          <p:cNvPr id="47" name="ds 82"/>
          <p:cNvSpPr txBox="1"/>
          <p:nvPr/>
        </p:nvSpPr>
        <p:spPr>
          <a:xfrm>
            <a:off x="533400" y="3476625"/>
            <a:ext cx="140233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2026년 9월, 결제 완료 기준</a:t>
            </a:r>
          </a:p>
        </p:txBody>
      </p:sp>
      <p:sp>
        <p:nvSpPr>
          <p:cNvPr id="48" name="lb 84"/>
          <p:cNvSpPr txBox="1"/>
          <p:nvPr/>
        </p:nvSpPr>
        <p:spPr>
          <a:xfrm>
            <a:off x="4498925" y="2533650"/>
            <a:ext cx="772061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활성 브랜드사</a:t>
            </a:r>
          </a:p>
        </p:txBody>
      </p:sp>
      <p:sp>
        <p:nvSpPr>
          <p:cNvPr id="49" name="v 85"/>
          <p:cNvSpPr txBox="1"/>
          <p:nvPr/>
        </p:nvSpPr>
        <p:spPr>
          <a:xfrm>
            <a:off x="4498925" y="2752725"/>
            <a:ext cx="1029152" cy="457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375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lang="ko-KR" altLang="en-US">
                <a:solidFill>
                  <a:srgbClr val="18181C"/>
                </a:solidFill>
                <a:latin typeface="Pretendard ExtraBold"/>
                <a:ea typeface="Pretendard ExtraBold"/>
                <a:cs typeface="Pretendard ExtraBold"/>
              </a:rPr>
              <a:t>214곳</a:t>
            </a:r>
          </a:p>
        </p:txBody>
      </p:sp>
      <p:sp>
        <p:nvSpPr>
          <p:cNvPr id="50" name="dl 91"/>
          <p:cNvSpPr txBox="1"/>
          <p:nvPr/>
        </p:nvSpPr>
        <p:spPr>
          <a:xfrm>
            <a:off x="4498925" y="3276600"/>
            <a:ext cx="920806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D9415F"/>
                </a:solidFill>
                <a:latin typeface="Pretendard SemiBold"/>
                <a:ea typeface="Pretendard SemiBold"/>
                <a:cs typeface="Pretendard SemiBold"/>
              </a:rPr>
              <a:t>전월 대비 +12곳</a:t>
            </a:r>
          </a:p>
        </p:txBody>
      </p:sp>
      <p:sp>
        <p:nvSpPr>
          <p:cNvPr id="51" name="ds 92"/>
          <p:cNvSpPr txBox="1"/>
          <p:nvPr/>
        </p:nvSpPr>
        <p:spPr>
          <a:xfrm>
            <a:off x="4498925" y="3476625"/>
            <a:ext cx="116087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월 1회 이상 캠페인 집행</a:t>
            </a:r>
          </a:p>
        </p:txBody>
      </p:sp>
      <p:sp>
        <p:nvSpPr>
          <p:cNvPr id="52" name="lb 94"/>
          <p:cNvSpPr txBox="1"/>
          <p:nvPr/>
        </p:nvSpPr>
        <p:spPr>
          <a:xfrm>
            <a:off x="8207276" y="2533650"/>
            <a:ext cx="65226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평균 객단가</a:t>
            </a:r>
          </a:p>
        </p:txBody>
      </p:sp>
      <p:sp>
        <p:nvSpPr>
          <p:cNvPr id="53" name="v 95"/>
          <p:cNvSpPr txBox="1"/>
          <p:nvPr/>
        </p:nvSpPr>
        <p:spPr>
          <a:xfrm>
            <a:off x="8207276" y="2752725"/>
            <a:ext cx="853630" cy="457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375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lang="ko-KR" altLang="en-US">
                <a:solidFill>
                  <a:srgbClr val="18181C"/>
                </a:solidFill>
                <a:latin typeface="Pretendard ExtraBold"/>
                <a:ea typeface="Pretendard ExtraBold"/>
                <a:cs typeface="Pretendard ExtraBold"/>
              </a:rPr>
              <a:t>38만</a:t>
            </a:r>
          </a:p>
        </p:txBody>
      </p:sp>
      <p:sp>
        <p:nvSpPr>
          <p:cNvPr id="54" name="dl 101"/>
          <p:cNvSpPr txBox="1"/>
          <p:nvPr/>
        </p:nvSpPr>
        <p:spPr>
          <a:xfrm>
            <a:off x="8207276" y="3276600"/>
            <a:ext cx="86802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8F1D14"/>
                </a:solidFill>
                <a:latin typeface="Pretendard SemiBold"/>
                <a:ea typeface="Pretendard SemiBold"/>
                <a:cs typeface="Pretendard SemiBold"/>
              </a:rPr>
              <a:t>전월 대비 −5%</a:t>
            </a:r>
          </a:p>
        </p:txBody>
      </p:sp>
      <p:sp>
        <p:nvSpPr>
          <p:cNvPr id="55" name="ds 102"/>
          <p:cNvSpPr txBox="1"/>
          <p:nvPr/>
        </p:nvSpPr>
        <p:spPr>
          <a:xfrm>
            <a:off x="8207276" y="3476625"/>
            <a:ext cx="116149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캠페인 1건당 결제액, 원</a:t>
            </a:r>
          </a:p>
        </p:txBody>
      </p:sp>
      <p:sp>
        <p:nvSpPr>
          <p:cNvPr id="56" name="lb 104"/>
          <p:cNvSpPr txBox="1"/>
          <p:nvPr/>
        </p:nvSpPr>
        <p:spPr>
          <a:xfrm>
            <a:off x="533400" y="4019550"/>
            <a:ext cx="80595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월 콘텐츠 생산</a:t>
            </a:r>
          </a:p>
        </p:txBody>
      </p:sp>
      <p:sp>
        <p:nvSpPr>
          <p:cNvPr id="57" name="v 105"/>
          <p:cNvSpPr txBox="1"/>
          <p:nvPr/>
        </p:nvSpPr>
        <p:spPr>
          <a:xfrm>
            <a:off x="533400" y="4238625"/>
            <a:ext cx="865858" cy="457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375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lang="ko-KR" altLang="en-US">
                <a:solidFill>
                  <a:srgbClr val="18181C"/>
                </a:solidFill>
                <a:latin typeface="Pretendard ExtraBold"/>
                <a:ea typeface="Pretendard ExtraBold"/>
                <a:cs typeface="Pretendard ExtraBold"/>
              </a:rPr>
              <a:t>1.2만</a:t>
            </a:r>
          </a:p>
        </p:txBody>
      </p:sp>
      <p:sp>
        <p:nvSpPr>
          <p:cNvPr id="58" name="dl 111"/>
          <p:cNvSpPr txBox="1"/>
          <p:nvPr/>
        </p:nvSpPr>
        <p:spPr>
          <a:xfrm>
            <a:off x="533400" y="4762500"/>
            <a:ext cx="94619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D9415F"/>
                </a:solidFill>
                <a:latin typeface="Pretendard SemiBold"/>
                <a:ea typeface="Pretendard SemiBold"/>
                <a:cs typeface="Pretendard SemiBold"/>
              </a:rPr>
              <a:t>전월 대비 +22%</a:t>
            </a:r>
          </a:p>
        </p:txBody>
      </p:sp>
      <p:sp>
        <p:nvSpPr>
          <p:cNvPr id="59" name="ds 112"/>
          <p:cNvSpPr txBox="1"/>
          <p:nvPr/>
        </p:nvSpPr>
        <p:spPr>
          <a:xfrm>
            <a:off x="533400" y="4962525"/>
            <a:ext cx="118254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검수를 통과한 리뷰 건수</a:t>
            </a:r>
          </a:p>
        </p:txBody>
      </p:sp>
      <p:sp>
        <p:nvSpPr>
          <p:cNvPr id="60" name="lb 115"/>
          <p:cNvSpPr txBox="1"/>
          <p:nvPr/>
        </p:nvSpPr>
        <p:spPr>
          <a:xfrm>
            <a:off x="4498925" y="4019550"/>
            <a:ext cx="892016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브랜드 재구매율</a:t>
            </a:r>
          </a:p>
        </p:txBody>
      </p:sp>
      <p:sp>
        <p:nvSpPr>
          <p:cNvPr id="61" name="v 116"/>
          <p:cNvSpPr txBox="1"/>
          <p:nvPr/>
        </p:nvSpPr>
        <p:spPr>
          <a:xfrm>
            <a:off x="4498925" y="4238625"/>
            <a:ext cx="809518" cy="457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375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lang="ko-KR" altLang="en-US">
                <a:solidFill>
                  <a:srgbClr val="18181C"/>
                </a:solidFill>
                <a:latin typeface="Pretendard ExtraBold"/>
                <a:ea typeface="Pretendard ExtraBold"/>
                <a:cs typeface="Pretendard ExtraBold"/>
              </a:rPr>
              <a:t>71%</a:t>
            </a:r>
          </a:p>
        </p:txBody>
      </p:sp>
      <p:sp>
        <p:nvSpPr>
          <p:cNvPr id="62" name="dl 122"/>
          <p:cNvSpPr txBox="1"/>
          <p:nvPr/>
        </p:nvSpPr>
        <p:spPr>
          <a:xfrm>
            <a:off x="4498925" y="4762500"/>
            <a:ext cx="952226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D9415F"/>
                </a:solidFill>
                <a:latin typeface="Pretendard SemiBold"/>
                <a:ea typeface="Pretendard SemiBold"/>
                <a:cs typeface="Pretendard SemiBold"/>
              </a:rPr>
              <a:t>전월 대비 +3%p</a:t>
            </a:r>
          </a:p>
        </p:txBody>
      </p:sp>
      <p:sp>
        <p:nvSpPr>
          <p:cNvPr id="63" name="ds 123"/>
          <p:cNvSpPr txBox="1"/>
          <p:nvPr/>
        </p:nvSpPr>
        <p:spPr>
          <a:xfrm>
            <a:off x="4498925" y="4962525"/>
            <a:ext cx="101119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90일 안에 다시 결제</a:t>
            </a:r>
          </a:p>
        </p:txBody>
      </p:sp>
      <p:sp>
        <p:nvSpPr>
          <p:cNvPr id="64" name="lb 126"/>
          <p:cNvSpPr txBox="1"/>
          <p:nvPr/>
        </p:nvSpPr>
        <p:spPr>
          <a:xfrm>
            <a:off x="8207276" y="4019550"/>
            <a:ext cx="80595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고객 획득 비용</a:t>
            </a:r>
          </a:p>
        </p:txBody>
      </p:sp>
      <p:sp>
        <p:nvSpPr>
          <p:cNvPr id="65" name="v 127"/>
          <p:cNvSpPr txBox="1"/>
          <p:nvPr/>
        </p:nvSpPr>
        <p:spPr>
          <a:xfrm>
            <a:off x="8207276" y="4238625"/>
            <a:ext cx="952071" cy="457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375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lang="ko-KR" altLang="en-US">
                <a:solidFill>
                  <a:srgbClr val="18181C"/>
                </a:solidFill>
                <a:latin typeface="Pretendard ExtraBold"/>
                <a:ea typeface="Pretendard ExtraBold"/>
                <a:cs typeface="Pretendard ExtraBold"/>
              </a:rPr>
              <a:t>4.2만</a:t>
            </a:r>
          </a:p>
        </p:txBody>
      </p:sp>
      <p:sp>
        <p:nvSpPr>
          <p:cNvPr id="66" name="dl 133"/>
          <p:cNvSpPr txBox="1"/>
          <p:nvPr/>
        </p:nvSpPr>
        <p:spPr>
          <a:xfrm>
            <a:off x="8207276" y="4762500"/>
            <a:ext cx="869883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D9415F"/>
                </a:solidFill>
                <a:latin typeface="Pretendard SemiBold"/>
                <a:ea typeface="Pretendard SemiBold"/>
                <a:cs typeface="Pretendard SemiBold"/>
              </a:rPr>
              <a:t>전월 대비 −8%</a:t>
            </a:r>
          </a:p>
        </p:txBody>
      </p:sp>
      <p:sp>
        <p:nvSpPr>
          <p:cNvPr id="67" name="ds 134"/>
          <p:cNvSpPr txBox="1"/>
          <p:nvPr/>
        </p:nvSpPr>
        <p:spPr>
          <a:xfrm>
            <a:off x="8207276" y="4962525"/>
            <a:ext cx="91647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브랜드사 1곳당, 원</a:t>
            </a:r>
          </a:p>
        </p:txBody>
      </p:sp>
      <p:sp>
        <p:nvSpPr>
          <p:cNvPr id="68" name="출처 135"/>
          <p:cNvSpPr txBox="1"/>
          <p:nvPr/>
        </p:nvSpPr>
        <p:spPr>
          <a:xfrm>
            <a:off x="533400" y="6324600"/>
            <a:ext cx="137137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출처: 예시 데이터, 실제 수치 아님</a:t>
            </a:r>
          </a:p>
        </p:txBody>
      </p:sp>
      <p:sp>
        <p:nvSpPr>
          <p:cNvPr id="69" name="꼬리말 137"/>
          <p:cNvSpPr txBox="1"/>
          <p:nvPr/>
        </p:nvSpPr>
        <p:spPr>
          <a:xfrm>
            <a:off x="533400" y="6600825"/>
            <a:ext cx="115375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Hankki Lab | 도표 부품 견본</a:t>
            </a:r>
          </a:p>
        </p:txBody>
      </p:sp>
      <p:sp>
        <p:nvSpPr>
          <p:cNvPr id="70" name="pg 138"/>
          <p:cNvSpPr txBox="1"/>
          <p:nvPr/>
        </p:nvSpPr>
        <p:spPr>
          <a:xfrm>
            <a:off x="11562606" y="6600825"/>
            <a:ext cx="118884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90550"/>
            <a:ext cx="11125200" cy="704850"/>
          </a:xfrm>
        </p:spPr>
        <p:txBody>
          <a:bodyPr lIns="0" rIns="0" tIns="0" bIns="0" wrap="square" anchor="t">
            <a:noAutofit/>
          </a:bodyPr>
          <a:lstStyle/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가장 큰 스킨케어 시장에서 자사 점유율 12%,</a:t>
            </a:r>
          </a:p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헤어와 바디는 아직 미진출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376362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33400" y="1852612"/>
            <a:ext cx="63586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533400" y="5586412"/>
            <a:ext cx="24977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sp>
        <p:nvSpPr>
          <p:cNvPr id="6" name="구성 조각 10"/>
          <p:cNvSpPr/>
          <p:nvPr/>
        </p:nvSpPr>
        <p:spPr>
          <a:xfrm>
            <a:off x="533400" y="2162175"/>
            <a:ext cx="2497782" cy="957411"/>
          </a:xfrm>
          <a:prstGeom prst="rect">
            <a:avLst/>
          </a:prstGeom>
          <a:solidFill>
            <a:srgbClr val="FBE9E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구성 조각 12"/>
          <p:cNvSpPr/>
          <p:nvPr/>
        </p:nvSpPr>
        <p:spPr>
          <a:xfrm>
            <a:off x="533400" y="3119586"/>
            <a:ext cx="2497782" cy="88895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8" name="Connector 7"/>
          <p:cNvCxnSpPr/>
          <p:nvPr/>
        </p:nvCxnSpPr>
        <p:spPr>
          <a:xfrm>
            <a:off x="533400" y="3129111"/>
            <a:ext cx="2497782" cy="0"/>
          </a:xfrm>
          <a:prstGeom prst="line">
            <a:avLst/>
          </a:prstGeom>
          <a:ln w="19050">
            <a:solidFill>
              <a:srgbClr val="FFFFFF"/>
            </a:solidFill>
          </a:ln>
        </p:spPr>
      </p:cxnSp>
      <p:sp>
        <p:nvSpPr>
          <p:cNvPr id="9" name="구성 조각 15"/>
          <p:cNvSpPr/>
          <p:nvPr/>
        </p:nvSpPr>
        <p:spPr>
          <a:xfrm>
            <a:off x="533400" y="4008537"/>
            <a:ext cx="2497782" cy="1162496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0" name="Connector 9"/>
          <p:cNvCxnSpPr/>
          <p:nvPr/>
        </p:nvCxnSpPr>
        <p:spPr>
          <a:xfrm>
            <a:off x="533400" y="4018062"/>
            <a:ext cx="2497782" cy="0"/>
          </a:xfrm>
          <a:prstGeom prst="line">
            <a:avLst/>
          </a:prstGeom>
          <a:ln w="19050">
            <a:solidFill>
              <a:srgbClr val="FFFFFF"/>
            </a:solidFill>
          </a:ln>
        </p:spPr>
      </p:cxnSp>
      <p:sp>
        <p:nvSpPr>
          <p:cNvPr id="11" name="구성 조각 18"/>
          <p:cNvSpPr/>
          <p:nvPr/>
        </p:nvSpPr>
        <p:spPr>
          <a:xfrm>
            <a:off x="533400" y="5171033"/>
            <a:ext cx="2497782" cy="410319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2" name="Connector 11"/>
          <p:cNvCxnSpPr/>
          <p:nvPr/>
        </p:nvCxnSpPr>
        <p:spPr>
          <a:xfrm>
            <a:off x="533400" y="5180558"/>
            <a:ext cx="2497782" cy="0"/>
          </a:xfrm>
          <a:prstGeom prst="line">
            <a:avLst/>
          </a:prstGeom>
          <a:ln w="1905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3069282" y="5586412"/>
            <a:ext cx="1748433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sp>
        <p:nvSpPr>
          <p:cNvPr id="14" name="구성 조각 24"/>
          <p:cNvSpPr/>
          <p:nvPr/>
        </p:nvSpPr>
        <p:spPr>
          <a:xfrm>
            <a:off x="3069282" y="2162175"/>
            <a:ext cx="1748433" cy="1025723"/>
          </a:xfrm>
          <a:prstGeom prst="rect">
            <a:avLst/>
          </a:prstGeom>
          <a:solidFill>
            <a:srgbClr val="FBE9E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구성 조각 26"/>
          <p:cNvSpPr/>
          <p:nvPr/>
        </p:nvSpPr>
        <p:spPr>
          <a:xfrm>
            <a:off x="3069282" y="3187898"/>
            <a:ext cx="1748433" cy="957411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6" name="Connector 15"/>
          <p:cNvCxnSpPr/>
          <p:nvPr/>
        </p:nvCxnSpPr>
        <p:spPr>
          <a:xfrm>
            <a:off x="3069282" y="3197423"/>
            <a:ext cx="1748433" cy="0"/>
          </a:xfrm>
          <a:prstGeom prst="line">
            <a:avLst/>
          </a:prstGeom>
          <a:ln w="19050">
            <a:solidFill>
              <a:srgbClr val="FFFFFF"/>
            </a:solidFill>
          </a:ln>
        </p:spPr>
      </p:cxnSp>
      <p:sp>
        <p:nvSpPr>
          <p:cNvPr id="17" name="구성 조각 29"/>
          <p:cNvSpPr/>
          <p:nvPr/>
        </p:nvSpPr>
        <p:spPr>
          <a:xfrm>
            <a:off x="3069282" y="4145310"/>
            <a:ext cx="1748433" cy="1162496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8" name="Connector 17"/>
          <p:cNvCxnSpPr/>
          <p:nvPr/>
        </p:nvCxnSpPr>
        <p:spPr>
          <a:xfrm>
            <a:off x="3069282" y="4154835"/>
            <a:ext cx="1748433" cy="0"/>
          </a:xfrm>
          <a:prstGeom prst="line">
            <a:avLst/>
          </a:prstGeom>
          <a:ln w="19050">
            <a:solidFill>
              <a:srgbClr val="FFFFFF"/>
            </a:solidFill>
          </a:ln>
        </p:spPr>
      </p:cxnSp>
      <p:sp>
        <p:nvSpPr>
          <p:cNvPr id="19" name="구성 조각 32"/>
          <p:cNvSpPr/>
          <p:nvPr/>
        </p:nvSpPr>
        <p:spPr>
          <a:xfrm>
            <a:off x="3069282" y="5307806"/>
            <a:ext cx="1748433" cy="273546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0" name="Connector 19"/>
          <p:cNvCxnSpPr/>
          <p:nvPr/>
        </p:nvCxnSpPr>
        <p:spPr>
          <a:xfrm>
            <a:off x="3069282" y="5317331"/>
            <a:ext cx="1748433" cy="0"/>
          </a:xfrm>
          <a:prstGeom prst="line">
            <a:avLst/>
          </a:prstGeom>
          <a:ln w="1905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55815" y="5586412"/>
            <a:ext cx="1248817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sp>
        <p:nvSpPr>
          <p:cNvPr id="22" name="구성 조각 38"/>
          <p:cNvSpPr/>
          <p:nvPr/>
        </p:nvSpPr>
        <p:spPr>
          <a:xfrm>
            <a:off x="4855815" y="2162175"/>
            <a:ext cx="1248817" cy="1025723"/>
          </a:xfrm>
          <a:prstGeom prst="rect">
            <a:avLst/>
          </a:prstGeom>
          <a:solidFill>
            <a:srgbClr val="FBE9E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구성 조각 40"/>
          <p:cNvSpPr/>
          <p:nvPr/>
        </p:nvSpPr>
        <p:spPr>
          <a:xfrm>
            <a:off x="4855815" y="3187898"/>
            <a:ext cx="1248817" cy="1094184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4" name="Connector 23"/>
          <p:cNvCxnSpPr/>
          <p:nvPr/>
        </p:nvCxnSpPr>
        <p:spPr>
          <a:xfrm>
            <a:off x="4855815" y="3197423"/>
            <a:ext cx="1248817" cy="0"/>
          </a:xfrm>
          <a:prstGeom prst="line">
            <a:avLst/>
          </a:prstGeom>
          <a:ln w="19050">
            <a:solidFill>
              <a:srgbClr val="FFFFFF"/>
            </a:solidFill>
          </a:ln>
        </p:spPr>
      </p:cxnSp>
      <p:sp>
        <p:nvSpPr>
          <p:cNvPr id="25" name="구성 조각 43"/>
          <p:cNvSpPr/>
          <p:nvPr/>
        </p:nvSpPr>
        <p:spPr>
          <a:xfrm>
            <a:off x="4855815" y="4282083"/>
            <a:ext cx="1248817" cy="1299270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6" name="Connector 25"/>
          <p:cNvCxnSpPr/>
          <p:nvPr/>
        </p:nvCxnSpPr>
        <p:spPr>
          <a:xfrm>
            <a:off x="4855815" y="4291608"/>
            <a:ext cx="1248817" cy="0"/>
          </a:xfrm>
          <a:prstGeom prst="line">
            <a:avLst/>
          </a:prstGeom>
          <a:ln w="1905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6142732" y="5586412"/>
            <a:ext cx="74935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sp>
        <p:nvSpPr>
          <p:cNvPr id="28" name="구성 조각 49"/>
          <p:cNvSpPr/>
          <p:nvPr/>
        </p:nvSpPr>
        <p:spPr>
          <a:xfrm>
            <a:off x="6142732" y="2162175"/>
            <a:ext cx="749350" cy="1367730"/>
          </a:xfrm>
          <a:prstGeom prst="rect">
            <a:avLst/>
          </a:prstGeom>
          <a:solidFill>
            <a:srgbClr val="FBE9E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구성 조각 51"/>
          <p:cNvSpPr/>
          <p:nvPr/>
        </p:nvSpPr>
        <p:spPr>
          <a:xfrm>
            <a:off x="6142732" y="3529905"/>
            <a:ext cx="749350" cy="1196727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30" name="Connector 29"/>
          <p:cNvCxnSpPr/>
          <p:nvPr/>
        </p:nvCxnSpPr>
        <p:spPr>
          <a:xfrm>
            <a:off x="6142732" y="3539430"/>
            <a:ext cx="749350" cy="0"/>
          </a:xfrm>
          <a:prstGeom prst="line">
            <a:avLst/>
          </a:prstGeom>
          <a:ln w="19050">
            <a:solidFill>
              <a:srgbClr val="FFFFFF"/>
            </a:solidFill>
          </a:ln>
        </p:spPr>
      </p:cxnSp>
      <p:sp>
        <p:nvSpPr>
          <p:cNvPr id="31" name="구성 조각 54"/>
          <p:cNvSpPr/>
          <p:nvPr/>
        </p:nvSpPr>
        <p:spPr>
          <a:xfrm>
            <a:off x="6142732" y="4726632"/>
            <a:ext cx="749350" cy="854869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32" name="Connector 31"/>
          <p:cNvCxnSpPr/>
          <p:nvPr/>
        </p:nvCxnSpPr>
        <p:spPr>
          <a:xfrm>
            <a:off x="6142732" y="4736157"/>
            <a:ext cx="749350" cy="0"/>
          </a:xfrm>
          <a:prstGeom prst="line">
            <a:avLst/>
          </a:prstGeom>
          <a:ln w="19050">
            <a:solidFill>
              <a:srgbClr val="FFFFFF"/>
            </a:solidFill>
          </a:ln>
        </p:spPr>
      </p:cxnSp>
      <p:sp>
        <p:nvSpPr>
          <p:cNvPr id="33" name="b 59"/>
          <p:cNvSpPr/>
          <p:nvPr/>
        </p:nvSpPr>
        <p:spPr>
          <a:xfrm>
            <a:off x="533400" y="6100762"/>
            <a:ext cx="104775" cy="104775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" name="a 61"/>
          <p:cNvSpPr/>
          <p:nvPr/>
        </p:nvSpPr>
        <p:spPr>
          <a:xfrm>
            <a:off x="1075283" y="6100762"/>
            <a:ext cx="104775" cy="104775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c 63"/>
          <p:cNvSpPr/>
          <p:nvPr/>
        </p:nvSpPr>
        <p:spPr>
          <a:xfrm>
            <a:off x="1810048" y="6100762"/>
            <a:ext cx="104775" cy="104775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6" name="d 65"/>
          <p:cNvSpPr/>
          <p:nvPr/>
        </p:nvSpPr>
        <p:spPr>
          <a:xfrm>
            <a:off x="2541836" y="6100762"/>
            <a:ext cx="104775" cy="104775"/>
          </a:xfrm>
          <a:prstGeom prst="rect">
            <a:avLst/>
          </a:prstGeom>
          <a:solidFill>
            <a:srgbClr val="FBE9ED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37" name="Connector 36"/>
          <p:cNvCxnSpPr/>
          <p:nvPr/>
        </p:nvCxnSpPr>
        <p:spPr>
          <a:xfrm>
            <a:off x="7273082" y="1852612"/>
            <a:ext cx="4385518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533400" y="6538912"/>
            <a:ext cx="11125200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39" name="회사명 73"/>
          <p:cNvSpPr txBox="1"/>
          <p:nvPr/>
        </p:nvSpPr>
        <p:spPr>
          <a:xfrm>
            <a:off x="533400" y="338138"/>
            <a:ext cx="59808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Hankki Lab</a:t>
            </a:r>
          </a:p>
        </p:txBody>
      </p:sp>
      <p:sp>
        <p:nvSpPr>
          <p:cNvPr id="40" name="키커 74"/>
          <p:cNvSpPr txBox="1"/>
          <p:nvPr/>
        </p:nvSpPr>
        <p:spPr>
          <a:xfrm>
            <a:off x="11054507" y="338138"/>
            <a:ext cx="64730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메코 차트 p53</a:t>
            </a:r>
          </a:p>
        </p:txBody>
      </p:sp>
      <p:sp>
        <p:nvSpPr>
          <p:cNvPr id="41" name="축 제목 78"/>
          <p:cNvSpPr txBox="1"/>
          <p:nvPr/>
        </p:nvSpPr>
        <p:spPr>
          <a:xfrm>
            <a:off x="533400" y="1600200"/>
            <a:ext cx="208723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카테고리별 리뷰 콘텐츠 시장 점유</a:t>
            </a:r>
          </a:p>
        </p:txBody>
      </p:sp>
      <p:sp>
        <p:nvSpPr>
          <p:cNvPr id="42" name="u 79"/>
          <p:cNvSpPr txBox="1"/>
          <p:nvPr/>
        </p:nvSpPr>
        <p:spPr>
          <a:xfrm>
            <a:off x="5148114" y="1647825"/>
            <a:ext cx="183277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너비는 시장 규모, 높이는 점유율 (100%)</a:t>
            </a:r>
          </a:p>
        </p:txBody>
      </p:sp>
      <p:sp>
        <p:nvSpPr>
          <p:cNvPr id="43" name="tv 80"/>
          <p:cNvSpPr txBox="1"/>
          <p:nvPr/>
        </p:nvSpPr>
        <p:spPr>
          <a:xfrm>
            <a:off x="1648402" y="1962150"/>
            <a:ext cx="26762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1.1조</a:t>
            </a:r>
          </a:p>
        </p:txBody>
      </p:sp>
      <p:sp>
        <p:nvSpPr>
          <p:cNvPr id="44" name="구성 조각 83"/>
          <p:cNvSpPr txBox="1"/>
          <p:nvPr/>
        </p:nvSpPr>
        <p:spPr>
          <a:xfrm>
            <a:off x="1658689" y="2574131"/>
            <a:ext cx="27598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28%</a:t>
            </a:r>
          </a:p>
        </p:txBody>
      </p:sp>
      <p:sp>
        <p:nvSpPr>
          <p:cNvPr id="45" name="구성 조각 86"/>
          <p:cNvSpPr txBox="1"/>
          <p:nvPr/>
        </p:nvSpPr>
        <p:spPr>
          <a:xfrm>
            <a:off x="1658541" y="3506837"/>
            <a:ext cx="27629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26%</a:t>
            </a:r>
          </a:p>
        </p:txBody>
      </p:sp>
      <p:sp>
        <p:nvSpPr>
          <p:cNvPr id="46" name="구성 조각 89"/>
          <p:cNvSpPr txBox="1"/>
          <p:nvPr/>
        </p:nvSpPr>
        <p:spPr>
          <a:xfrm>
            <a:off x="1656159" y="4532561"/>
            <a:ext cx="28124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34%</a:t>
            </a:r>
          </a:p>
        </p:txBody>
      </p:sp>
      <p:sp>
        <p:nvSpPr>
          <p:cNvPr id="47" name="구성 조각 92"/>
          <p:cNvSpPr txBox="1"/>
          <p:nvPr/>
        </p:nvSpPr>
        <p:spPr>
          <a:xfrm>
            <a:off x="1668512" y="5318968"/>
            <a:ext cx="25555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12%</a:t>
            </a:r>
          </a:p>
        </p:txBody>
      </p:sp>
      <p:sp>
        <p:nvSpPr>
          <p:cNvPr id="48" name="nm 93"/>
          <p:cNvSpPr txBox="1"/>
          <p:nvPr/>
        </p:nvSpPr>
        <p:spPr>
          <a:xfrm>
            <a:off x="1558629" y="5667375"/>
            <a:ext cx="44717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스킨케어</a:t>
            </a:r>
          </a:p>
        </p:txBody>
      </p:sp>
      <p:sp>
        <p:nvSpPr>
          <p:cNvPr id="49" name="tv 94"/>
          <p:cNvSpPr txBox="1"/>
          <p:nvPr/>
        </p:nvSpPr>
        <p:spPr>
          <a:xfrm>
            <a:off x="3715271" y="1962150"/>
            <a:ext cx="45630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7,700억</a:t>
            </a:r>
          </a:p>
        </p:txBody>
      </p:sp>
      <p:sp>
        <p:nvSpPr>
          <p:cNvPr id="50" name="구성 조각 97"/>
          <p:cNvSpPr txBox="1"/>
          <p:nvPr/>
        </p:nvSpPr>
        <p:spPr>
          <a:xfrm>
            <a:off x="3817739" y="2608362"/>
            <a:ext cx="28047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30%</a:t>
            </a:r>
          </a:p>
        </p:txBody>
      </p:sp>
      <p:sp>
        <p:nvSpPr>
          <p:cNvPr id="51" name="구성 조각 100"/>
          <p:cNvSpPr txBox="1"/>
          <p:nvPr/>
        </p:nvSpPr>
        <p:spPr>
          <a:xfrm>
            <a:off x="3819971" y="3609380"/>
            <a:ext cx="27598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28%</a:t>
            </a:r>
          </a:p>
        </p:txBody>
      </p:sp>
      <p:sp>
        <p:nvSpPr>
          <p:cNvPr id="52" name="구성 조각 103"/>
          <p:cNvSpPr txBox="1"/>
          <p:nvPr/>
        </p:nvSpPr>
        <p:spPr>
          <a:xfrm>
            <a:off x="3817441" y="4669334"/>
            <a:ext cx="28124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34%</a:t>
            </a:r>
          </a:p>
        </p:txBody>
      </p:sp>
      <p:sp>
        <p:nvSpPr>
          <p:cNvPr id="53" name="구성 조각 106"/>
          <p:cNvSpPr txBox="1"/>
          <p:nvPr/>
        </p:nvSpPr>
        <p:spPr>
          <a:xfrm>
            <a:off x="3854351" y="5387429"/>
            <a:ext cx="204323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8%</a:t>
            </a:r>
          </a:p>
        </p:txBody>
      </p:sp>
      <p:sp>
        <p:nvSpPr>
          <p:cNvPr id="54" name="nm 107"/>
          <p:cNvSpPr txBox="1"/>
          <p:nvPr/>
        </p:nvSpPr>
        <p:spPr>
          <a:xfrm>
            <a:off x="3826868" y="5667375"/>
            <a:ext cx="23311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색조</a:t>
            </a:r>
          </a:p>
        </p:txBody>
      </p:sp>
      <p:sp>
        <p:nvSpPr>
          <p:cNvPr id="55" name="tv 108"/>
          <p:cNvSpPr txBox="1"/>
          <p:nvPr/>
        </p:nvSpPr>
        <p:spPr>
          <a:xfrm>
            <a:off x="5237369" y="1962150"/>
            <a:ext cx="48556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5,500억</a:t>
            </a:r>
          </a:p>
        </p:txBody>
      </p:sp>
      <p:sp>
        <p:nvSpPr>
          <p:cNvPr id="56" name="구성 조각 111"/>
          <p:cNvSpPr txBox="1"/>
          <p:nvPr/>
        </p:nvSpPr>
        <p:spPr>
          <a:xfrm>
            <a:off x="5354538" y="2608362"/>
            <a:ext cx="28047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30%</a:t>
            </a:r>
          </a:p>
        </p:txBody>
      </p:sp>
      <p:sp>
        <p:nvSpPr>
          <p:cNvPr id="57" name="구성 조각 114"/>
          <p:cNvSpPr txBox="1"/>
          <p:nvPr/>
        </p:nvSpPr>
        <p:spPr>
          <a:xfrm>
            <a:off x="5356622" y="3677841"/>
            <a:ext cx="27614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32%</a:t>
            </a:r>
          </a:p>
        </p:txBody>
      </p:sp>
      <p:sp>
        <p:nvSpPr>
          <p:cNvPr id="58" name="구성 조각 117"/>
          <p:cNvSpPr txBox="1"/>
          <p:nvPr/>
        </p:nvSpPr>
        <p:spPr>
          <a:xfrm>
            <a:off x="5354985" y="4874568"/>
            <a:ext cx="27954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38%</a:t>
            </a:r>
          </a:p>
        </p:txBody>
      </p:sp>
      <p:sp>
        <p:nvSpPr>
          <p:cNvPr id="59" name="nm 118"/>
          <p:cNvSpPr txBox="1"/>
          <p:nvPr/>
        </p:nvSpPr>
        <p:spPr>
          <a:xfrm>
            <a:off x="5363667" y="5667375"/>
            <a:ext cx="23311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헤어</a:t>
            </a:r>
          </a:p>
        </p:txBody>
      </p:sp>
      <p:sp>
        <p:nvSpPr>
          <p:cNvPr id="60" name="tv 119"/>
          <p:cNvSpPr txBox="1"/>
          <p:nvPr/>
        </p:nvSpPr>
        <p:spPr>
          <a:xfrm>
            <a:off x="6273620" y="1962150"/>
            <a:ext cx="48757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3,300억</a:t>
            </a:r>
          </a:p>
        </p:txBody>
      </p:sp>
      <p:sp>
        <p:nvSpPr>
          <p:cNvPr id="61" name="구성 조각 122"/>
          <p:cNvSpPr txBox="1"/>
          <p:nvPr/>
        </p:nvSpPr>
        <p:spPr>
          <a:xfrm>
            <a:off x="6390977" y="2779365"/>
            <a:ext cx="282023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40%</a:t>
            </a:r>
          </a:p>
        </p:txBody>
      </p:sp>
      <p:sp>
        <p:nvSpPr>
          <p:cNvPr id="62" name="구성 조각 125"/>
          <p:cNvSpPr txBox="1"/>
          <p:nvPr/>
        </p:nvSpPr>
        <p:spPr>
          <a:xfrm>
            <a:off x="6392912" y="4071045"/>
            <a:ext cx="27784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35%</a:t>
            </a:r>
          </a:p>
        </p:txBody>
      </p:sp>
      <p:sp>
        <p:nvSpPr>
          <p:cNvPr id="63" name="구성 조각 128"/>
          <p:cNvSpPr txBox="1"/>
          <p:nvPr/>
        </p:nvSpPr>
        <p:spPr>
          <a:xfrm>
            <a:off x="6394549" y="5096917"/>
            <a:ext cx="27443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25%</a:t>
            </a:r>
          </a:p>
        </p:txBody>
      </p:sp>
      <p:sp>
        <p:nvSpPr>
          <p:cNvPr id="64" name="nm 129"/>
          <p:cNvSpPr txBox="1"/>
          <p:nvPr/>
        </p:nvSpPr>
        <p:spPr>
          <a:xfrm>
            <a:off x="6400851" y="5667375"/>
            <a:ext cx="23311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바디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5325" y="6086475"/>
            <a:ext cx="21608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자사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37208" y="6086475"/>
            <a:ext cx="416683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경쟁사 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71973" y="6086475"/>
            <a:ext cx="41358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경쟁사 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03761" y="6086475"/>
            <a:ext cx="21608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기타</a:t>
            </a:r>
          </a:p>
        </p:txBody>
      </p:sp>
      <p:sp>
        <p:nvSpPr>
          <p:cNvPr id="69" name="열 제목 139"/>
          <p:cNvSpPr txBox="1"/>
          <p:nvPr/>
        </p:nvSpPr>
        <p:spPr>
          <a:xfrm>
            <a:off x="7273082" y="1600200"/>
            <a:ext cx="122773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이 도표가 말하는 것</a:t>
            </a:r>
          </a:p>
        </p:txBody>
      </p:sp>
      <p:sp>
        <p:nvSpPr>
          <p:cNvPr id="70" name="글머리표 140"/>
          <p:cNvSpPr txBox="1"/>
          <p:nvPr/>
        </p:nvSpPr>
        <p:spPr>
          <a:xfrm>
            <a:off x="7273082" y="3643312"/>
            <a:ext cx="4385518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스킨케어 1.1조 원 시장에서 12%를 차지한다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색조 시장은 경쟁사 A가 34%로 가장 크다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헤어와 바디는 2027년 진출을 검토한다</a:t>
            </a:r>
          </a:p>
        </p:txBody>
      </p:sp>
      <p:sp>
        <p:nvSpPr>
          <p:cNvPr id="71" name="출처 141"/>
          <p:cNvSpPr txBox="1"/>
          <p:nvPr/>
        </p:nvSpPr>
        <p:spPr>
          <a:xfrm>
            <a:off x="533400" y="6324600"/>
            <a:ext cx="137137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출처: 예시 데이터, 실제 수치 아님</a:t>
            </a:r>
          </a:p>
        </p:txBody>
      </p:sp>
      <p:sp>
        <p:nvSpPr>
          <p:cNvPr id="72" name="꼬리말 143"/>
          <p:cNvSpPr txBox="1"/>
          <p:nvPr/>
        </p:nvSpPr>
        <p:spPr>
          <a:xfrm>
            <a:off x="533400" y="6600825"/>
            <a:ext cx="115375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Hankki Lab | 도표 부품 견본</a:t>
            </a:r>
          </a:p>
        </p:txBody>
      </p:sp>
      <p:sp>
        <p:nvSpPr>
          <p:cNvPr id="73" name="pg 144"/>
          <p:cNvSpPr txBox="1"/>
          <p:nvPr/>
        </p:nvSpPr>
        <p:spPr>
          <a:xfrm>
            <a:off x="11556950" y="6600825"/>
            <a:ext cx="124766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90550"/>
            <a:ext cx="11125200" cy="704850"/>
          </a:xfrm>
        </p:spPr>
        <p:txBody>
          <a:bodyPr lIns="0" rIns="0" tIns="0" bIns="0" wrap="square" anchor="t">
            <a:noAutofit/>
          </a:bodyPr>
          <a:lstStyle/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도입 3개월 뒤 A 브랜드의 리뷰 전환율은</a:t>
            </a:r>
          </a:p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1.8%에서 5.2%로 3.4%p 상승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376362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33400" y="1852612"/>
            <a:ext cx="63586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533400" y="2933700"/>
            <a:ext cx="6358682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6" name="ln 10"/>
          <p:cNvSpPr/>
          <p:nvPr/>
        </p:nvSpPr>
        <p:spPr>
          <a:xfrm>
            <a:off x="3281065" y="2638425"/>
            <a:ext cx="2180183" cy="28575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d 11"/>
          <p:cNvSpPr/>
          <p:nvPr/>
        </p:nvSpPr>
        <p:spPr>
          <a:xfrm>
            <a:off x="3214390" y="2581275"/>
            <a:ext cx="133350" cy="1333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d 13"/>
          <p:cNvSpPr/>
          <p:nvPr/>
        </p:nvSpPr>
        <p:spPr>
          <a:xfrm>
            <a:off x="5394573" y="2581275"/>
            <a:ext cx="133350" cy="133350"/>
          </a:xfrm>
          <a:prstGeom prst="ellipse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>
            <a:off x="533400" y="3505200"/>
            <a:ext cx="6358682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10" name="ln 18"/>
          <p:cNvSpPr/>
          <p:nvPr/>
        </p:nvSpPr>
        <p:spPr>
          <a:xfrm>
            <a:off x="3472309" y="3209925"/>
            <a:ext cx="1223962" cy="28575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d 19"/>
          <p:cNvSpPr/>
          <p:nvPr/>
        </p:nvSpPr>
        <p:spPr>
          <a:xfrm>
            <a:off x="3405634" y="3152775"/>
            <a:ext cx="133350" cy="1333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d 21"/>
          <p:cNvSpPr/>
          <p:nvPr/>
        </p:nvSpPr>
        <p:spPr>
          <a:xfrm>
            <a:off x="4629596" y="3152775"/>
            <a:ext cx="133350" cy="1333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533400" y="4076700"/>
            <a:ext cx="6358682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14" name="ln 26"/>
          <p:cNvSpPr/>
          <p:nvPr/>
        </p:nvSpPr>
        <p:spPr>
          <a:xfrm>
            <a:off x="3778300" y="3781425"/>
            <a:ext cx="841474" cy="28575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d 27"/>
          <p:cNvSpPr/>
          <p:nvPr/>
        </p:nvSpPr>
        <p:spPr>
          <a:xfrm>
            <a:off x="3711625" y="3724275"/>
            <a:ext cx="133350" cy="1333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d 29"/>
          <p:cNvSpPr/>
          <p:nvPr/>
        </p:nvSpPr>
        <p:spPr>
          <a:xfrm>
            <a:off x="4553099" y="3724275"/>
            <a:ext cx="133350" cy="1333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7" name="Connector 16"/>
          <p:cNvCxnSpPr/>
          <p:nvPr/>
        </p:nvCxnSpPr>
        <p:spPr>
          <a:xfrm>
            <a:off x="533400" y="4648200"/>
            <a:ext cx="6358682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18" name="ln 34"/>
          <p:cNvSpPr/>
          <p:nvPr/>
        </p:nvSpPr>
        <p:spPr>
          <a:xfrm>
            <a:off x="4046041" y="4352925"/>
            <a:ext cx="497235" cy="28575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d 35"/>
          <p:cNvSpPr/>
          <p:nvPr/>
        </p:nvSpPr>
        <p:spPr>
          <a:xfrm>
            <a:off x="3979366" y="4295775"/>
            <a:ext cx="133350" cy="1333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d 37"/>
          <p:cNvSpPr/>
          <p:nvPr/>
        </p:nvSpPr>
        <p:spPr>
          <a:xfrm>
            <a:off x="4476601" y="4295775"/>
            <a:ext cx="133350" cy="1333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1" name="Connector 20"/>
          <p:cNvCxnSpPr/>
          <p:nvPr/>
        </p:nvCxnSpPr>
        <p:spPr>
          <a:xfrm>
            <a:off x="533400" y="5219700"/>
            <a:ext cx="6358682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22" name="ln 42"/>
          <p:cNvSpPr/>
          <p:nvPr/>
        </p:nvSpPr>
        <p:spPr>
          <a:xfrm>
            <a:off x="4237286" y="4924425"/>
            <a:ext cx="191244" cy="28575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d 43"/>
          <p:cNvSpPr/>
          <p:nvPr/>
        </p:nvSpPr>
        <p:spPr>
          <a:xfrm>
            <a:off x="4170611" y="4867275"/>
            <a:ext cx="133350" cy="133350"/>
          </a:xfrm>
          <a:prstGeom prst="ellipse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d 45"/>
          <p:cNvSpPr/>
          <p:nvPr/>
        </p:nvSpPr>
        <p:spPr>
          <a:xfrm>
            <a:off x="4361855" y="4867275"/>
            <a:ext cx="133350" cy="133350"/>
          </a:xfrm>
          <a:prstGeom prst="ellipse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c 52"/>
          <p:cNvSpPr/>
          <p:nvPr/>
        </p:nvSpPr>
        <p:spPr>
          <a:xfrm>
            <a:off x="533400" y="6100762"/>
            <a:ext cx="104775" cy="104775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a 54"/>
          <p:cNvSpPr/>
          <p:nvPr/>
        </p:nvSpPr>
        <p:spPr>
          <a:xfrm>
            <a:off x="1197322" y="6100762"/>
            <a:ext cx="104775" cy="104775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7" name="Connector 26"/>
          <p:cNvCxnSpPr/>
          <p:nvPr/>
        </p:nvCxnSpPr>
        <p:spPr>
          <a:xfrm>
            <a:off x="7273082" y="1852612"/>
            <a:ext cx="4385518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533400" y="6538912"/>
            <a:ext cx="11125200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29" name="회사명 62"/>
          <p:cNvSpPr txBox="1"/>
          <p:nvPr/>
        </p:nvSpPr>
        <p:spPr>
          <a:xfrm>
            <a:off x="533400" y="338138"/>
            <a:ext cx="59808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Hankki Lab</a:t>
            </a:r>
          </a:p>
        </p:txBody>
      </p:sp>
      <p:sp>
        <p:nvSpPr>
          <p:cNvPr id="30" name="키커 63"/>
          <p:cNvSpPr txBox="1"/>
          <p:nvPr/>
        </p:nvSpPr>
        <p:spPr>
          <a:xfrm>
            <a:off x="10846743" y="338138"/>
            <a:ext cx="863382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전후 비교 덤벨 p54</a:t>
            </a:r>
          </a:p>
        </p:txBody>
      </p:sp>
      <p:sp>
        <p:nvSpPr>
          <p:cNvPr id="31" name="축 제목 67"/>
          <p:cNvSpPr txBox="1"/>
          <p:nvPr/>
        </p:nvSpPr>
        <p:spPr>
          <a:xfrm>
            <a:off x="533400" y="1600200"/>
            <a:ext cx="208723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브랜드별 리뷰 페이지 구매 전환율</a:t>
            </a:r>
          </a:p>
        </p:txBody>
      </p:sp>
      <p:sp>
        <p:nvSpPr>
          <p:cNvPr id="32" name="u 68"/>
          <p:cNvSpPr txBox="1"/>
          <p:nvPr/>
        </p:nvSpPr>
        <p:spPr>
          <a:xfrm>
            <a:off x="5333256" y="1647825"/>
            <a:ext cx="164022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%, 도입 직전 3개월과 도입 뒤 3개월</a:t>
            </a:r>
          </a:p>
        </p:txBody>
      </p:sp>
      <p:sp>
        <p:nvSpPr>
          <p:cNvPr id="33" name="nm 70"/>
          <p:cNvSpPr txBox="1"/>
          <p:nvPr/>
        </p:nvSpPr>
        <p:spPr>
          <a:xfrm>
            <a:off x="533400" y="2562225"/>
            <a:ext cx="542675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A 브랜드</a:t>
            </a:r>
          </a:p>
        </p:txBody>
      </p:sp>
      <p:sp>
        <p:nvSpPr>
          <p:cNvPr id="34" name="d 73"/>
          <p:cNvSpPr txBox="1"/>
          <p:nvPr/>
        </p:nvSpPr>
        <p:spPr>
          <a:xfrm>
            <a:off x="2900065" y="2743200"/>
            <a:ext cx="76200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 SemiBold"/>
                <a:ea typeface="Pretendard SemiBold"/>
                <a:cs typeface="Pretendard SemiBold"/>
              </a:rPr>
              <a:t>1.8%</a:t>
            </a:r>
          </a:p>
        </p:txBody>
      </p:sp>
      <p:sp>
        <p:nvSpPr>
          <p:cNvPr id="35" name="d 75"/>
          <p:cNvSpPr txBox="1"/>
          <p:nvPr/>
        </p:nvSpPr>
        <p:spPr>
          <a:xfrm>
            <a:off x="5080248" y="2400300"/>
            <a:ext cx="76200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D9415F"/>
                </a:solidFill>
                <a:latin typeface="Pretendard SemiBold"/>
                <a:ea typeface="Pretendard SemiBold"/>
                <a:cs typeface="Pretendard SemiBold"/>
              </a:rPr>
              <a:t>5.2%</a:t>
            </a:r>
          </a:p>
        </p:txBody>
      </p:sp>
      <p:sp>
        <p:nvSpPr>
          <p:cNvPr id="36" name="val 76"/>
          <p:cNvSpPr txBox="1"/>
          <p:nvPr/>
        </p:nvSpPr>
        <p:spPr>
          <a:xfrm>
            <a:off x="6324177" y="2562225"/>
            <a:ext cx="567904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 latinLnBrk="0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D9415F"/>
                </a:solidFill>
                <a:latin typeface="Pretendard SemiBold"/>
                <a:ea typeface="Pretendard SemiBold"/>
                <a:cs typeface="Pretendard SemiBold"/>
              </a:rPr>
              <a:t>+3.4%p</a:t>
            </a:r>
          </a:p>
        </p:txBody>
      </p:sp>
      <p:sp>
        <p:nvSpPr>
          <p:cNvPr id="37" name="nm 78"/>
          <p:cNvSpPr txBox="1"/>
          <p:nvPr/>
        </p:nvSpPr>
        <p:spPr>
          <a:xfrm>
            <a:off x="533400" y="3133725"/>
            <a:ext cx="533698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B 브랜드</a:t>
            </a:r>
          </a:p>
        </p:txBody>
      </p:sp>
      <p:sp>
        <p:nvSpPr>
          <p:cNvPr id="38" name="d 81"/>
          <p:cNvSpPr txBox="1"/>
          <p:nvPr/>
        </p:nvSpPr>
        <p:spPr>
          <a:xfrm>
            <a:off x="3091309" y="3314700"/>
            <a:ext cx="76200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 SemiBold"/>
                <a:ea typeface="Pretendard SemiBold"/>
                <a:cs typeface="Pretendard SemiBold"/>
              </a:rPr>
              <a:t>2.1%</a:t>
            </a:r>
          </a:p>
        </p:txBody>
      </p:sp>
      <p:sp>
        <p:nvSpPr>
          <p:cNvPr id="39" name="d 83"/>
          <p:cNvSpPr txBox="1"/>
          <p:nvPr/>
        </p:nvSpPr>
        <p:spPr>
          <a:xfrm>
            <a:off x="4315271" y="2971800"/>
            <a:ext cx="76200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4.0%</a:t>
            </a:r>
          </a:p>
        </p:txBody>
      </p:sp>
      <p:sp>
        <p:nvSpPr>
          <p:cNvPr id="40" name="val 84"/>
          <p:cNvSpPr txBox="1"/>
          <p:nvPr/>
        </p:nvSpPr>
        <p:spPr>
          <a:xfrm>
            <a:off x="6355134" y="3133725"/>
            <a:ext cx="536948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 latinLnBrk="0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+1.9%p</a:t>
            </a:r>
          </a:p>
        </p:txBody>
      </p:sp>
      <p:sp>
        <p:nvSpPr>
          <p:cNvPr id="41" name="nm 86"/>
          <p:cNvSpPr txBox="1"/>
          <p:nvPr/>
        </p:nvSpPr>
        <p:spPr>
          <a:xfrm>
            <a:off x="533400" y="3705225"/>
            <a:ext cx="544687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C 브랜드</a:t>
            </a:r>
          </a:p>
        </p:txBody>
      </p:sp>
      <p:sp>
        <p:nvSpPr>
          <p:cNvPr id="42" name="d 89"/>
          <p:cNvSpPr txBox="1"/>
          <p:nvPr/>
        </p:nvSpPr>
        <p:spPr>
          <a:xfrm>
            <a:off x="3397300" y="3886200"/>
            <a:ext cx="76200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 SemiBold"/>
                <a:ea typeface="Pretendard SemiBold"/>
                <a:cs typeface="Pretendard SemiBold"/>
              </a:rPr>
              <a:t>2.6%</a:t>
            </a:r>
          </a:p>
        </p:txBody>
      </p:sp>
      <p:sp>
        <p:nvSpPr>
          <p:cNvPr id="43" name="d 91"/>
          <p:cNvSpPr txBox="1"/>
          <p:nvPr/>
        </p:nvSpPr>
        <p:spPr>
          <a:xfrm>
            <a:off x="4238774" y="3543300"/>
            <a:ext cx="76200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3.9%</a:t>
            </a:r>
          </a:p>
        </p:txBody>
      </p:sp>
      <p:sp>
        <p:nvSpPr>
          <p:cNvPr id="44" name="val 92"/>
          <p:cNvSpPr txBox="1"/>
          <p:nvPr/>
        </p:nvSpPr>
        <p:spPr>
          <a:xfrm>
            <a:off x="6356991" y="3705225"/>
            <a:ext cx="535091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 latinLnBrk="0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+1.3%p</a:t>
            </a:r>
          </a:p>
        </p:txBody>
      </p:sp>
      <p:sp>
        <p:nvSpPr>
          <p:cNvPr id="45" name="nm 94"/>
          <p:cNvSpPr txBox="1"/>
          <p:nvPr/>
        </p:nvSpPr>
        <p:spPr>
          <a:xfrm>
            <a:off x="533400" y="4276725"/>
            <a:ext cx="543604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D 브랜드</a:t>
            </a:r>
          </a:p>
        </p:txBody>
      </p:sp>
      <p:sp>
        <p:nvSpPr>
          <p:cNvPr id="46" name="d 97"/>
          <p:cNvSpPr txBox="1"/>
          <p:nvPr/>
        </p:nvSpPr>
        <p:spPr>
          <a:xfrm>
            <a:off x="3665041" y="4457700"/>
            <a:ext cx="76200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 SemiBold"/>
                <a:ea typeface="Pretendard SemiBold"/>
                <a:cs typeface="Pretendard SemiBold"/>
              </a:rPr>
              <a:t>3.0%</a:t>
            </a:r>
          </a:p>
        </p:txBody>
      </p:sp>
      <p:sp>
        <p:nvSpPr>
          <p:cNvPr id="47" name="d 99"/>
          <p:cNvSpPr txBox="1"/>
          <p:nvPr/>
        </p:nvSpPr>
        <p:spPr>
          <a:xfrm>
            <a:off x="4162276" y="4114800"/>
            <a:ext cx="76200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3.8%</a:t>
            </a:r>
          </a:p>
        </p:txBody>
      </p:sp>
      <p:sp>
        <p:nvSpPr>
          <p:cNvPr id="48" name="val 100"/>
          <p:cNvSpPr txBox="1"/>
          <p:nvPr/>
        </p:nvSpPr>
        <p:spPr>
          <a:xfrm>
            <a:off x="6329285" y="4276725"/>
            <a:ext cx="562797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 latinLnBrk="0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+0.8%p</a:t>
            </a:r>
          </a:p>
        </p:txBody>
      </p:sp>
      <p:sp>
        <p:nvSpPr>
          <p:cNvPr id="49" name="nm 102"/>
          <p:cNvSpPr txBox="1"/>
          <p:nvPr/>
        </p:nvSpPr>
        <p:spPr>
          <a:xfrm>
            <a:off x="533400" y="4848225"/>
            <a:ext cx="525959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E 브랜드</a:t>
            </a:r>
          </a:p>
        </p:txBody>
      </p:sp>
      <p:sp>
        <p:nvSpPr>
          <p:cNvPr id="50" name="d 105"/>
          <p:cNvSpPr txBox="1"/>
          <p:nvPr/>
        </p:nvSpPr>
        <p:spPr>
          <a:xfrm>
            <a:off x="3856286" y="5029200"/>
            <a:ext cx="76200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 SemiBold"/>
                <a:ea typeface="Pretendard SemiBold"/>
                <a:cs typeface="Pretendard SemiBold"/>
              </a:rPr>
              <a:t>3.3%</a:t>
            </a:r>
          </a:p>
        </p:txBody>
      </p:sp>
      <p:sp>
        <p:nvSpPr>
          <p:cNvPr id="51" name="d 107"/>
          <p:cNvSpPr txBox="1"/>
          <p:nvPr/>
        </p:nvSpPr>
        <p:spPr>
          <a:xfrm>
            <a:off x="4047530" y="4686300"/>
            <a:ext cx="76200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3.6%</a:t>
            </a:r>
          </a:p>
        </p:txBody>
      </p:sp>
      <p:sp>
        <p:nvSpPr>
          <p:cNvPr id="52" name="val 108"/>
          <p:cNvSpPr txBox="1"/>
          <p:nvPr/>
        </p:nvSpPr>
        <p:spPr>
          <a:xfrm>
            <a:off x="6328666" y="4848225"/>
            <a:ext cx="563416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 latinLnBrk="0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+0.3%p</a:t>
            </a:r>
          </a:p>
        </p:txBody>
      </p:sp>
      <p:sp>
        <p:nvSpPr>
          <p:cNvPr id="53" name="tk 109"/>
          <p:cNvSpPr txBox="1"/>
          <p:nvPr/>
        </p:nvSpPr>
        <p:spPr>
          <a:xfrm>
            <a:off x="2133600" y="5281612"/>
            <a:ext cx="8699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54" name="tk 110"/>
          <p:cNvSpPr txBox="1"/>
          <p:nvPr/>
        </p:nvSpPr>
        <p:spPr>
          <a:xfrm>
            <a:off x="3916859" y="5281612"/>
            <a:ext cx="18760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3%</a:t>
            </a:r>
          </a:p>
        </p:txBody>
      </p:sp>
      <p:sp>
        <p:nvSpPr>
          <p:cNvPr id="55" name="tk 111"/>
          <p:cNvSpPr txBox="1"/>
          <p:nvPr/>
        </p:nvSpPr>
        <p:spPr>
          <a:xfrm>
            <a:off x="5796855" y="5281612"/>
            <a:ext cx="18729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6%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5325" y="6086475"/>
            <a:ext cx="34300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도입 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59247" y="6086475"/>
            <a:ext cx="34300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도입 후</a:t>
            </a:r>
          </a:p>
        </p:txBody>
      </p:sp>
      <p:sp>
        <p:nvSpPr>
          <p:cNvPr id="58" name="열 제목 117"/>
          <p:cNvSpPr txBox="1"/>
          <p:nvPr/>
        </p:nvSpPr>
        <p:spPr>
          <a:xfrm>
            <a:off x="7273082" y="1600200"/>
            <a:ext cx="122773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이 도표가 말하는 것</a:t>
            </a:r>
          </a:p>
        </p:txBody>
      </p:sp>
      <p:sp>
        <p:nvSpPr>
          <p:cNvPr id="59" name="글머리표 118"/>
          <p:cNvSpPr txBox="1"/>
          <p:nvPr/>
        </p:nvSpPr>
        <p:spPr>
          <a:xfrm>
            <a:off x="7273082" y="3643312"/>
            <a:ext cx="4385518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다섯 곳 모두 전환율이 올랐다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도입 전 전환율이 낮았던 브랜드일수록 크게 올랐다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E 브랜드는 이미 3%를 넘어 상승 폭이 0.3%p다</a:t>
            </a:r>
          </a:p>
        </p:txBody>
      </p:sp>
      <p:sp>
        <p:nvSpPr>
          <p:cNvPr id="60" name="출처 119"/>
          <p:cNvSpPr txBox="1"/>
          <p:nvPr/>
        </p:nvSpPr>
        <p:spPr>
          <a:xfrm>
            <a:off x="533400" y="6324600"/>
            <a:ext cx="137137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출처: 예시 데이터, 실제 수치 아님</a:t>
            </a:r>
          </a:p>
        </p:txBody>
      </p:sp>
      <p:sp>
        <p:nvSpPr>
          <p:cNvPr id="61" name="꼬리말 121"/>
          <p:cNvSpPr txBox="1"/>
          <p:nvPr/>
        </p:nvSpPr>
        <p:spPr>
          <a:xfrm>
            <a:off x="533400" y="6600825"/>
            <a:ext cx="115375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Hankki Lab | 도표 부품 견본</a:t>
            </a:r>
          </a:p>
        </p:txBody>
      </p:sp>
      <p:sp>
        <p:nvSpPr>
          <p:cNvPr id="62" name="pg 122"/>
          <p:cNvSpPr txBox="1"/>
          <p:nvPr/>
        </p:nvSpPr>
        <p:spPr>
          <a:xfrm>
            <a:off x="11556504" y="6600825"/>
            <a:ext cx="125230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90550"/>
            <a:ext cx="11125200" cy="704850"/>
          </a:xfrm>
        </p:spPr>
        <p:txBody>
          <a:bodyPr lIns="0" rIns="0" tIns="0" bIns="0" wrap="square" anchor="t">
            <a:noAutofit/>
          </a:bodyPr>
          <a:lstStyle/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브랜드사 광고비는 인스타그램에서 4.2억 원 증가,</a:t>
            </a:r>
          </a:p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TV에서 3.0억 원 감소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376362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33400" y="1852612"/>
            <a:ext cx="63586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4431804" y="2662238"/>
            <a:ext cx="0" cy="24765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533400" y="3324225"/>
            <a:ext cx="6358682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4431804" y="2909888"/>
            <a:ext cx="0" cy="409574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sp>
        <p:nvSpPr>
          <p:cNvPr id="8" name="막대 14"/>
          <p:cNvSpPr/>
          <p:nvPr/>
        </p:nvSpPr>
        <p:spPr>
          <a:xfrm>
            <a:off x="4436566" y="3019425"/>
            <a:ext cx="1915269" cy="190500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>
            <a:off x="533400" y="3743325"/>
            <a:ext cx="6358682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4431804" y="3328988"/>
            <a:ext cx="0" cy="409574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sp>
        <p:nvSpPr>
          <p:cNvPr id="11" name="막대 19"/>
          <p:cNvSpPr/>
          <p:nvPr/>
        </p:nvSpPr>
        <p:spPr>
          <a:xfrm>
            <a:off x="4436566" y="3438525"/>
            <a:ext cx="1276796" cy="19050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2" name="Connector 11"/>
          <p:cNvCxnSpPr/>
          <p:nvPr/>
        </p:nvCxnSpPr>
        <p:spPr>
          <a:xfrm>
            <a:off x="533400" y="4162425"/>
            <a:ext cx="6358682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4431804" y="3748088"/>
            <a:ext cx="0" cy="409574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sp>
        <p:nvSpPr>
          <p:cNvPr id="14" name="막대 24"/>
          <p:cNvSpPr/>
          <p:nvPr/>
        </p:nvSpPr>
        <p:spPr>
          <a:xfrm>
            <a:off x="4436566" y="3857625"/>
            <a:ext cx="736550" cy="19050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>
            <a:off x="533400" y="4581525"/>
            <a:ext cx="6358682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431804" y="4167188"/>
            <a:ext cx="0" cy="409574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sp>
        <p:nvSpPr>
          <p:cNvPr id="17" name="막대 29"/>
          <p:cNvSpPr/>
          <p:nvPr/>
        </p:nvSpPr>
        <p:spPr>
          <a:xfrm>
            <a:off x="4436566" y="4276725"/>
            <a:ext cx="220861" cy="19050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8" name="Connector 17"/>
          <p:cNvCxnSpPr/>
          <p:nvPr/>
        </p:nvCxnSpPr>
        <p:spPr>
          <a:xfrm>
            <a:off x="533400" y="5000625"/>
            <a:ext cx="6358682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19" name="막대 34"/>
          <p:cNvSpPr/>
          <p:nvPr/>
        </p:nvSpPr>
        <p:spPr>
          <a:xfrm>
            <a:off x="3786188" y="4695825"/>
            <a:ext cx="640854" cy="19050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0" name="Connector 19"/>
          <p:cNvCxnSpPr/>
          <p:nvPr/>
        </p:nvCxnSpPr>
        <p:spPr>
          <a:xfrm>
            <a:off x="4431804" y="4586288"/>
            <a:ext cx="0" cy="409574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sp>
        <p:nvSpPr>
          <p:cNvPr id="21" name="막대 38"/>
          <p:cNvSpPr/>
          <p:nvPr/>
        </p:nvSpPr>
        <p:spPr>
          <a:xfrm>
            <a:off x="3046809" y="5119688"/>
            <a:ext cx="1380232" cy="19050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2" name="Connector 21"/>
          <p:cNvCxnSpPr/>
          <p:nvPr/>
        </p:nvCxnSpPr>
        <p:spPr>
          <a:xfrm>
            <a:off x="4431804" y="5005388"/>
            <a:ext cx="0" cy="41910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7273082" y="1852612"/>
            <a:ext cx="4385518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533400" y="6538912"/>
            <a:ext cx="11125200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25" name="회사명 47"/>
          <p:cNvSpPr txBox="1"/>
          <p:nvPr/>
        </p:nvSpPr>
        <p:spPr>
          <a:xfrm>
            <a:off x="533400" y="338138"/>
            <a:ext cx="59808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Hankki Lab</a:t>
            </a:r>
          </a:p>
        </p:txBody>
      </p:sp>
      <p:sp>
        <p:nvSpPr>
          <p:cNvPr id="26" name="키커 48"/>
          <p:cNvSpPr txBox="1"/>
          <p:nvPr/>
        </p:nvSpPr>
        <p:spPr>
          <a:xfrm>
            <a:off x="10849719" y="338138"/>
            <a:ext cx="860286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증감 가로 막대 p55</a:t>
            </a:r>
          </a:p>
        </p:txBody>
      </p:sp>
      <p:sp>
        <p:nvSpPr>
          <p:cNvPr id="27" name="축 제목 52"/>
          <p:cNvSpPr txBox="1"/>
          <p:nvPr/>
        </p:nvSpPr>
        <p:spPr>
          <a:xfrm>
            <a:off x="533400" y="1600200"/>
            <a:ext cx="296252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채널별 광고비 증감 (고객 브랜드사 214곳 합계)</a:t>
            </a:r>
          </a:p>
        </p:txBody>
      </p:sp>
      <p:sp>
        <p:nvSpPr>
          <p:cNvPr id="28" name="u 53"/>
          <p:cNvSpPr txBox="1"/>
          <p:nvPr/>
        </p:nvSpPr>
        <p:spPr>
          <a:xfrm>
            <a:off x="5062538" y="1647825"/>
            <a:ext cx="192177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억 원, 2026년 1~9월, 전년 같은 기간 대비</a:t>
            </a:r>
          </a:p>
        </p:txBody>
      </p:sp>
      <p:sp>
        <p:nvSpPr>
          <p:cNvPr id="29" name="l 54"/>
          <p:cNvSpPr txBox="1"/>
          <p:nvPr/>
        </p:nvSpPr>
        <p:spPr>
          <a:xfrm>
            <a:off x="4134148" y="2719388"/>
            <a:ext cx="22460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감소</a:t>
            </a:r>
          </a:p>
        </p:txBody>
      </p:sp>
      <p:sp>
        <p:nvSpPr>
          <p:cNvPr id="30" name="r 56"/>
          <p:cNvSpPr txBox="1"/>
          <p:nvPr/>
        </p:nvSpPr>
        <p:spPr>
          <a:xfrm>
            <a:off x="4531816" y="2719388"/>
            <a:ext cx="22460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증가</a:t>
            </a:r>
          </a:p>
        </p:txBody>
      </p:sp>
      <p:sp>
        <p:nvSpPr>
          <p:cNvPr id="31" name="nm 58"/>
          <p:cNvSpPr txBox="1"/>
          <p:nvPr/>
        </p:nvSpPr>
        <p:spPr>
          <a:xfrm>
            <a:off x="533400" y="3028950"/>
            <a:ext cx="661237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인스타그램</a:t>
            </a:r>
          </a:p>
        </p:txBody>
      </p:sp>
      <p:sp>
        <p:nvSpPr>
          <p:cNvPr id="32" name="v 61"/>
          <p:cNvSpPr txBox="1"/>
          <p:nvPr/>
        </p:nvSpPr>
        <p:spPr>
          <a:xfrm>
            <a:off x="6428036" y="3038475"/>
            <a:ext cx="31654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D9415F"/>
                </a:solidFill>
                <a:latin typeface="Pretendard SemiBold"/>
                <a:ea typeface="Pretendard SemiBold"/>
                <a:cs typeface="Pretendard SemiBold"/>
              </a:rPr>
              <a:t>+4.2</a:t>
            </a:r>
          </a:p>
        </p:txBody>
      </p:sp>
      <p:sp>
        <p:nvSpPr>
          <p:cNvPr id="33" name="nm 63"/>
          <p:cNvSpPr txBox="1"/>
          <p:nvPr/>
        </p:nvSpPr>
        <p:spPr>
          <a:xfrm>
            <a:off x="533400" y="3448050"/>
            <a:ext cx="404455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유튜브</a:t>
            </a:r>
          </a:p>
        </p:txBody>
      </p:sp>
      <p:sp>
        <p:nvSpPr>
          <p:cNvPr id="34" name="v 66"/>
          <p:cNvSpPr txBox="1"/>
          <p:nvPr/>
        </p:nvSpPr>
        <p:spPr>
          <a:xfrm>
            <a:off x="5789563" y="3457575"/>
            <a:ext cx="31034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+2.8</a:t>
            </a:r>
          </a:p>
        </p:txBody>
      </p:sp>
      <p:sp>
        <p:nvSpPr>
          <p:cNvPr id="35" name="nm 68"/>
          <p:cNvSpPr txBox="1"/>
          <p:nvPr/>
        </p:nvSpPr>
        <p:spPr>
          <a:xfrm>
            <a:off x="533400" y="3867150"/>
            <a:ext cx="275987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틱톡</a:t>
            </a:r>
          </a:p>
        </p:txBody>
      </p:sp>
      <p:sp>
        <p:nvSpPr>
          <p:cNvPr id="36" name="v 71"/>
          <p:cNvSpPr txBox="1"/>
          <p:nvPr/>
        </p:nvSpPr>
        <p:spPr>
          <a:xfrm>
            <a:off x="5249317" y="3876675"/>
            <a:ext cx="288524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+1.6</a:t>
            </a:r>
          </a:p>
        </p:txBody>
      </p:sp>
      <p:sp>
        <p:nvSpPr>
          <p:cNvPr id="37" name="nm 73"/>
          <p:cNvSpPr txBox="1"/>
          <p:nvPr/>
        </p:nvSpPr>
        <p:spPr>
          <a:xfrm>
            <a:off x="533400" y="4286250"/>
            <a:ext cx="404455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블로그</a:t>
            </a:r>
          </a:p>
        </p:txBody>
      </p:sp>
      <p:sp>
        <p:nvSpPr>
          <p:cNvPr id="38" name="v 76"/>
          <p:cNvSpPr txBox="1"/>
          <p:nvPr/>
        </p:nvSpPr>
        <p:spPr>
          <a:xfrm>
            <a:off x="4733627" y="4295775"/>
            <a:ext cx="315456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+0.5</a:t>
            </a:r>
          </a:p>
        </p:txBody>
      </p:sp>
      <p:sp>
        <p:nvSpPr>
          <p:cNvPr id="39" name="nm 78"/>
          <p:cNvSpPr txBox="1"/>
          <p:nvPr/>
        </p:nvSpPr>
        <p:spPr>
          <a:xfrm>
            <a:off x="533400" y="4705350"/>
            <a:ext cx="570071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검색 광고</a:t>
            </a:r>
          </a:p>
        </p:txBody>
      </p:sp>
      <p:sp>
        <p:nvSpPr>
          <p:cNvPr id="40" name="v 79"/>
          <p:cNvSpPr txBox="1"/>
          <p:nvPr/>
        </p:nvSpPr>
        <p:spPr>
          <a:xfrm>
            <a:off x="3472309" y="4714875"/>
            <a:ext cx="266236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8F1D14"/>
                </a:solidFill>
                <a:latin typeface="Pretendard SemiBold"/>
                <a:ea typeface="Pretendard SemiBold"/>
                <a:cs typeface="Pretendard SemiBold"/>
              </a:rPr>
              <a:t>-1.4</a:t>
            </a:r>
          </a:p>
        </p:txBody>
      </p:sp>
      <p:sp>
        <p:nvSpPr>
          <p:cNvPr id="41" name="nm 82"/>
          <p:cNvSpPr txBox="1"/>
          <p:nvPr/>
        </p:nvSpPr>
        <p:spPr>
          <a:xfrm>
            <a:off x="533400" y="5129212"/>
            <a:ext cx="205871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TV</a:t>
            </a:r>
          </a:p>
        </p:txBody>
      </p:sp>
      <p:sp>
        <p:nvSpPr>
          <p:cNvPr id="42" name="v 83"/>
          <p:cNvSpPr txBox="1"/>
          <p:nvPr/>
        </p:nvSpPr>
        <p:spPr>
          <a:xfrm>
            <a:off x="2712988" y="5138738"/>
            <a:ext cx="286976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8F1D14"/>
                </a:solidFill>
                <a:latin typeface="Pretendard SemiBold"/>
                <a:ea typeface="Pretendard SemiBold"/>
                <a:cs typeface="Pretendard SemiBold"/>
              </a:rPr>
              <a:t>-3.0</a:t>
            </a:r>
          </a:p>
        </p:txBody>
      </p:sp>
      <p:sp>
        <p:nvSpPr>
          <p:cNvPr id="43" name="열 제목 87"/>
          <p:cNvSpPr txBox="1"/>
          <p:nvPr/>
        </p:nvSpPr>
        <p:spPr>
          <a:xfrm>
            <a:off x="7273082" y="1600200"/>
            <a:ext cx="122773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이 도표가 말하는 것</a:t>
            </a:r>
          </a:p>
        </p:txBody>
      </p:sp>
      <p:sp>
        <p:nvSpPr>
          <p:cNvPr id="44" name="글머리표 88"/>
          <p:cNvSpPr txBox="1"/>
          <p:nvPr/>
        </p:nvSpPr>
        <p:spPr>
          <a:xfrm>
            <a:off x="7273082" y="3643312"/>
            <a:ext cx="4385518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늘어난 돈은 짧은 영상 채널로 갔다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검색 광고와 TV에서 4.4억 원이 빠졌다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블로그는 0.5억 원으로 거의 그대로다</a:t>
            </a:r>
          </a:p>
        </p:txBody>
      </p:sp>
      <p:sp>
        <p:nvSpPr>
          <p:cNvPr id="45" name="출처 89"/>
          <p:cNvSpPr txBox="1"/>
          <p:nvPr/>
        </p:nvSpPr>
        <p:spPr>
          <a:xfrm>
            <a:off x="533400" y="6324600"/>
            <a:ext cx="137137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출처: 예시 데이터, 실제 수치 아님</a:t>
            </a:r>
          </a:p>
        </p:txBody>
      </p:sp>
      <p:sp>
        <p:nvSpPr>
          <p:cNvPr id="46" name="꼬리말 91"/>
          <p:cNvSpPr txBox="1"/>
          <p:nvPr/>
        </p:nvSpPr>
        <p:spPr>
          <a:xfrm>
            <a:off x="533400" y="6600825"/>
            <a:ext cx="115375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Hankki Lab | 도표 부품 견본</a:t>
            </a:r>
          </a:p>
        </p:txBody>
      </p:sp>
      <p:sp>
        <p:nvSpPr>
          <p:cNvPr id="47" name="pg 92"/>
          <p:cNvSpPr txBox="1"/>
          <p:nvPr/>
        </p:nvSpPr>
        <p:spPr>
          <a:xfrm>
            <a:off x="11543109" y="6600825"/>
            <a:ext cx="139160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90550"/>
            <a:ext cx="11125200" cy="704850"/>
          </a:xfrm>
        </p:spPr>
        <p:txBody>
          <a:bodyPr lIns="0" rIns="0" tIns="0" bIns="0" wrap="square" anchor="t">
            <a:noAutofit/>
          </a:bodyPr>
          <a:lstStyle/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3분기 매출 목표를 서울은 115% 달성,</a:t>
            </a:r>
          </a:p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광주는 60%에 그침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376362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33400" y="1852612"/>
            <a:ext cx="63586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533400" y="2790825"/>
            <a:ext cx="6358682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533400" y="3286125"/>
            <a:ext cx="6358682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7" name="trk 13"/>
          <p:cNvSpPr/>
          <p:nvPr/>
        </p:nvSpPr>
        <p:spPr>
          <a:xfrm>
            <a:off x="2000250" y="2924175"/>
            <a:ext cx="2758232" cy="228600"/>
          </a:xfrm>
          <a:prstGeom prst="rect">
            <a:avLst/>
          </a:prstGeom>
          <a:solidFill>
            <a:srgbClr val="E7E7E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막대 14"/>
          <p:cNvSpPr/>
          <p:nvPr/>
        </p:nvSpPr>
        <p:spPr>
          <a:xfrm>
            <a:off x="2000250" y="2924175"/>
            <a:ext cx="2537520" cy="228600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tm 15"/>
          <p:cNvSpPr/>
          <p:nvPr/>
        </p:nvSpPr>
        <p:spPr>
          <a:xfrm>
            <a:off x="4197251" y="2867025"/>
            <a:ext cx="28575" cy="342900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0" name="Connector 9"/>
          <p:cNvCxnSpPr/>
          <p:nvPr/>
        </p:nvCxnSpPr>
        <p:spPr>
          <a:xfrm>
            <a:off x="533400" y="3781425"/>
            <a:ext cx="6358682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11" name="trk 20"/>
          <p:cNvSpPr/>
          <p:nvPr/>
        </p:nvSpPr>
        <p:spPr>
          <a:xfrm>
            <a:off x="2000250" y="3419475"/>
            <a:ext cx="2758232" cy="228600"/>
          </a:xfrm>
          <a:prstGeom prst="rect">
            <a:avLst/>
          </a:prstGeom>
          <a:solidFill>
            <a:srgbClr val="E7E7E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막대 21"/>
          <p:cNvSpPr/>
          <p:nvPr/>
        </p:nvSpPr>
        <p:spPr>
          <a:xfrm>
            <a:off x="2000250" y="3419475"/>
            <a:ext cx="1710035" cy="22860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m 22"/>
          <p:cNvSpPr/>
          <p:nvPr/>
        </p:nvSpPr>
        <p:spPr>
          <a:xfrm>
            <a:off x="3645545" y="3362325"/>
            <a:ext cx="28575" cy="342900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4" name="Connector 13"/>
          <p:cNvCxnSpPr/>
          <p:nvPr/>
        </p:nvCxnSpPr>
        <p:spPr>
          <a:xfrm>
            <a:off x="533400" y="4276725"/>
            <a:ext cx="6358682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15" name="trk 27"/>
          <p:cNvSpPr/>
          <p:nvPr/>
        </p:nvSpPr>
        <p:spPr>
          <a:xfrm>
            <a:off x="2000250" y="3914775"/>
            <a:ext cx="2758232" cy="228600"/>
          </a:xfrm>
          <a:prstGeom prst="rect">
            <a:avLst/>
          </a:prstGeom>
          <a:solidFill>
            <a:srgbClr val="E7E7E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막대 28"/>
          <p:cNvSpPr/>
          <p:nvPr/>
        </p:nvSpPr>
        <p:spPr>
          <a:xfrm>
            <a:off x="2000250" y="3914775"/>
            <a:ext cx="992832" cy="22860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m 29"/>
          <p:cNvSpPr/>
          <p:nvPr/>
        </p:nvSpPr>
        <p:spPr>
          <a:xfrm>
            <a:off x="3093988" y="3857625"/>
            <a:ext cx="28575" cy="342900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8" name="Connector 17"/>
          <p:cNvCxnSpPr/>
          <p:nvPr/>
        </p:nvCxnSpPr>
        <p:spPr>
          <a:xfrm>
            <a:off x="533400" y="4772025"/>
            <a:ext cx="6358682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19" name="trk 34"/>
          <p:cNvSpPr/>
          <p:nvPr/>
        </p:nvSpPr>
        <p:spPr>
          <a:xfrm>
            <a:off x="2000250" y="4410075"/>
            <a:ext cx="2758232" cy="228600"/>
          </a:xfrm>
          <a:prstGeom prst="rect">
            <a:avLst/>
          </a:prstGeom>
          <a:solidFill>
            <a:srgbClr val="E7E7E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막대 35"/>
          <p:cNvSpPr/>
          <p:nvPr/>
        </p:nvSpPr>
        <p:spPr>
          <a:xfrm>
            <a:off x="2000250" y="4410075"/>
            <a:ext cx="606772" cy="22860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m 36"/>
          <p:cNvSpPr/>
          <p:nvPr/>
        </p:nvSpPr>
        <p:spPr>
          <a:xfrm>
            <a:off x="2818061" y="4352925"/>
            <a:ext cx="28575" cy="342900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rk 40"/>
          <p:cNvSpPr/>
          <p:nvPr/>
        </p:nvSpPr>
        <p:spPr>
          <a:xfrm>
            <a:off x="2000250" y="4910138"/>
            <a:ext cx="2758232" cy="228600"/>
          </a:xfrm>
          <a:prstGeom prst="rect">
            <a:avLst/>
          </a:prstGeom>
          <a:solidFill>
            <a:srgbClr val="E7E7E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막대 41"/>
          <p:cNvSpPr/>
          <p:nvPr/>
        </p:nvSpPr>
        <p:spPr>
          <a:xfrm>
            <a:off x="2000250" y="4910138"/>
            <a:ext cx="330845" cy="228600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tm 42"/>
          <p:cNvSpPr/>
          <p:nvPr/>
        </p:nvSpPr>
        <p:spPr>
          <a:xfrm>
            <a:off x="2542282" y="4852988"/>
            <a:ext cx="28575" cy="342900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c 46"/>
          <p:cNvSpPr/>
          <p:nvPr/>
        </p:nvSpPr>
        <p:spPr>
          <a:xfrm>
            <a:off x="533400" y="6100762"/>
            <a:ext cx="104775" cy="104775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m 48"/>
          <p:cNvSpPr/>
          <p:nvPr/>
        </p:nvSpPr>
        <p:spPr>
          <a:xfrm>
            <a:off x="1075283" y="6086475"/>
            <a:ext cx="28575" cy="133350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7" name="Connector 26"/>
          <p:cNvCxnSpPr/>
          <p:nvPr/>
        </p:nvCxnSpPr>
        <p:spPr>
          <a:xfrm>
            <a:off x="7273082" y="1852612"/>
            <a:ext cx="4385518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533400" y="6538912"/>
            <a:ext cx="11125200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29" name="회사명 56"/>
          <p:cNvSpPr txBox="1"/>
          <p:nvPr/>
        </p:nvSpPr>
        <p:spPr>
          <a:xfrm>
            <a:off x="533400" y="338138"/>
            <a:ext cx="59808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Hankki Lab</a:t>
            </a:r>
          </a:p>
        </p:txBody>
      </p:sp>
      <p:sp>
        <p:nvSpPr>
          <p:cNvPr id="30" name="키커 57"/>
          <p:cNvSpPr txBox="1"/>
          <p:nvPr/>
        </p:nvSpPr>
        <p:spPr>
          <a:xfrm>
            <a:off x="10847933" y="338138"/>
            <a:ext cx="862143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목표 대비 달성 p56</a:t>
            </a:r>
          </a:p>
        </p:txBody>
      </p:sp>
      <p:sp>
        <p:nvSpPr>
          <p:cNvPr id="31" name="축 제목 61"/>
          <p:cNvSpPr txBox="1"/>
          <p:nvPr/>
        </p:nvSpPr>
        <p:spPr>
          <a:xfrm>
            <a:off x="533400" y="1600200"/>
            <a:ext cx="115328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지역별 3분기 매출</a:t>
            </a:r>
          </a:p>
        </p:txBody>
      </p:sp>
      <p:sp>
        <p:nvSpPr>
          <p:cNvPr id="32" name="u 62"/>
          <p:cNvSpPr txBox="1"/>
          <p:nvPr/>
        </p:nvSpPr>
        <p:spPr>
          <a:xfrm>
            <a:off x="5945535" y="1647825"/>
            <a:ext cx="100345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억 원, 2026년 7~9월</a:t>
            </a:r>
          </a:p>
        </p:txBody>
      </p:sp>
      <p:sp>
        <p:nvSpPr>
          <p:cNvPr id="33" name="val 64"/>
          <p:cNvSpPr txBox="1"/>
          <p:nvPr/>
        </p:nvSpPr>
        <p:spPr>
          <a:xfrm>
            <a:off x="5505468" y="2624138"/>
            <a:ext cx="52936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 latinLnBrk="0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실적 / 목표</a:t>
            </a:r>
          </a:p>
        </p:txBody>
      </p:sp>
      <p:sp>
        <p:nvSpPr>
          <p:cNvPr id="34" name="rt 65"/>
          <p:cNvSpPr txBox="1"/>
          <p:nvPr/>
        </p:nvSpPr>
        <p:spPr>
          <a:xfrm>
            <a:off x="6564707" y="2619375"/>
            <a:ext cx="32737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 latinLnBrk="0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달성률</a:t>
            </a:r>
          </a:p>
        </p:txBody>
      </p:sp>
      <p:sp>
        <p:nvSpPr>
          <p:cNvPr id="35" name="nm 67"/>
          <p:cNvSpPr txBox="1"/>
          <p:nvPr/>
        </p:nvSpPr>
        <p:spPr>
          <a:xfrm>
            <a:off x="533400" y="2952750"/>
            <a:ext cx="275987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서울</a:t>
            </a:r>
          </a:p>
        </p:txBody>
      </p:sp>
      <p:sp>
        <p:nvSpPr>
          <p:cNvPr id="36" name="val 71"/>
          <p:cNvSpPr txBox="1"/>
          <p:nvPr/>
        </p:nvSpPr>
        <p:spPr>
          <a:xfrm>
            <a:off x="5478226" y="2957512"/>
            <a:ext cx="55660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 latinLnBrk="0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4.6 </a:t>
            </a:r>
            <a:r>
              <a:rPr sz="11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/ 4.0</a:t>
            </a:r>
          </a:p>
        </p:txBody>
      </p:sp>
      <p:sp>
        <p:nvSpPr>
          <p:cNvPr id="37" name="rt 72"/>
          <p:cNvSpPr txBox="1"/>
          <p:nvPr/>
        </p:nvSpPr>
        <p:spPr>
          <a:xfrm>
            <a:off x="6506974" y="2952750"/>
            <a:ext cx="385108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 latinLnBrk="0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D9415F"/>
                </a:solidFill>
                <a:latin typeface="Pretendard SemiBold"/>
                <a:ea typeface="Pretendard SemiBold"/>
                <a:cs typeface="Pretendard SemiBold"/>
              </a:rPr>
              <a:t>115%</a:t>
            </a:r>
          </a:p>
        </p:txBody>
      </p:sp>
      <p:sp>
        <p:nvSpPr>
          <p:cNvPr id="38" name="nm 74"/>
          <p:cNvSpPr txBox="1"/>
          <p:nvPr/>
        </p:nvSpPr>
        <p:spPr>
          <a:xfrm>
            <a:off x="533400" y="3448050"/>
            <a:ext cx="275987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경기</a:t>
            </a:r>
          </a:p>
        </p:txBody>
      </p:sp>
      <p:sp>
        <p:nvSpPr>
          <p:cNvPr id="39" name="val 78"/>
          <p:cNvSpPr txBox="1"/>
          <p:nvPr/>
        </p:nvSpPr>
        <p:spPr>
          <a:xfrm>
            <a:off x="5513207" y="3452812"/>
            <a:ext cx="52162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 latinLnBrk="0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3.1 </a:t>
            </a:r>
            <a:r>
              <a:rPr sz="11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/ 3.0</a:t>
            </a:r>
          </a:p>
        </p:txBody>
      </p:sp>
      <p:sp>
        <p:nvSpPr>
          <p:cNvPr id="40" name="rt 79"/>
          <p:cNvSpPr txBox="1"/>
          <p:nvPr/>
        </p:nvSpPr>
        <p:spPr>
          <a:xfrm>
            <a:off x="6478185" y="3448050"/>
            <a:ext cx="413897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 latinLnBrk="0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103%</a:t>
            </a:r>
          </a:p>
        </p:txBody>
      </p:sp>
      <p:sp>
        <p:nvSpPr>
          <p:cNvPr id="41" name="nm 81"/>
          <p:cNvSpPr txBox="1"/>
          <p:nvPr/>
        </p:nvSpPr>
        <p:spPr>
          <a:xfrm>
            <a:off x="533400" y="3943350"/>
            <a:ext cx="275987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부산</a:t>
            </a:r>
          </a:p>
        </p:txBody>
      </p:sp>
      <p:sp>
        <p:nvSpPr>
          <p:cNvPr id="42" name="val 85"/>
          <p:cNvSpPr txBox="1"/>
          <p:nvPr/>
        </p:nvSpPr>
        <p:spPr>
          <a:xfrm>
            <a:off x="5508409" y="3948112"/>
            <a:ext cx="526423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 latinLnBrk="0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1.8 </a:t>
            </a:r>
            <a:r>
              <a:rPr sz="11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/ 2.0</a:t>
            </a:r>
          </a:p>
        </p:txBody>
      </p:sp>
      <p:sp>
        <p:nvSpPr>
          <p:cNvPr id="43" name="rt 86"/>
          <p:cNvSpPr txBox="1"/>
          <p:nvPr/>
        </p:nvSpPr>
        <p:spPr>
          <a:xfrm>
            <a:off x="6546134" y="3943350"/>
            <a:ext cx="345948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 latinLnBrk="0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90%</a:t>
            </a:r>
          </a:p>
        </p:txBody>
      </p:sp>
      <p:sp>
        <p:nvSpPr>
          <p:cNvPr id="44" name="nm 88"/>
          <p:cNvSpPr txBox="1"/>
          <p:nvPr/>
        </p:nvSpPr>
        <p:spPr>
          <a:xfrm>
            <a:off x="533400" y="4438650"/>
            <a:ext cx="275987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대구</a:t>
            </a:r>
          </a:p>
        </p:txBody>
      </p:sp>
      <p:sp>
        <p:nvSpPr>
          <p:cNvPr id="45" name="val 92"/>
          <p:cNvSpPr txBox="1"/>
          <p:nvPr/>
        </p:nvSpPr>
        <p:spPr>
          <a:xfrm>
            <a:off x="5567380" y="4443412"/>
            <a:ext cx="467451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 latinLnBrk="0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1.1 </a:t>
            </a:r>
            <a:r>
              <a:rPr sz="11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/ 1.5</a:t>
            </a:r>
          </a:p>
        </p:txBody>
      </p:sp>
      <p:sp>
        <p:nvSpPr>
          <p:cNvPr id="46" name="rt 93"/>
          <p:cNvSpPr txBox="1"/>
          <p:nvPr/>
        </p:nvSpPr>
        <p:spPr>
          <a:xfrm>
            <a:off x="6559445" y="4438650"/>
            <a:ext cx="332637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 latinLnBrk="0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8F1D14"/>
                </a:solidFill>
                <a:latin typeface="Pretendard SemiBold"/>
                <a:ea typeface="Pretendard SemiBold"/>
                <a:cs typeface="Pretendard SemiBold"/>
              </a:rPr>
              <a:t>73%</a:t>
            </a:r>
          </a:p>
        </p:txBody>
      </p:sp>
      <p:sp>
        <p:nvSpPr>
          <p:cNvPr id="47" name="nm 94"/>
          <p:cNvSpPr txBox="1"/>
          <p:nvPr/>
        </p:nvSpPr>
        <p:spPr>
          <a:xfrm>
            <a:off x="533400" y="4938712"/>
            <a:ext cx="275987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광주</a:t>
            </a:r>
          </a:p>
        </p:txBody>
      </p:sp>
      <p:sp>
        <p:nvSpPr>
          <p:cNvPr id="48" name="val 98"/>
          <p:cNvSpPr txBox="1"/>
          <p:nvPr/>
        </p:nvSpPr>
        <p:spPr>
          <a:xfrm>
            <a:off x="5508254" y="4943475"/>
            <a:ext cx="526578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 latinLnBrk="0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0.6 </a:t>
            </a:r>
            <a:r>
              <a:rPr sz="11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/ 1.0</a:t>
            </a:r>
          </a:p>
        </p:txBody>
      </p:sp>
      <p:sp>
        <p:nvSpPr>
          <p:cNvPr id="49" name="rt 99"/>
          <p:cNvSpPr txBox="1"/>
          <p:nvPr/>
        </p:nvSpPr>
        <p:spPr>
          <a:xfrm>
            <a:off x="6546134" y="4938712"/>
            <a:ext cx="345948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 latinLnBrk="0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lang="ko-KR" altLang="en-US">
                <a:solidFill>
                  <a:srgbClr val="8F1D14"/>
                </a:solidFill>
                <a:latin typeface="Pretendard SemiBold"/>
                <a:ea typeface="Pretendard SemiBold"/>
                <a:cs typeface="Pretendard SemiBold"/>
              </a:rPr>
              <a:t>60%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5325" y="6086475"/>
            <a:ext cx="21608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실적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61008" y="6086475"/>
            <a:ext cx="21608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목표</a:t>
            </a:r>
          </a:p>
        </p:txBody>
      </p:sp>
      <p:sp>
        <p:nvSpPr>
          <p:cNvPr id="52" name="열 제목 105"/>
          <p:cNvSpPr txBox="1"/>
          <p:nvPr/>
        </p:nvSpPr>
        <p:spPr>
          <a:xfrm>
            <a:off x="7273082" y="1600200"/>
            <a:ext cx="122773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이 도표가 말하는 것</a:t>
            </a:r>
          </a:p>
        </p:txBody>
      </p:sp>
      <p:sp>
        <p:nvSpPr>
          <p:cNvPr id="53" name="글머리표 106"/>
          <p:cNvSpPr txBox="1"/>
          <p:nvPr/>
        </p:nvSpPr>
        <p:spPr>
          <a:xfrm>
            <a:off x="7273082" y="3643312"/>
            <a:ext cx="4385518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서울과 경기는 목표를 넘겼다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부산, 대구, 광주는 목표에 못 미쳤다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광주는 영업 담당자가 8월에 바뀌었다</a:t>
            </a:r>
          </a:p>
        </p:txBody>
      </p:sp>
      <p:sp>
        <p:nvSpPr>
          <p:cNvPr id="54" name="출처 107"/>
          <p:cNvSpPr txBox="1"/>
          <p:nvPr/>
        </p:nvSpPr>
        <p:spPr>
          <a:xfrm>
            <a:off x="533400" y="6324600"/>
            <a:ext cx="137137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출처: 예시 데이터, 실제 수치 아님</a:t>
            </a:r>
          </a:p>
        </p:txBody>
      </p:sp>
      <p:sp>
        <p:nvSpPr>
          <p:cNvPr id="55" name="꼬리말 109"/>
          <p:cNvSpPr txBox="1"/>
          <p:nvPr/>
        </p:nvSpPr>
        <p:spPr>
          <a:xfrm>
            <a:off x="533400" y="6600825"/>
            <a:ext cx="115375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Hankki Lab | 도표 부품 견본</a:t>
            </a:r>
          </a:p>
        </p:txBody>
      </p:sp>
      <p:sp>
        <p:nvSpPr>
          <p:cNvPr id="56" name="pg 110"/>
          <p:cNvSpPr txBox="1"/>
          <p:nvPr/>
        </p:nvSpPr>
        <p:spPr>
          <a:xfrm>
            <a:off x="11559183" y="6600825"/>
            <a:ext cx="122444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90550"/>
            <a:ext cx="11125200" cy="704850"/>
          </a:xfrm>
        </p:spPr>
        <p:txBody>
          <a:bodyPr lIns="0" rIns="0" tIns="0" bIns="0" wrap="square" anchor="t">
            <a:noAutofit/>
          </a:bodyPr>
          <a:lstStyle/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가입 다음 달 잔존율은 6개월 내내 88~91%,</a:t>
            </a:r>
          </a:p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6개월 뒤에도 76% 유지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376362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33400" y="1852612"/>
            <a:ext cx="63586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graphicFrame>
        <p:nvGraphicFramePr>
          <p:cNvPr id="5" name="표 8"/>
          <p:cNvGraphicFramePr>
            <a:graphicFrameLocks noGrp="1"/>
          </p:cNvGraphicFramePr>
          <p:nvPr/>
        </p:nvGraphicFramePr>
        <p:xfrm>
          <a:off x="533400" y="1914525"/>
          <a:ext cx="6358680" cy="291465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914400"/>
                <a:gridCol w="800100"/>
                <a:gridCol w="773906"/>
                <a:gridCol w="773906"/>
                <a:gridCol w="773906"/>
                <a:gridCol w="773906"/>
                <a:gridCol w="773906"/>
                <a:gridCol w="774650"/>
              </a:tblGrid>
              <a:tr h="285750"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가입 시기</a:t>
                      </a:r>
                      <a:endParaRPr sz="100"/>
                    </a:p>
                  </a:txBody>
                  <a:tcPr marT="0" marR="95250" marB="66675" marL="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8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 latinLnBrk="0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인원</a:t>
                      </a:r>
                      <a:endParaRPr sz="100"/>
                    </a:p>
                  </a:txBody>
                  <a:tcPr marT="0" marR="95250" marB="66675" marL="952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8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1개월</a:t>
                      </a:r>
                      <a:endParaRPr sz="100"/>
                    </a:p>
                  </a:txBody>
                  <a:tcPr marT="0" marR="95250" marB="66675" marL="952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8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2개월</a:t>
                      </a:r>
                      <a:endParaRPr sz="100"/>
                    </a:p>
                  </a:txBody>
                  <a:tcPr marT="0" marR="95250" marB="66675" marL="952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8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3개월</a:t>
                      </a:r>
                      <a:endParaRPr sz="100"/>
                    </a:p>
                  </a:txBody>
                  <a:tcPr marT="0" marR="95250" marB="66675" marL="952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8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4개월</a:t>
                      </a:r>
                      <a:endParaRPr sz="100"/>
                    </a:p>
                  </a:txBody>
                  <a:tcPr marT="0" marR="95250" marB="66675" marL="952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8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5개월</a:t>
                      </a:r>
                      <a:endParaRPr sz="100"/>
                    </a:p>
                  </a:txBody>
                  <a:tcPr marT="0" marR="95250" marB="66675" marL="952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8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6개월</a:t>
                      </a:r>
                      <a:endParaRPr sz="100"/>
                    </a:p>
                  </a:txBody>
                  <a:tcPr marT="0" marR="95250" marB="66675" marL="952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8181C"/>
                      </a:solidFill>
                    </a:lnB>
                    <a:noFill/>
                  </a:tcPr>
                </a:tc>
              </a:tr>
              <a:tr h="438150"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2026.03</a:t>
                      </a:r>
                      <a:endParaRPr sz="100"/>
                    </a:p>
                  </a:txBody>
                  <a:tcPr marT="66675" marR="95250" marB="66675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FCFD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232326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42곳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90%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18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86%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C9C9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83%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C9C9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80%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C9C9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78%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BE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"/>
                          <a:ea typeface="Pretendard"/>
                          <a:cs typeface="Pretendard"/>
                        </a:rPr>
                        <a:t>76%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BE9ED"/>
                    </a:solidFill>
                  </a:tcPr>
                </a:tc>
              </a:tr>
              <a:tr h="438150"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2026.04</a:t>
                      </a:r>
                      <a:endParaRPr sz="100"/>
                    </a:p>
                  </a:txBody>
                  <a:tcPr marT="66675" marR="95250" marB="66675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FCFD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232326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51곳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89%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18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85%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C9C9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81%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C9C9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"/>
                          <a:ea typeface="Pretendard"/>
                          <a:cs typeface="Pretendard"/>
                        </a:rPr>
                        <a:t>79%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BE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77%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BE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6B6B73"/>
                          </a:solidFill>
                          <a:latin typeface="Pretendard"/>
                          <a:ea typeface="Pretendard"/>
                          <a:cs typeface="Pretendard"/>
                        </a:rPr>
                        <a:t>-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noFill/>
                  </a:tcPr>
                </a:tc>
              </a:tr>
              <a:tr h="438150"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2026.05</a:t>
                      </a:r>
                      <a:endParaRPr sz="100"/>
                    </a:p>
                  </a:txBody>
                  <a:tcPr marT="66675" marR="95250" marB="66675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FCFD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232326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48곳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91%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18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87%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C9C9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84%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C9C9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82%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C9C9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6B6B73"/>
                          </a:solidFill>
                          <a:latin typeface="Pretendard"/>
                          <a:ea typeface="Pretendard"/>
                          <a:cs typeface="Pretendard"/>
                        </a:rPr>
                        <a:t>-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6B6B73"/>
                          </a:solidFill>
                          <a:latin typeface="Pretendard"/>
                          <a:ea typeface="Pretendard"/>
                          <a:cs typeface="Pretendard"/>
                        </a:rPr>
                        <a:t>-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noFill/>
                  </a:tcPr>
                </a:tc>
              </a:tr>
              <a:tr h="438150"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2026.06</a:t>
                      </a:r>
                      <a:endParaRPr sz="100"/>
                    </a:p>
                  </a:txBody>
                  <a:tcPr marT="66675" marR="95250" marB="66675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FCFD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232326"/>
                          </a:solidFill>
                          <a:latin typeface="Pretendard"/>
                          <a:ea typeface="Pretendard"/>
                          <a:cs typeface="Pretendard"/>
                        </a:rPr>
                        <a:t>55곳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88%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18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84%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C9C9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80%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C9C9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6B6B73"/>
                          </a:solidFill>
                          <a:latin typeface="Pretendard"/>
                          <a:ea typeface="Pretendard"/>
                          <a:cs typeface="Pretendard"/>
                        </a:rPr>
                        <a:t>-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6B6B73"/>
                          </a:solidFill>
                          <a:latin typeface="Pretendard"/>
                          <a:ea typeface="Pretendard"/>
                          <a:cs typeface="Pretendard"/>
                        </a:rPr>
                        <a:t>-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6B6B73"/>
                          </a:solidFill>
                          <a:latin typeface="Pretendard"/>
                          <a:ea typeface="Pretendard"/>
                          <a:cs typeface="Pretendard"/>
                        </a:rPr>
                        <a:t>-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noFill/>
                  </a:tcPr>
                </a:tc>
              </a:tr>
              <a:tr h="438150"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2026.07</a:t>
                      </a:r>
                      <a:endParaRPr sz="100"/>
                    </a:p>
                  </a:txBody>
                  <a:tcPr marT="66675" marR="95250" marB="66675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FCFD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23232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63곳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90%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18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86%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C9C9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6B6B73"/>
                          </a:solidFill>
                          <a:latin typeface="Pretendard"/>
                          <a:ea typeface="Pretendard"/>
                          <a:cs typeface="Pretendard"/>
                        </a:rPr>
                        <a:t>-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6B6B73"/>
                          </a:solidFill>
                          <a:latin typeface="Pretendard"/>
                          <a:ea typeface="Pretendard"/>
                          <a:cs typeface="Pretendard"/>
                        </a:rPr>
                        <a:t>-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6B6B73"/>
                          </a:solidFill>
                          <a:latin typeface="Pretendard"/>
                          <a:ea typeface="Pretendard"/>
                          <a:cs typeface="Pretendard"/>
                        </a:rPr>
                        <a:t>-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6B6B73"/>
                          </a:solidFill>
                          <a:latin typeface="Pretendard"/>
                          <a:ea typeface="Pretendard"/>
                          <a:cs typeface="Pretendard"/>
                        </a:rPr>
                        <a:t>-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FFFFFF"/>
                      </a:solidFill>
                    </a:lnB>
                    <a:noFill/>
                  </a:tcPr>
                </a:tc>
              </a:tr>
              <a:tr h="438150"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18181C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2026.08</a:t>
                      </a:r>
                      <a:endParaRPr sz="100"/>
                    </a:p>
                  </a:txBody>
                  <a:tcPr marT="66675" marR="95250" marB="66675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CFCFD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23232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70곳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89%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818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6B6B73"/>
                          </a:solidFill>
                          <a:latin typeface="Pretendard"/>
                          <a:ea typeface="Pretendard"/>
                          <a:cs typeface="Pretendard"/>
                        </a:rPr>
                        <a:t>-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6B6B73"/>
                          </a:solidFill>
                          <a:latin typeface="Pretendard"/>
                          <a:ea typeface="Pretendard"/>
                          <a:cs typeface="Pretendard"/>
                        </a:rPr>
                        <a:t>-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6B6B73"/>
                          </a:solidFill>
                          <a:latin typeface="Pretendard"/>
                          <a:ea typeface="Pretendard"/>
                          <a:cs typeface="Pretendard"/>
                        </a:rPr>
                        <a:t>-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6B6B73"/>
                          </a:solidFill>
                          <a:latin typeface="Pretendard"/>
                          <a:ea typeface="Pretendard"/>
                          <a:cs typeface="Pretendard"/>
                        </a:rPr>
                        <a:t>-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0">
                        <a:lnSpc>
                          <a:spcPts val="14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0" i="0" lang="ko-KR" altLang="en-US">
                          <a:solidFill>
                            <a:srgbClr val="6B6B73"/>
                          </a:solidFill>
                          <a:latin typeface="Pretendard"/>
                          <a:ea typeface="Pretendard"/>
                          <a:cs typeface="Pretendard"/>
                        </a:rPr>
                        <a:t>-</a:t>
                      </a:r>
                      <a:endParaRPr sz="100"/>
                    </a:p>
                  </a:txBody>
                  <a:tcPr marT="66675" marR="95250" marB="66675" marL="952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h1 10"/>
          <p:cNvSpPr/>
          <p:nvPr/>
        </p:nvSpPr>
        <p:spPr>
          <a:xfrm>
            <a:off x="533400" y="4972050"/>
            <a:ext cx="104775" cy="104775"/>
          </a:xfrm>
          <a:prstGeom prst="rect">
            <a:avLst/>
          </a:prstGeom>
          <a:solidFill>
            <a:srgbClr val="FBE9E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h2 12"/>
          <p:cNvSpPr/>
          <p:nvPr/>
        </p:nvSpPr>
        <p:spPr>
          <a:xfrm>
            <a:off x="1328886" y="4972050"/>
            <a:ext cx="104775" cy="104775"/>
          </a:xfrm>
          <a:prstGeom prst="rect">
            <a:avLst/>
          </a:prstGeom>
          <a:solidFill>
            <a:srgbClr val="C9C9C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a 14"/>
          <p:cNvSpPr/>
          <p:nvPr/>
        </p:nvSpPr>
        <p:spPr>
          <a:xfrm>
            <a:off x="2103090" y="4972050"/>
            <a:ext cx="104775" cy="104775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>
            <a:off x="7273082" y="1852612"/>
            <a:ext cx="4385518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533400" y="6538912"/>
            <a:ext cx="11125200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11" name="회사명 22"/>
          <p:cNvSpPr txBox="1"/>
          <p:nvPr/>
        </p:nvSpPr>
        <p:spPr>
          <a:xfrm>
            <a:off x="533400" y="338138"/>
            <a:ext cx="59808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Hankki Lab</a:t>
            </a:r>
          </a:p>
        </p:txBody>
      </p:sp>
      <p:sp>
        <p:nvSpPr>
          <p:cNvPr id="12" name="키커 23"/>
          <p:cNvSpPr txBox="1"/>
          <p:nvPr/>
        </p:nvSpPr>
        <p:spPr>
          <a:xfrm>
            <a:off x="10763994" y="338138"/>
            <a:ext cx="94944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코호트 리텐션 표 p57</a:t>
            </a:r>
          </a:p>
        </p:txBody>
      </p:sp>
      <p:sp>
        <p:nvSpPr>
          <p:cNvPr id="13" name="축 제목 27"/>
          <p:cNvSpPr txBox="1"/>
          <p:nvPr/>
        </p:nvSpPr>
        <p:spPr>
          <a:xfrm>
            <a:off x="533400" y="1600200"/>
            <a:ext cx="1775662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가입 시기별 브랜드사 잔존율</a:t>
            </a:r>
          </a:p>
        </p:txBody>
      </p:sp>
      <p:sp>
        <p:nvSpPr>
          <p:cNvPr id="14" name="u 28"/>
          <p:cNvSpPr txBox="1"/>
          <p:nvPr/>
        </p:nvSpPr>
        <p:spPr>
          <a:xfrm>
            <a:off x="6060728" y="1647825"/>
            <a:ext cx="88365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%, 2026년 3~9월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325" y="4957762"/>
            <a:ext cx="47983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80% 미만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0811" y="4957762"/>
            <a:ext cx="45770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80~87%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5015" y="4957762"/>
            <a:ext cx="48107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88% 이상</a:t>
            </a:r>
          </a:p>
        </p:txBody>
      </p:sp>
      <p:sp>
        <p:nvSpPr>
          <p:cNvPr id="18" name="열 제목 37"/>
          <p:cNvSpPr txBox="1"/>
          <p:nvPr/>
        </p:nvSpPr>
        <p:spPr>
          <a:xfrm>
            <a:off x="7273082" y="1600200"/>
            <a:ext cx="122773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이 도표가 말하는 것</a:t>
            </a:r>
          </a:p>
        </p:txBody>
      </p:sp>
      <p:sp>
        <p:nvSpPr>
          <p:cNvPr id="19" name="글머리표 38"/>
          <p:cNvSpPr txBox="1"/>
          <p:nvPr/>
        </p:nvSpPr>
        <p:spPr>
          <a:xfrm>
            <a:off x="7273082" y="3643312"/>
            <a:ext cx="4385518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첫 달 잔존율이 88~91%로 가입 시기와 관계없이 고르다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매달 2~4%p씩 줄어 6개월 뒤 76%가 남는다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가장 큰 이탈은 2개월째에 일어난다</a:t>
            </a:r>
          </a:p>
        </p:txBody>
      </p:sp>
      <p:sp>
        <p:nvSpPr>
          <p:cNvPr id="20" name="출처 39"/>
          <p:cNvSpPr txBox="1"/>
          <p:nvPr/>
        </p:nvSpPr>
        <p:spPr>
          <a:xfrm>
            <a:off x="533400" y="6324600"/>
            <a:ext cx="137137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출처: 예시 데이터, 실제 수치 아님</a:t>
            </a:r>
          </a:p>
        </p:txBody>
      </p:sp>
      <p:sp>
        <p:nvSpPr>
          <p:cNvPr id="21" name="꼬리말 41"/>
          <p:cNvSpPr txBox="1"/>
          <p:nvPr/>
        </p:nvSpPr>
        <p:spPr>
          <a:xfrm>
            <a:off x="533400" y="6600825"/>
            <a:ext cx="115375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Hankki Lab | 도표 부품 견본</a:t>
            </a:r>
          </a:p>
        </p:txBody>
      </p:sp>
      <p:sp>
        <p:nvSpPr>
          <p:cNvPr id="22" name="pg 42"/>
          <p:cNvSpPr txBox="1"/>
          <p:nvPr/>
        </p:nvSpPr>
        <p:spPr>
          <a:xfrm>
            <a:off x="11545193" y="6600825"/>
            <a:ext cx="136993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90550"/>
            <a:ext cx="11125200" cy="704850"/>
          </a:xfrm>
        </p:spPr>
        <p:txBody>
          <a:bodyPr lIns="0" rIns="0" tIns="0" bIns="0" wrap="square" anchor="t">
            <a:noAutofit/>
          </a:bodyPr>
          <a:lstStyle/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광고 상품 52%와 구독 26%,</a:t>
            </a:r>
          </a:p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두 상품이 매출의 78% 차지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376362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33400" y="1852612"/>
            <a:ext cx="63586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graphicFrame>
        <p:nvGraphicFramePr>
          <p:cNvPr id="5" name="차트 8"/>
          <p:cNvGraphicFramePr>
            <a:graphicFrameLocks noGrp="1"/>
          </p:cNvGraphicFramePr>
          <p:nvPr/>
        </p:nvGraphicFramePr>
        <p:xfrm>
          <a:off x="533400" y="1857375"/>
          <a:ext cx="6358682" cy="4371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6" name="Connector 5"/>
          <p:cNvCxnSpPr/>
          <p:nvPr/>
        </p:nvCxnSpPr>
        <p:spPr>
          <a:xfrm>
            <a:off x="7273082" y="1852612"/>
            <a:ext cx="4385518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33400" y="6538912"/>
            <a:ext cx="11125200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8" name="회사명 18"/>
          <p:cNvSpPr txBox="1"/>
          <p:nvPr/>
        </p:nvSpPr>
        <p:spPr>
          <a:xfrm>
            <a:off x="533400" y="338138"/>
            <a:ext cx="59808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Hankki Lab</a:t>
            </a:r>
          </a:p>
        </p:txBody>
      </p:sp>
      <p:sp>
        <p:nvSpPr>
          <p:cNvPr id="9" name="키커 19"/>
          <p:cNvSpPr txBox="1"/>
          <p:nvPr/>
        </p:nvSpPr>
        <p:spPr>
          <a:xfrm>
            <a:off x="10773519" y="338138"/>
            <a:ext cx="93953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도넛 (기본 차트) p58</a:t>
            </a:r>
          </a:p>
        </p:txBody>
      </p:sp>
      <p:sp>
        <p:nvSpPr>
          <p:cNvPr id="10" name="축 제목 23"/>
          <p:cNvSpPr txBox="1"/>
          <p:nvPr/>
        </p:nvSpPr>
        <p:spPr>
          <a:xfrm>
            <a:off x="533400" y="1600200"/>
            <a:ext cx="119012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상품별 매출 구성비</a:t>
            </a:r>
          </a:p>
        </p:txBody>
      </p:sp>
      <p:sp>
        <p:nvSpPr>
          <p:cNvPr id="11" name="u 24"/>
          <p:cNvSpPr txBox="1"/>
          <p:nvPr/>
        </p:nvSpPr>
        <p:spPr>
          <a:xfrm>
            <a:off x="6080224" y="1647825"/>
            <a:ext cx="86338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%, 2026년 1~9월</a:t>
            </a:r>
          </a:p>
        </p:txBody>
      </p:sp>
      <p:sp>
        <p:nvSpPr>
          <p:cNvPr id="12" name="lb 26"/>
          <p:cNvSpPr txBox="1"/>
          <p:nvPr/>
        </p:nvSpPr>
        <p:spPr>
          <a:xfrm>
            <a:off x="2075078" y="3800475"/>
            <a:ext cx="47735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누적 매출</a:t>
            </a:r>
          </a:p>
        </p:txBody>
      </p:sp>
      <p:sp>
        <p:nvSpPr>
          <p:cNvPr id="13" name="v 27"/>
          <p:cNvSpPr txBox="1"/>
          <p:nvPr/>
        </p:nvSpPr>
        <p:spPr>
          <a:xfrm>
            <a:off x="1989171" y="3952875"/>
            <a:ext cx="649319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 i="0" lang="ko-KR" altLang="en-US">
                <a:solidFill>
                  <a:srgbClr val="18181C"/>
                </a:solidFill>
                <a:latin typeface="Pretendard ExtraBold"/>
                <a:ea typeface="Pretendard ExtraBold"/>
                <a:cs typeface="Pretendard ExtraBold"/>
              </a:rPr>
              <a:t>42억</a:t>
            </a:r>
          </a:p>
        </p:txBody>
      </p:sp>
      <p:sp>
        <p:nvSpPr>
          <p:cNvPr id="14" name="열 제목 29"/>
          <p:cNvSpPr txBox="1"/>
          <p:nvPr/>
        </p:nvSpPr>
        <p:spPr>
          <a:xfrm>
            <a:off x="7273082" y="1600200"/>
            <a:ext cx="122773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이 도표가 말하는 것</a:t>
            </a:r>
          </a:p>
        </p:txBody>
      </p:sp>
      <p:sp>
        <p:nvSpPr>
          <p:cNvPr id="15" name="글머리표 30"/>
          <p:cNvSpPr txBox="1"/>
          <p:nvPr/>
        </p:nvSpPr>
        <p:spPr>
          <a:xfrm>
            <a:off x="7273082" y="3643312"/>
            <a:ext cx="4385518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광고 상품과 구독을 합하면 매출의 78%다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구독 매출은 매달 같은 금액으로 들어온다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데이터 리포트는 3월에 출시해 아직 15%다</a:t>
            </a:r>
          </a:p>
        </p:txBody>
      </p:sp>
      <p:sp>
        <p:nvSpPr>
          <p:cNvPr id="16" name="출처 31"/>
          <p:cNvSpPr txBox="1"/>
          <p:nvPr/>
        </p:nvSpPr>
        <p:spPr>
          <a:xfrm>
            <a:off x="533400" y="6324600"/>
            <a:ext cx="137137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출처: 예시 데이터, 실제 수치 아님</a:t>
            </a:r>
          </a:p>
        </p:txBody>
      </p:sp>
      <p:sp>
        <p:nvSpPr>
          <p:cNvPr id="17" name="꼬리말 33"/>
          <p:cNvSpPr txBox="1"/>
          <p:nvPr/>
        </p:nvSpPr>
        <p:spPr>
          <a:xfrm>
            <a:off x="533400" y="6600825"/>
            <a:ext cx="115375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Hankki Lab | 도표 부품 견본</a:t>
            </a:r>
          </a:p>
        </p:txBody>
      </p:sp>
      <p:sp>
        <p:nvSpPr>
          <p:cNvPr id="18" name="pg 34"/>
          <p:cNvSpPr txBox="1"/>
          <p:nvPr/>
        </p:nvSpPr>
        <p:spPr>
          <a:xfrm>
            <a:off x="11542514" y="6600825"/>
            <a:ext cx="139779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90550"/>
            <a:ext cx="11125200" cy="704850"/>
          </a:xfrm>
        </p:spPr>
        <p:txBody>
          <a:bodyPr lIns="0" rIns="0" tIns="0" bIns="0" wrap="square" anchor="t">
            <a:noAutofit/>
          </a:bodyPr>
          <a:lstStyle/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신규 브랜드사의 46%가 인스타그램으로 유입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376362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33400" y="1852612"/>
            <a:ext cx="63586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graphicFrame>
        <p:nvGraphicFramePr>
          <p:cNvPr id="5" name="차트 8"/>
          <p:cNvGraphicFramePr>
            <a:graphicFrameLocks noGrp="1"/>
          </p:cNvGraphicFramePr>
          <p:nvPr/>
        </p:nvGraphicFramePr>
        <p:xfrm>
          <a:off x="533400" y="1857375"/>
          <a:ext cx="6358682" cy="4371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6" name="Connector 5"/>
          <p:cNvCxnSpPr/>
          <p:nvPr/>
        </p:nvCxnSpPr>
        <p:spPr>
          <a:xfrm>
            <a:off x="7273082" y="1852612"/>
            <a:ext cx="4385518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33400" y="6538912"/>
            <a:ext cx="11125200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8" name="회사명 16"/>
          <p:cNvSpPr txBox="1"/>
          <p:nvPr/>
        </p:nvSpPr>
        <p:spPr>
          <a:xfrm>
            <a:off x="533400" y="338138"/>
            <a:ext cx="59808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Hankki Lab</a:t>
            </a:r>
          </a:p>
        </p:txBody>
      </p:sp>
      <p:sp>
        <p:nvSpPr>
          <p:cNvPr id="9" name="키커 17"/>
          <p:cNvSpPr txBox="1"/>
          <p:nvPr/>
        </p:nvSpPr>
        <p:spPr>
          <a:xfrm>
            <a:off x="10773073" y="338138"/>
            <a:ext cx="939998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원형 (기본 차트) p59</a:t>
            </a:r>
          </a:p>
        </p:txBody>
      </p:sp>
      <p:sp>
        <p:nvSpPr>
          <p:cNvPr id="10" name="축 제목 21"/>
          <p:cNvSpPr txBox="1"/>
          <p:nvPr/>
        </p:nvSpPr>
        <p:spPr>
          <a:xfrm>
            <a:off x="533400" y="1600200"/>
            <a:ext cx="1501700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신규 브랜드사 유입 경로</a:t>
            </a:r>
          </a:p>
        </p:txBody>
      </p:sp>
      <p:sp>
        <p:nvSpPr>
          <p:cNvPr id="11" name="u 22"/>
          <p:cNvSpPr txBox="1"/>
          <p:nvPr/>
        </p:nvSpPr>
        <p:spPr>
          <a:xfrm>
            <a:off x="5561409" y="1647825"/>
            <a:ext cx="140294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%, 2026년 1~9월 가입 312곳</a:t>
            </a:r>
          </a:p>
        </p:txBody>
      </p:sp>
      <p:sp>
        <p:nvSpPr>
          <p:cNvPr id="12" name="열 제목 25"/>
          <p:cNvSpPr txBox="1"/>
          <p:nvPr/>
        </p:nvSpPr>
        <p:spPr>
          <a:xfrm>
            <a:off x="7273082" y="1600200"/>
            <a:ext cx="122773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이 도표가 말하는 것</a:t>
            </a:r>
          </a:p>
        </p:txBody>
      </p:sp>
      <p:sp>
        <p:nvSpPr>
          <p:cNvPr id="13" name="글머리표 26"/>
          <p:cNvSpPr txBox="1"/>
          <p:nvPr/>
        </p:nvSpPr>
        <p:spPr>
          <a:xfrm>
            <a:off x="7273082" y="3643312"/>
            <a:ext cx="4385518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인스타그램 한 경로가 유튜브와 검색을 합한 45%보다 많다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유튜브 유입은 28%로 두 번째다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검색 유입은 17%로 광고를 줄인 뒤 낮아졌다</a:t>
            </a:r>
          </a:p>
        </p:txBody>
      </p:sp>
      <p:sp>
        <p:nvSpPr>
          <p:cNvPr id="14" name="출처 27"/>
          <p:cNvSpPr txBox="1"/>
          <p:nvPr/>
        </p:nvSpPr>
        <p:spPr>
          <a:xfrm>
            <a:off x="533400" y="6324600"/>
            <a:ext cx="137137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출처: 예시 데이터, 실제 수치 아님</a:t>
            </a:r>
          </a:p>
        </p:txBody>
      </p:sp>
      <p:sp>
        <p:nvSpPr>
          <p:cNvPr id="15" name="꼬리말 29"/>
          <p:cNvSpPr txBox="1"/>
          <p:nvPr/>
        </p:nvSpPr>
        <p:spPr>
          <a:xfrm>
            <a:off x="533400" y="6600825"/>
            <a:ext cx="115375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Hankki Lab | 도표 부품 견본</a:t>
            </a:r>
          </a:p>
        </p:txBody>
      </p:sp>
      <p:sp>
        <p:nvSpPr>
          <p:cNvPr id="16" name="pg 30"/>
          <p:cNvSpPr txBox="1"/>
          <p:nvPr/>
        </p:nvSpPr>
        <p:spPr>
          <a:xfrm>
            <a:off x="11542812" y="6600825"/>
            <a:ext cx="139470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90550"/>
            <a:ext cx="11125200" cy="704850"/>
          </a:xfrm>
        </p:spPr>
        <p:txBody>
          <a:bodyPr lIns="0" rIns="0" tIns="0" bIns="0" wrap="square" anchor="t">
            <a:noAutofit/>
          </a:bodyPr>
          <a:lstStyle/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자사 월 거래액은 6개월 만에 5.2배 증가,</a:t>
            </a:r>
          </a:p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업계 평균은 2.2배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376362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33400" y="1852612"/>
            <a:ext cx="63586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graphicFrame>
        <p:nvGraphicFramePr>
          <p:cNvPr id="5" name="차트 8"/>
          <p:cNvGraphicFramePr>
            <a:graphicFrameLocks noGrp="1"/>
          </p:cNvGraphicFramePr>
          <p:nvPr/>
        </p:nvGraphicFramePr>
        <p:xfrm>
          <a:off x="533400" y="1857375"/>
          <a:ext cx="6358682" cy="4371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6" name="Connector 5"/>
          <p:cNvCxnSpPr/>
          <p:nvPr/>
        </p:nvCxnSpPr>
        <p:spPr>
          <a:xfrm>
            <a:off x="7273082" y="1852612"/>
            <a:ext cx="4385518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33400" y="6538912"/>
            <a:ext cx="11125200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8" name="회사명 16"/>
          <p:cNvSpPr txBox="1"/>
          <p:nvPr/>
        </p:nvSpPr>
        <p:spPr>
          <a:xfrm>
            <a:off x="533400" y="338138"/>
            <a:ext cx="59808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Hankki Lab</a:t>
            </a:r>
          </a:p>
        </p:txBody>
      </p:sp>
      <p:sp>
        <p:nvSpPr>
          <p:cNvPr id="9" name="키커 17"/>
          <p:cNvSpPr txBox="1"/>
          <p:nvPr/>
        </p:nvSpPr>
        <p:spPr>
          <a:xfrm>
            <a:off x="10681395" y="338138"/>
            <a:ext cx="103534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꺾은선 (기본 차트) p60</a:t>
            </a:r>
          </a:p>
        </p:txBody>
      </p:sp>
      <p:sp>
        <p:nvSpPr>
          <p:cNvPr id="10" name="축 제목 21"/>
          <p:cNvSpPr txBox="1"/>
          <p:nvPr/>
        </p:nvSpPr>
        <p:spPr>
          <a:xfrm>
            <a:off x="533400" y="1600200"/>
            <a:ext cx="60458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월 거래액</a:t>
            </a:r>
          </a:p>
        </p:txBody>
      </p:sp>
      <p:sp>
        <p:nvSpPr>
          <p:cNvPr id="11" name="u 22"/>
          <p:cNvSpPr txBox="1"/>
          <p:nvPr/>
        </p:nvSpPr>
        <p:spPr>
          <a:xfrm>
            <a:off x="5957888" y="1647825"/>
            <a:ext cx="99061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억 원, 2026년 1~6월</a:t>
            </a:r>
          </a:p>
        </p:txBody>
      </p:sp>
      <p:sp>
        <p:nvSpPr>
          <p:cNvPr id="12" name="열 제목 25"/>
          <p:cNvSpPr txBox="1"/>
          <p:nvPr/>
        </p:nvSpPr>
        <p:spPr>
          <a:xfrm>
            <a:off x="7273082" y="1600200"/>
            <a:ext cx="122773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이 도표가 말하는 것</a:t>
            </a:r>
          </a:p>
        </p:txBody>
      </p:sp>
      <p:sp>
        <p:nvSpPr>
          <p:cNvPr id="13" name="글머리표 26"/>
          <p:cNvSpPr txBox="1"/>
          <p:nvPr/>
        </p:nvSpPr>
        <p:spPr>
          <a:xfrm>
            <a:off x="7273082" y="3643312"/>
            <a:ext cx="4385518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1월 1.2억 원에서 6월 6.2억 원으로 5.2배 늘었다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업계 평균은 1.0억 원에서 2.2억 원으로 2.2배 늘었다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격차는 4월부터 크게 벌어졌다</a:t>
            </a:r>
          </a:p>
        </p:txBody>
      </p:sp>
      <p:sp>
        <p:nvSpPr>
          <p:cNvPr id="14" name="출처 27"/>
          <p:cNvSpPr txBox="1"/>
          <p:nvPr/>
        </p:nvSpPr>
        <p:spPr>
          <a:xfrm>
            <a:off x="533400" y="6324600"/>
            <a:ext cx="137137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출처: 예시 데이터, 실제 수치 아님</a:t>
            </a:r>
          </a:p>
        </p:txBody>
      </p:sp>
      <p:sp>
        <p:nvSpPr>
          <p:cNvPr id="15" name="꼬리말 29"/>
          <p:cNvSpPr txBox="1"/>
          <p:nvPr/>
        </p:nvSpPr>
        <p:spPr>
          <a:xfrm>
            <a:off x="533400" y="6600825"/>
            <a:ext cx="115375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Hankki Lab | 도표 부품 견본</a:t>
            </a:r>
          </a:p>
        </p:txBody>
      </p:sp>
      <p:sp>
        <p:nvSpPr>
          <p:cNvPr id="16" name="pg 30"/>
          <p:cNvSpPr txBox="1"/>
          <p:nvPr/>
        </p:nvSpPr>
        <p:spPr>
          <a:xfrm>
            <a:off x="11544151" y="6600825"/>
            <a:ext cx="138077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90550"/>
            <a:ext cx="11125200" cy="704850"/>
          </a:xfrm>
        </p:spPr>
        <p:txBody>
          <a:bodyPr lIns="0" rIns="0" tIns="0" bIns="0" wrap="square" anchor="t">
            <a:noAutofit/>
          </a:bodyPr>
          <a:lstStyle/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월 리뷰 콘텐츠는 6개월 만에 3.2배,</a:t>
            </a:r>
          </a:p>
          <a:p>
            <a:pPr algn="l" latinLnBrk="0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색조가 4.4배로 가장 빠르게 증가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376362"/>
            <a:ext cx="11125200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33400" y="1852612"/>
            <a:ext cx="6358682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graphicFrame>
        <p:nvGraphicFramePr>
          <p:cNvPr id="5" name="차트 8"/>
          <p:cNvGraphicFramePr>
            <a:graphicFrameLocks noGrp="1"/>
          </p:cNvGraphicFramePr>
          <p:nvPr/>
        </p:nvGraphicFramePr>
        <p:xfrm>
          <a:off x="533400" y="1857375"/>
          <a:ext cx="6358682" cy="4371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6" name="Connector 5"/>
          <p:cNvCxnSpPr/>
          <p:nvPr/>
        </p:nvCxnSpPr>
        <p:spPr>
          <a:xfrm>
            <a:off x="7273082" y="1852612"/>
            <a:ext cx="4385518" cy="0"/>
          </a:xfrm>
          <a:prstGeom prst="line">
            <a:avLst/>
          </a:prstGeom>
          <a:ln w="9525">
            <a:solidFill>
              <a:srgbClr val="18181C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33400" y="6538912"/>
            <a:ext cx="11125200" cy="0"/>
          </a:xfrm>
          <a:prstGeom prst="line">
            <a:avLst/>
          </a:prstGeom>
          <a:ln w="9525">
            <a:solidFill>
              <a:srgbClr val="E7E7EA"/>
            </a:solidFill>
          </a:ln>
        </p:spPr>
      </p:cxnSp>
      <p:sp>
        <p:nvSpPr>
          <p:cNvPr id="8" name="회사명 16"/>
          <p:cNvSpPr txBox="1"/>
          <p:nvPr/>
        </p:nvSpPr>
        <p:spPr>
          <a:xfrm>
            <a:off x="533400" y="338138"/>
            <a:ext cx="59808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Hankki Lab</a:t>
            </a:r>
          </a:p>
        </p:txBody>
      </p:sp>
      <p:sp>
        <p:nvSpPr>
          <p:cNvPr id="9" name="키커 17"/>
          <p:cNvSpPr txBox="1"/>
          <p:nvPr/>
        </p:nvSpPr>
        <p:spPr>
          <a:xfrm>
            <a:off x="10583019" y="338138"/>
            <a:ext cx="113765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 lang="ko-KR" altLang="en-US">
                <a:solidFill>
                  <a:srgbClr val="6B6B73"/>
                </a:solidFill>
                <a:latin typeface="Pretendard Medium"/>
                <a:ea typeface="Pretendard Medium"/>
                <a:cs typeface="Pretendard Medium"/>
              </a:rPr>
              <a:t>누적 영역 (기본 차트) p61</a:t>
            </a:r>
          </a:p>
        </p:txBody>
      </p:sp>
      <p:sp>
        <p:nvSpPr>
          <p:cNvPr id="10" name="축 제목 21"/>
          <p:cNvSpPr txBox="1"/>
          <p:nvPr/>
        </p:nvSpPr>
        <p:spPr>
          <a:xfrm>
            <a:off x="533400" y="1600200"/>
            <a:ext cx="163868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카테고리별 월 리뷰 콘텐츠</a:t>
            </a:r>
          </a:p>
        </p:txBody>
      </p:sp>
      <p:sp>
        <p:nvSpPr>
          <p:cNvPr id="11" name="u 22"/>
          <p:cNvSpPr txBox="1"/>
          <p:nvPr/>
        </p:nvSpPr>
        <p:spPr>
          <a:xfrm>
            <a:off x="5937498" y="1647825"/>
            <a:ext cx="101181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천 건, 2026년 4~9월</a:t>
            </a:r>
          </a:p>
        </p:txBody>
      </p:sp>
      <p:sp>
        <p:nvSpPr>
          <p:cNvPr id="12" name="열 제목 25"/>
          <p:cNvSpPr txBox="1"/>
          <p:nvPr/>
        </p:nvSpPr>
        <p:spPr>
          <a:xfrm>
            <a:off x="7273082" y="1600200"/>
            <a:ext cx="122773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ko-KR" altLang="en-US">
                <a:solidFill>
                  <a:srgbClr val="18181C"/>
                </a:solidFill>
                <a:latin typeface="Pretendard SemiBold"/>
                <a:ea typeface="Pretendard SemiBold"/>
                <a:cs typeface="Pretendard SemiBold"/>
              </a:rPr>
              <a:t>이 도표가 말하는 것</a:t>
            </a:r>
          </a:p>
        </p:txBody>
      </p:sp>
      <p:sp>
        <p:nvSpPr>
          <p:cNvPr id="13" name="글머리표 26"/>
          <p:cNvSpPr txBox="1"/>
          <p:nvPr/>
        </p:nvSpPr>
        <p:spPr>
          <a:xfrm>
            <a:off x="7273082" y="3643312"/>
            <a:ext cx="4385518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전체는 36천 건에서 117천 건으로 3.2배 늘었다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75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색조는 10천 건에서 44천 건으로 4.4배 늘었다</a:t>
            </a:r>
          </a:p>
          <a:p>
            <a:pPr algn="l" latinLnBrk="0" marL="200025" indent="-160020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SzPct val="100000"/>
              <a:buFont typeface="Pretendard"/>
              <a:buChar char="•"/>
            </a:pPr>
            <a:r>
              <a:rPr sz="120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헤어는 18천 건으로 아직 작다</a:t>
            </a:r>
          </a:p>
        </p:txBody>
      </p:sp>
      <p:sp>
        <p:nvSpPr>
          <p:cNvPr id="14" name="출처 27"/>
          <p:cNvSpPr txBox="1"/>
          <p:nvPr/>
        </p:nvSpPr>
        <p:spPr>
          <a:xfrm>
            <a:off x="533400" y="6324600"/>
            <a:ext cx="137137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출처: 예시 데이터, 실제 수치 아님</a:t>
            </a:r>
          </a:p>
        </p:txBody>
      </p:sp>
      <p:sp>
        <p:nvSpPr>
          <p:cNvPr id="15" name="꼬리말 29"/>
          <p:cNvSpPr txBox="1"/>
          <p:nvPr/>
        </p:nvSpPr>
        <p:spPr>
          <a:xfrm>
            <a:off x="533400" y="6600825"/>
            <a:ext cx="1153751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6B6B73"/>
                </a:solidFill>
                <a:latin typeface="Pretendard"/>
                <a:ea typeface="Pretendard"/>
                <a:cs typeface="Pretendard"/>
              </a:rPr>
              <a:t>Hankki Lab | 도표 부품 견본</a:t>
            </a:r>
          </a:p>
        </p:txBody>
      </p:sp>
      <p:sp>
        <p:nvSpPr>
          <p:cNvPr id="16" name="pg 30"/>
          <p:cNvSpPr txBox="1"/>
          <p:nvPr/>
        </p:nvSpPr>
        <p:spPr>
          <a:xfrm>
            <a:off x="11542514" y="6600825"/>
            <a:ext cx="139779" cy="114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lang="ko-KR" altLang="en-US">
                <a:solidFill>
                  <a:srgbClr val="232326"/>
                </a:solidFill>
                <a:latin typeface="Pretendard Medium"/>
                <a:ea typeface="Pretendard Medium"/>
                <a:cs typeface="Pretendard Medium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v-l 1"/>
          <p:cNvSpPr/>
          <p:nvPr/>
        </p:nvSpPr>
        <p:spPr>
          <a:xfrm>
            <a:off x="0" y="0"/>
            <a:ext cx="190500" cy="6858000"/>
          </a:xfrm>
          <a:prstGeom prst="rect">
            <a:avLst/>
          </a:prstGeom>
          <a:solidFill>
            <a:srgbClr val="18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bk-rule 3"/>
          <p:cNvSpPr/>
          <p:nvPr/>
        </p:nvSpPr>
        <p:spPr>
          <a:xfrm>
            <a:off x="723900" y="3429000"/>
            <a:ext cx="609600" cy="38100"/>
          </a:xfrm>
          <a:prstGeom prst="rect">
            <a:avLst/>
          </a:prstGeom>
          <a:solidFill>
            <a:srgbClr val="D941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bk-brand 6"/>
          <p:cNvSpPr txBox="1"/>
          <p:nvPr/>
        </p:nvSpPr>
        <p:spPr>
          <a:xfrm>
            <a:off x="723900" y="2876550"/>
            <a:ext cx="1767923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lang="ko-KR" altLang="en-US">
                <a:solidFill>
                  <a:srgbClr val="18181C"/>
                </a:solidFill>
                <a:latin typeface="Pretendard"/>
                <a:ea typeface="Pretendard"/>
                <a:cs typeface="Pretendard"/>
              </a:rPr>
              <a:t>Hankki Lab</a:t>
            </a:r>
          </a:p>
        </p:txBody>
      </p:sp>
      <p:sp>
        <p:nvSpPr>
          <p:cNvPr id="5" name="bk-meta 8"/>
          <p:cNvSpPr txBox="1"/>
          <p:nvPr/>
        </p:nvSpPr>
        <p:spPr>
          <a:xfrm>
            <a:off x="723900" y="3686175"/>
            <a:ext cx="1260705" cy="590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latinLnBrk="0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홍길동 대표</a:t>
            </a:r>
          </a:p>
          <a:p>
            <a:pPr algn="l" latinLnBrk="0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hello@example.com</a:t>
            </a:r>
          </a:p>
          <a:p>
            <a:pPr algn="l" latinLnBrk="0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ko-KR" altLang="en-US">
                <a:solidFill>
                  <a:srgbClr val="232326"/>
                </a:solidFill>
                <a:latin typeface="Pretendard"/>
                <a:ea typeface="Pretendard"/>
                <a:cs typeface="Pretendard"/>
              </a:rPr>
              <a:t>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mc-ppt">
      <a:dk1>
        <a:sysClr val="windowText" lastClr="000000"/>
      </a:dk1>
      <a:lt1>
        <a:sysClr val="window" lastClr="FFFFFF"/>
      </a:lt1>
      <a:dk2>
        <a:srgbClr val="18181C"/>
      </a:dk2>
      <a:lt2>
        <a:srgbClr val="FBE9ED"/>
      </a:lt2>
      <a:accent1>
        <a:srgbClr val="D9415F"/>
      </a:accent1>
      <a:accent2>
        <a:srgbClr val="18181C"/>
      </a:accent2>
      <a:accent3>
        <a:srgbClr val="C9C9CF"/>
      </a:accent3>
      <a:accent4>
        <a:srgbClr val="6B6B73"/>
      </a:accent4>
      <a:accent5>
        <a:srgbClr val="D9415F"/>
      </a:accent5>
      <a:accent6>
        <a:srgbClr val="8F1D14"/>
      </a:accent6>
      <a:hlink>
        <a:srgbClr val="0000FF"/>
      </a:hlink>
      <a:folHlink>
        <a:srgbClr val="800080"/>
      </a:folHlink>
    </a:clrScheme>
    <a:fontScheme name="Pretendard">
      <a:majorFont>
        <a:latin typeface="Pretendard SemiBold"/>
        <a:ea typeface="Pretendard SemiBold"/>
        <a:cs typeface="Pretendard SemiBold"/>
        <a:font script="Jpan" typeface="Pretendard SemiBold"/>
        <a:font script="Hang" typeface="Pretendard SemiBold"/>
        <a:font script="Hans" typeface="Pretendard SemiBold"/>
        <a:font script="Hant" typeface="Pretendard SemiBold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Pretendard"/>
        <a:font script="Jpan" typeface="Pretendard"/>
        <a:font script="Hang" typeface="Pretendard"/>
        <a:font script="Hans" typeface="Pretendard"/>
        <a:font script="Hant" typeface="Pretendard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도표 부품 견본</dc:title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