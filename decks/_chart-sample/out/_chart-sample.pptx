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000"/>
          <c:y val="0.09276"/>
          <c:w val="0.56000"/>
          <c:h val="0.81447"/>
        </c:manualLayout>
      </c:layout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매출 구성비</c:v>
                </c:pt>
              </c:strCache>
            </c:strRef>
          </c:tx>
          <c:dPt>
            <c:idx val="0"/>
            <c:spPr>
              <a:solidFill>
                <a:srgbClr val="D9415F"/>
              </a:solidFill>
              <a:ln w="14287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181C"/>
              </a:solidFill>
              <a:ln w="14287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9C9CF"/>
              </a:solidFill>
              <a:ln w="14287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FBE9ED"/>
              </a:solidFill>
              <a:ln w="14287">
                <a:solidFill>
                  <a:srgbClr val="FFFFFF"/>
                </a:solidFill>
              </a:ln>
            </c:spPr>
          </c:dPt>
          <c:dLbls>
            <c:dLbl>
              <c:idx val="0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FFFFFF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FFFFFF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18181C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18181C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75" b="0">
                    <a:solidFill>
                      <a:srgbClr val="18181C"/>
                    </a:solidFill>
                    <a:latin typeface="Pretendard SemiBold"/>
                    <a:ea typeface="Pretendard SemiBold"/>
                    <a:cs typeface="Pretendard SemiBol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광고 상품</c:v>
                </c:pt>
                <c:pt idx="1">
                  <c:v>구독</c:v>
                </c:pt>
                <c:pt idx="2">
                  <c:v>데이터 리포트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52.0</c:v>
                </c:pt>
                <c:pt idx="1">
                  <c:v>26.0</c:v>
                </c:pt>
                <c:pt idx="2">
                  <c:v>15.0</c:v>
                </c:pt>
                <c:pt idx="3">
                  <c:v>7.0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legend>
      <c:legendPos/>
      <c:layout>
        <c:manualLayout>
          <c:xMode val="edge"/>
          <c:yMode val="edge"/>
          <c:x val="0.60793"/>
          <c:y val="0.37800"/>
          <c:w val="0.15682"/>
          <c:h val="0.24401"/>
        </c:manualLayout>
      </c:layout>
      <c:overlay val="0"/>
      <c:txPr>
        <a:bodyPr/>
        <a:lstStyle/>
        <a:p>
          <a:pPr>
            <a:defRPr sz="975" b="0" lang="ko-KR">
              <a:solidFill>
                <a:srgbClr val="232326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 b="0" lang="ko-KR">
          <a:solidFill>
            <a:srgbClr val="232326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20865"/>
          <c:y val="0.07625"/>
          <c:w val="0.58270"/>
          <c:h val="0.84749"/>
        </c:manualLayout>
      </c:layout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유입 경로</c:v>
                </c:pt>
              </c:strCache>
            </c:strRef>
          </c:tx>
          <c:dPt>
            <c:idx val="0"/>
            <c:spPr>
              <a:solidFill>
                <a:srgbClr val="D9415F"/>
              </a:solidFill>
              <a:ln w="14287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8181C"/>
              </a:solidFill>
              <a:ln w="14287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9C9CF"/>
              </a:solidFill>
              <a:ln w="14287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FBE9ED"/>
              </a:solidFill>
              <a:ln w="14287">
                <a:solidFill>
                  <a:srgbClr val="FFFFFF"/>
                </a:solidFill>
              </a:ln>
            </c:spPr>
          </c:dPt>
          <c:dLbls>
            <c:dLbl>
              <c:idx val="0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D9415F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1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18181C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2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18181C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3"/>
              <c:numFmt formatCode="#,##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75" b="0">
                      <a:solidFill>
                        <a:srgbClr val="18181C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numFmt formatCode="#,##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75" b="0">
                    <a:solidFill>
                      <a:srgbClr val="18181C"/>
                    </a:solidFill>
                    <a:latin typeface="Pretendard SemiBold"/>
                    <a:ea typeface="Pretendard SemiBold"/>
                    <a:cs typeface="Pretendard SemiBol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</c:dLbls>
          <c:cat>
            <c:strRef>
              <c:f>Sheet1!$A$2:$A$5</c:f>
              <c:strCache>
                <c:ptCount val="4"/>
                <c:pt idx="0">
                  <c:v>인스타그램</c:v>
                </c:pt>
                <c:pt idx="1">
                  <c:v>유튜브</c:v>
                </c:pt>
                <c:pt idx="2">
                  <c:v>검색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46.0</c:v>
                </c:pt>
                <c:pt idx="1">
                  <c:v>28.0</c:v>
                </c:pt>
                <c:pt idx="2">
                  <c:v>17.0</c:v>
                </c:pt>
                <c:pt idx="3">
                  <c:v>9.0</c:v>
                </c:pt>
              </c:numCache>
            </c:numRef>
          </c:val>
        </c:ser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 b="0" lang="ko-KR">
          <a:solidFill>
            <a:srgbClr val="232326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190"/>
          <c:y val="0.10458"/>
          <c:w val="0.90713"/>
          <c:h val="0.8387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ln w="28575">
              <a:solidFill>
                <a:srgbClr val="D9415F"/>
              </a:solidFill>
            </a:ln>
          </c:spPr>
          <c:marker>
            <c:symbol val="circle"/>
            <c:size val="7"/>
            <c:spPr>
              <a:solidFill>
                <a:srgbClr val="D9415F"/>
              </a:solidFill>
              <a:ln>
                <a:solidFill>
                  <a:srgbClr val="D9415F"/>
                </a:solidFill>
              </a:ln>
            </c:spPr>
          </c:marker>
          <c:dLbls>
            <c:dLbl>
              <c:idx val="5"/>
              <c:numFmt formatCode="#,##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50" b="0">
                      <a:solidFill>
                        <a:srgbClr val="D9415F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0">
                    <a:solidFill>
                      <a:srgbClr val="D9415F"/>
                    </a:solidFill>
                    <a:latin typeface="Pretendard SemiBold"/>
                    <a:ea typeface="Pretendard SemiBold"/>
                    <a:cs typeface="Pretendard SemiBold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1.8</c:v>
                </c:pt>
                <c:pt idx="2">
                  <c:v>2.6</c:v>
                </c:pt>
                <c:pt idx="3">
                  <c:v>3.5</c:v>
                </c:pt>
                <c:pt idx="4">
                  <c:v>4.7</c:v>
                </c:pt>
                <c:pt idx="5">
                  <c:v>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업계 평균</c:v>
                </c:pt>
              </c:strCache>
            </c:strRef>
          </c:tx>
          <c:spPr>
            <a:ln w="28575">
              <a:solidFill>
                <a:srgbClr val="18181C"/>
              </a:solidFill>
            </a:ln>
          </c:spPr>
          <c:marker>
            <c:symbol val="circle"/>
            <c:size val="7"/>
            <c:spPr>
              <a:solidFill>
                <a:srgbClr val="18181C"/>
              </a:solidFill>
              <a:ln>
                <a:solidFill>
                  <a:srgbClr val="18181C"/>
                </a:solidFill>
              </a:ln>
            </c:spPr>
          </c:marker>
          <c:dLbls>
            <c:dLbl>
              <c:idx val="5"/>
              <c:numFmt formatCode="#,##0.0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950" b="0">
                      <a:solidFill>
                        <a:srgbClr val="18181C"/>
                      </a:solidFill>
                      <a:latin typeface="Pretendard SemiBold"/>
                      <a:ea typeface="Pretendard SemiBold"/>
                      <a:cs typeface="Pretendard SemiBold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50" b="0">
                    <a:solidFill>
                      <a:srgbClr val="18181C"/>
                    </a:solidFill>
                    <a:latin typeface="Pretendard SemiBold"/>
                    <a:ea typeface="Pretendard SemiBold"/>
                    <a:cs typeface="Pretendard SemiBold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</c:v>
                </c:pt>
                <c:pt idx="1">
                  <c:v>1.2</c:v>
                </c:pt>
                <c:pt idx="2">
                  <c:v>1.5</c:v>
                </c:pt>
                <c:pt idx="3">
                  <c:v>1.7</c:v>
                </c:pt>
                <c:pt idx="4">
                  <c:v>2.0</c:v>
                </c:pt>
                <c:pt idx="5">
                  <c:v>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4287">
            <a:solidFill>
              <a:srgbClr val="18181C"/>
            </a:solidFill>
          </a:ln>
        </c:spPr>
        <c:txPr>
          <a:bodyPr/>
          <a:lstStyle/>
          <a:p>
            <a:pPr>
              <a:defRPr sz="900" b="0" lang="ko-KR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.0"/>
          <c:min val="0.0"/>
        </c:scaling>
        <c:delete val="0"/>
        <c:axPos val="l"/>
        <c:majorGridlines>
          <c:spPr>
            <a:ln w="9525">
              <a:solidFill>
                <a:srgbClr val="E7E7EA"/>
              </a:solidFill>
            </a:ln>
          </c:spPr>
        </c:majorGridlines>
        <c:numFmt formatCode="#,##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 b="0" lang="ko-KR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2118791784"/>
        <c:crosses val="autoZero"/>
        <c:majorUnit val="2.0"/>
      </c:valAx>
      <c:spPr>
        <a:noFill/>
        <a:ln>
          <a:noFill/>
        </a:ln>
      </c:spPr>
    </c:plotArea>
    <c:legend>
      <c:legendPos val="t"/>
      <c:layout>
        <c:manualLayout>
          <c:xMode val="edge"/>
          <c:yMode val="edge"/>
          <c:x val="0.38822"/>
          <c:y val="0.00000"/>
          <c:w val="0.27450"/>
          <c:h val="0.04793"/>
        </c:manualLayout>
      </c:layout>
      <c:overlay val="0"/>
      <c:txPr>
        <a:bodyPr/>
        <a:lstStyle/>
        <a:p>
          <a:pPr>
            <a:defRPr sz="900" b="0" lang="ko-KR">
              <a:solidFill>
                <a:srgbClr val="232326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 b="0" lang="ko-KR">
          <a:solidFill>
            <a:srgbClr val="232326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2583"/>
          <c:y val="0.10458"/>
          <c:w val="0.81425"/>
          <c:h val="0.8387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스킨케어</c:v>
                </c:pt>
              </c:strCache>
            </c:strRef>
          </c:tx>
          <c:spPr>
            <a:solidFill>
              <a:srgbClr val="18181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20.0</c:v>
                </c:pt>
                <c:pt idx="1">
                  <c:v>24.0</c:v>
                </c:pt>
                <c:pt idx="2">
                  <c:v>30.0</c:v>
                </c:pt>
                <c:pt idx="3">
                  <c:v>38.0</c:v>
                </c:pt>
                <c:pt idx="4">
                  <c:v>46.0</c:v>
                </c:pt>
                <c:pt idx="5">
                  <c:v>55.0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색조</c:v>
                </c:pt>
              </c:strCache>
            </c:strRef>
          </c:tx>
          <c:spPr>
            <a:solidFill>
              <a:srgbClr val="D9415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10.0</c:v>
                </c:pt>
                <c:pt idx="1">
                  <c:v>14.0</c:v>
                </c:pt>
                <c:pt idx="2">
                  <c:v>20.0</c:v>
                </c:pt>
                <c:pt idx="3">
                  <c:v>28.0</c:v>
                </c:pt>
                <c:pt idx="4">
                  <c:v>36.0</c:v>
                </c:pt>
                <c:pt idx="5">
                  <c:v>44.0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헤어</c:v>
                </c:pt>
              </c:strCache>
            </c:strRef>
          </c:tx>
          <c:spPr>
            <a:solidFill>
              <a:srgbClr val="C9C9C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7월</c:v>
                </c:pt>
                <c:pt idx="4">
                  <c:v>8월</c:v>
                </c:pt>
                <c:pt idx="5">
                  <c:v>9월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</c:v>
                </c:pt>
                <c:pt idx="1">
                  <c:v>8.0</c:v>
                </c:pt>
                <c:pt idx="2">
                  <c:v>10.0</c:v>
                </c:pt>
                <c:pt idx="3">
                  <c:v>12.0</c:v>
                </c:pt>
                <c:pt idx="4">
                  <c:v>15.0</c:v>
                </c:pt>
                <c:pt idx="5">
                  <c:v>18.0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4287">
            <a:solidFill>
              <a:srgbClr val="18181C"/>
            </a:solidFill>
          </a:ln>
        </c:spPr>
        <c:txPr>
          <a:bodyPr/>
          <a:lstStyle/>
          <a:p>
            <a:pPr>
              <a:defRPr sz="900" b="0" lang="ko-KR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160.0"/>
          <c:min val="0.0"/>
        </c:scaling>
        <c:delete val="0"/>
        <c:axPos val="l"/>
        <c:majorGridlines>
          <c:spPr>
            <a:ln w="9525">
              <a:solidFill>
                <a:srgbClr val="E7E7EA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 b="0" lang="ko-KR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01159928"/>
        <c:crosses val="autoZero"/>
        <c:crossBetween val="midCat"/>
        <c:majorUnit val="40.0"/>
      </c:valAx>
      <c:spPr>
        <a:noFill/>
        <a:ln>
          <a:noFill/>
        </a:ln>
      </c:spPr>
    </c:plotArea>
    <c:legend>
      <c:legendPos val="t"/>
      <c:layout>
        <c:manualLayout>
          <c:xMode val="edge"/>
          <c:yMode val="edge"/>
          <c:x val="0.35396"/>
          <c:y val="0.00000"/>
          <c:w val="0.35799"/>
          <c:h val="0.04793"/>
        </c:manualLayout>
      </c:layout>
      <c:overlay val="0"/>
      <c:txPr>
        <a:bodyPr/>
        <a:lstStyle/>
        <a:p>
          <a:pPr>
            <a:defRPr sz="900" b="0" lang="ko-KR">
              <a:solidFill>
                <a:srgbClr val="232326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900" b="0" lang="ko-KR">
          <a:solidFill>
            <a:srgbClr val="232326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v-l 1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cv-rule 4"/>
          <p:cNvSpPr/>
          <p:nvPr/>
        </p:nvSpPr>
        <p:spPr>
          <a:xfrm>
            <a:off x="723900" y="3733800"/>
            <a:ext cx="609600" cy="38100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cv-brand 8"/>
          <p:cNvSpPr txBox="1"/>
          <p:nvPr/>
        </p:nvSpPr>
        <p:spPr>
          <a:xfrm>
            <a:off x="723900" y="533400"/>
            <a:ext cx="80858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5" name="cv-title 9"/>
          <p:cNvSpPr txBox="1"/>
          <p:nvPr/>
        </p:nvSpPr>
        <p:spPr>
          <a:xfrm>
            <a:off x="723900" y="2286000"/>
            <a:ext cx="2519232" cy="523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 lang="ko-KR" altLang="en-US">
                <a:solidFill>
                  <a:srgbClr val="18181C"/>
                </a:solidFill>
                <a:latin typeface="Pretendard"/>
                <a:ea typeface="Pretendard"/>
                <a:cs typeface="Pretendard"/>
              </a:rPr>
              <a:t>도표 부품 시연</a:t>
            </a:r>
          </a:p>
        </p:txBody>
      </p:sp>
      <p:sp>
        <p:nvSpPr>
          <p:cNvPr id="6" name="cv-sub 11"/>
          <p:cNvSpPr txBox="1"/>
          <p:nvPr/>
        </p:nvSpPr>
        <p:spPr>
          <a:xfrm>
            <a:off x="723900" y="3981450"/>
            <a:ext cx="347252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새로 더한 도표 14종을 예시 데이터로 채운 견본</a:t>
            </a:r>
          </a:p>
        </p:txBody>
      </p:sp>
      <p:sp>
        <p:nvSpPr>
          <p:cNvPr id="7" name="cv-meta 12"/>
          <p:cNvSpPr txBox="1"/>
          <p:nvPr/>
        </p:nvSpPr>
        <p:spPr>
          <a:xfrm>
            <a:off x="723900" y="6019800"/>
            <a:ext cx="1459444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2026년 10월</a:t>
            </a:r>
          </a:p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내부 검토용, 수치는 모두 가상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뷰티 소비자의 68%가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구매 전에 리뷰 영상을 확인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5" name="on 10"/>
          <p:cNvSpPr/>
          <p:nvPr/>
        </p:nvSpPr>
        <p:spPr>
          <a:xfrm>
            <a:off x="23431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on 11"/>
          <p:cNvSpPr/>
          <p:nvPr/>
        </p:nvSpPr>
        <p:spPr>
          <a:xfrm>
            <a:off x="26860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on 12"/>
          <p:cNvSpPr/>
          <p:nvPr/>
        </p:nvSpPr>
        <p:spPr>
          <a:xfrm>
            <a:off x="30289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on 13"/>
          <p:cNvSpPr/>
          <p:nvPr/>
        </p:nvSpPr>
        <p:spPr>
          <a:xfrm>
            <a:off x="33718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on 14"/>
          <p:cNvSpPr/>
          <p:nvPr/>
        </p:nvSpPr>
        <p:spPr>
          <a:xfrm>
            <a:off x="37147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on 15"/>
          <p:cNvSpPr/>
          <p:nvPr/>
        </p:nvSpPr>
        <p:spPr>
          <a:xfrm>
            <a:off x="40576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on 16"/>
          <p:cNvSpPr/>
          <p:nvPr/>
        </p:nvSpPr>
        <p:spPr>
          <a:xfrm>
            <a:off x="44005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on 17"/>
          <p:cNvSpPr/>
          <p:nvPr/>
        </p:nvSpPr>
        <p:spPr>
          <a:xfrm>
            <a:off x="47434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on 18"/>
          <p:cNvSpPr/>
          <p:nvPr/>
        </p:nvSpPr>
        <p:spPr>
          <a:xfrm>
            <a:off x="50863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on 19"/>
          <p:cNvSpPr/>
          <p:nvPr/>
        </p:nvSpPr>
        <p:spPr>
          <a:xfrm>
            <a:off x="5429250" y="23193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on 20"/>
          <p:cNvSpPr/>
          <p:nvPr/>
        </p:nvSpPr>
        <p:spPr>
          <a:xfrm>
            <a:off x="23431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on 21"/>
          <p:cNvSpPr/>
          <p:nvPr/>
        </p:nvSpPr>
        <p:spPr>
          <a:xfrm>
            <a:off x="26860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on 22"/>
          <p:cNvSpPr/>
          <p:nvPr/>
        </p:nvSpPr>
        <p:spPr>
          <a:xfrm>
            <a:off x="30289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on 23"/>
          <p:cNvSpPr/>
          <p:nvPr/>
        </p:nvSpPr>
        <p:spPr>
          <a:xfrm>
            <a:off x="33718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on 24"/>
          <p:cNvSpPr/>
          <p:nvPr/>
        </p:nvSpPr>
        <p:spPr>
          <a:xfrm>
            <a:off x="37147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on 25"/>
          <p:cNvSpPr/>
          <p:nvPr/>
        </p:nvSpPr>
        <p:spPr>
          <a:xfrm>
            <a:off x="40576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on 26"/>
          <p:cNvSpPr/>
          <p:nvPr/>
        </p:nvSpPr>
        <p:spPr>
          <a:xfrm>
            <a:off x="44005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on 27"/>
          <p:cNvSpPr/>
          <p:nvPr/>
        </p:nvSpPr>
        <p:spPr>
          <a:xfrm>
            <a:off x="47434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on 28"/>
          <p:cNvSpPr/>
          <p:nvPr/>
        </p:nvSpPr>
        <p:spPr>
          <a:xfrm>
            <a:off x="50863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on 29"/>
          <p:cNvSpPr/>
          <p:nvPr/>
        </p:nvSpPr>
        <p:spPr>
          <a:xfrm>
            <a:off x="5429250" y="26622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on 30"/>
          <p:cNvSpPr/>
          <p:nvPr/>
        </p:nvSpPr>
        <p:spPr>
          <a:xfrm>
            <a:off x="23431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on 31"/>
          <p:cNvSpPr/>
          <p:nvPr/>
        </p:nvSpPr>
        <p:spPr>
          <a:xfrm>
            <a:off x="26860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on 32"/>
          <p:cNvSpPr/>
          <p:nvPr/>
        </p:nvSpPr>
        <p:spPr>
          <a:xfrm>
            <a:off x="30289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on 33"/>
          <p:cNvSpPr/>
          <p:nvPr/>
        </p:nvSpPr>
        <p:spPr>
          <a:xfrm>
            <a:off x="33718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on 34"/>
          <p:cNvSpPr/>
          <p:nvPr/>
        </p:nvSpPr>
        <p:spPr>
          <a:xfrm>
            <a:off x="37147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on 35"/>
          <p:cNvSpPr/>
          <p:nvPr/>
        </p:nvSpPr>
        <p:spPr>
          <a:xfrm>
            <a:off x="40576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on 36"/>
          <p:cNvSpPr/>
          <p:nvPr/>
        </p:nvSpPr>
        <p:spPr>
          <a:xfrm>
            <a:off x="44005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on 37"/>
          <p:cNvSpPr/>
          <p:nvPr/>
        </p:nvSpPr>
        <p:spPr>
          <a:xfrm>
            <a:off x="47434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on 38"/>
          <p:cNvSpPr/>
          <p:nvPr/>
        </p:nvSpPr>
        <p:spPr>
          <a:xfrm>
            <a:off x="50863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on 39"/>
          <p:cNvSpPr/>
          <p:nvPr/>
        </p:nvSpPr>
        <p:spPr>
          <a:xfrm>
            <a:off x="5429250" y="30051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on 40"/>
          <p:cNvSpPr/>
          <p:nvPr/>
        </p:nvSpPr>
        <p:spPr>
          <a:xfrm>
            <a:off x="23431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on 41"/>
          <p:cNvSpPr/>
          <p:nvPr/>
        </p:nvSpPr>
        <p:spPr>
          <a:xfrm>
            <a:off x="26860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on 42"/>
          <p:cNvSpPr/>
          <p:nvPr/>
        </p:nvSpPr>
        <p:spPr>
          <a:xfrm>
            <a:off x="30289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on 43"/>
          <p:cNvSpPr/>
          <p:nvPr/>
        </p:nvSpPr>
        <p:spPr>
          <a:xfrm>
            <a:off x="33718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on 44"/>
          <p:cNvSpPr/>
          <p:nvPr/>
        </p:nvSpPr>
        <p:spPr>
          <a:xfrm>
            <a:off x="37147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on 45"/>
          <p:cNvSpPr/>
          <p:nvPr/>
        </p:nvSpPr>
        <p:spPr>
          <a:xfrm>
            <a:off x="40576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on 46"/>
          <p:cNvSpPr/>
          <p:nvPr/>
        </p:nvSpPr>
        <p:spPr>
          <a:xfrm>
            <a:off x="44005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on 47"/>
          <p:cNvSpPr/>
          <p:nvPr/>
        </p:nvSpPr>
        <p:spPr>
          <a:xfrm>
            <a:off x="47434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on 48"/>
          <p:cNvSpPr/>
          <p:nvPr/>
        </p:nvSpPr>
        <p:spPr>
          <a:xfrm>
            <a:off x="50863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on 49"/>
          <p:cNvSpPr/>
          <p:nvPr/>
        </p:nvSpPr>
        <p:spPr>
          <a:xfrm>
            <a:off x="5429250" y="33480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on 50"/>
          <p:cNvSpPr/>
          <p:nvPr/>
        </p:nvSpPr>
        <p:spPr>
          <a:xfrm>
            <a:off x="23431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on 51"/>
          <p:cNvSpPr/>
          <p:nvPr/>
        </p:nvSpPr>
        <p:spPr>
          <a:xfrm>
            <a:off x="26860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on 52"/>
          <p:cNvSpPr/>
          <p:nvPr/>
        </p:nvSpPr>
        <p:spPr>
          <a:xfrm>
            <a:off x="30289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on 53"/>
          <p:cNvSpPr/>
          <p:nvPr/>
        </p:nvSpPr>
        <p:spPr>
          <a:xfrm>
            <a:off x="33718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on 54"/>
          <p:cNvSpPr/>
          <p:nvPr/>
        </p:nvSpPr>
        <p:spPr>
          <a:xfrm>
            <a:off x="37147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on 55"/>
          <p:cNvSpPr/>
          <p:nvPr/>
        </p:nvSpPr>
        <p:spPr>
          <a:xfrm>
            <a:off x="40576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on 56"/>
          <p:cNvSpPr/>
          <p:nvPr/>
        </p:nvSpPr>
        <p:spPr>
          <a:xfrm>
            <a:off x="44005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on 57"/>
          <p:cNvSpPr/>
          <p:nvPr/>
        </p:nvSpPr>
        <p:spPr>
          <a:xfrm>
            <a:off x="47434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on 58"/>
          <p:cNvSpPr/>
          <p:nvPr/>
        </p:nvSpPr>
        <p:spPr>
          <a:xfrm>
            <a:off x="50863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on 59"/>
          <p:cNvSpPr/>
          <p:nvPr/>
        </p:nvSpPr>
        <p:spPr>
          <a:xfrm>
            <a:off x="5429250" y="36909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on 60"/>
          <p:cNvSpPr/>
          <p:nvPr/>
        </p:nvSpPr>
        <p:spPr>
          <a:xfrm>
            <a:off x="23431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on 61"/>
          <p:cNvSpPr/>
          <p:nvPr/>
        </p:nvSpPr>
        <p:spPr>
          <a:xfrm>
            <a:off x="26860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on 62"/>
          <p:cNvSpPr/>
          <p:nvPr/>
        </p:nvSpPr>
        <p:spPr>
          <a:xfrm>
            <a:off x="30289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on 63"/>
          <p:cNvSpPr/>
          <p:nvPr/>
        </p:nvSpPr>
        <p:spPr>
          <a:xfrm>
            <a:off x="33718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on 64"/>
          <p:cNvSpPr/>
          <p:nvPr/>
        </p:nvSpPr>
        <p:spPr>
          <a:xfrm>
            <a:off x="37147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on 65"/>
          <p:cNvSpPr/>
          <p:nvPr/>
        </p:nvSpPr>
        <p:spPr>
          <a:xfrm>
            <a:off x="40576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on 66"/>
          <p:cNvSpPr/>
          <p:nvPr/>
        </p:nvSpPr>
        <p:spPr>
          <a:xfrm>
            <a:off x="44005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on 67"/>
          <p:cNvSpPr/>
          <p:nvPr/>
        </p:nvSpPr>
        <p:spPr>
          <a:xfrm>
            <a:off x="47434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on 68"/>
          <p:cNvSpPr/>
          <p:nvPr/>
        </p:nvSpPr>
        <p:spPr>
          <a:xfrm>
            <a:off x="50863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on 69"/>
          <p:cNvSpPr/>
          <p:nvPr/>
        </p:nvSpPr>
        <p:spPr>
          <a:xfrm>
            <a:off x="5429250" y="40338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on 70"/>
          <p:cNvSpPr/>
          <p:nvPr/>
        </p:nvSpPr>
        <p:spPr>
          <a:xfrm>
            <a:off x="23431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on 71"/>
          <p:cNvSpPr/>
          <p:nvPr/>
        </p:nvSpPr>
        <p:spPr>
          <a:xfrm>
            <a:off x="26860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on 72"/>
          <p:cNvSpPr/>
          <p:nvPr/>
        </p:nvSpPr>
        <p:spPr>
          <a:xfrm>
            <a:off x="30289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on 73"/>
          <p:cNvSpPr/>
          <p:nvPr/>
        </p:nvSpPr>
        <p:spPr>
          <a:xfrm>
            <a:off x="33718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on 74"/>
          <p:cNvSpPr/>
          <p:nvPr/>
        </p:nvSpPr>
        <p:spPr>
          <a:xfrm>
            <a:off x="37147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on 75"/>
          <p:cNvSpPr/>
          <p:nvPr/>
        </p:nvSpPr>
        <p:spPr>
          <a:xfrm>
            <a:off x="40576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" name="on 76"/>
          <p:cNvSpPr/>
          <p:nvPr/>
        </p:nvSpPr>
        <p:spPr>
          <a:xfrm>
            <a:off x="44005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on 77"/>
          <p:cNvSpPr/>
          <p:nvPr/>
        </p:nvSpPr>
        <p:spPr>
          <a:xfrm>
            <a:off x="4743450" y="4376738"/>
            <a:ext cx="247650" cy="2476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dm-g 78"/>
          <p:cNvSpPr/>
          <p:nvPr/>
        </p:nvSpPr>
        <p:spPr>
          <a:xfrm>
            <a:off x="5086350" y="43767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" name="dm-g 79"/>
          <p:cNvSpPr/>
          <p:nvPr/>
        </p:nvSpPr>
        <p:spPr>
          <a:xfrm>
            <a:off x="5429250" y="43767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5" name="dm-g 80"/>
          <p:cNvSpPr/>
          <p:nvPr/>
        </p:nvSpPr>
        <p:spPr>
          <a:xfrm>
            <a:off x="23431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" name="dm-g 81"/>
          <p:cNvSpPr/>
          <p:nvPr/>
        </p:nvSpPr>
        <p:spPr>
          <a:xfrm>
            <a:off x="26860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" name="dm-g 82"/>
          <p:cNvSpPr/>
          <p:nvPr/>
        </p:nvSpPr>
        <p:spPr>
          <a:xfrm>
            <a:off x="30289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8" name="dm-g 83"/>
          <p:cNvSpPr/>
          <p:nvPr/>
        </p:nvSpPr>
        <p:spPr>
          <a:xfrm>
            <a:off x="33718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" name="dm-g 84"/>
          <p:cNvSpPr/>
          <p:nvPr/>
        </p:nvSpPr>
        <p:spPr>
          <a:xfrm>
            <a:off x="37147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" name="dm-g 85"/>
          <p:cNvSpPr/>
          <p:nvPr/>
        </p:nvSpPr>
        <p:spPr>
          <a:xfrm>
            <a:off x="40576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" name="dm-g 86"/>
          <p:cNvSpPr/>
          <p:nvPr/>
        </p:nvSpPr>
        <p:spPr>
          <a:xfrm>
            <a:off x="44005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" name="dm-g 87"/>
          <p:cNvSpPr/>
          <p:nvPr/>
        </p:nvSpPr>
        <p:spPr>
          <a:xfrm>
            <a:off x="47434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" name="dm-g 88"/>
          <p:cNvSpPr/>
          <p:nvPr/>
        </p:nvSpPr>
        <p:spPr>
          <a:xfrm>
            <a:off x="50863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" name="dm-g 89"/>
          <p:cNvSpPr/>
          <p:nvPr/>
        </p:nvSpPr>
        <p:spPr>
          <a:xfrm>
            <a:off x="5429250" y="47196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" name="dm-g 90"/>
          <p:cNvSpPr/>
          <p:nvPr/>
        </p:nvSpPr>
        <p:spPr>
          <a:xfrm>
            <a:off x="23431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6" name="dm-g 91"/>
          <p:cNvSpPr/>
          <p:nvPr/>
        </p:nvSpPr>
        <p:spPr>
          <a:xfrm>
            <a:off x="26860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" name="dm-g 92"/>
          <p:cNvSpPr/>
          <p:nvPr/>
        </p:nvSpPr>
        <p:spPr>
          <a:xfrm>
            <a:off x="30289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" name="dm-g 93"/>
          <p:cNvSpPr/>
          <p:nvPr/>
        </p:nvSpPr>
        <p:spPr>
          <a:xfrm>
            <a:off x="33718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9" name="dm-g 94"/>
          <p:cNvSpPr/>
          <p:nvPr/>
        </p:nvSpPr>
        <p:spPr>
          <a:xfrm>
            <a:off x="37147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" name="dm-g 95"/>
          <p:cNvSpPr/>
          <p:nvPr/>
        </p:nvSpPr>
        <p:spPr>
          <a:xfrm>
            <a:off x="40576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" name="dm-g 96"/>
          <p:cNvSpPr/>
          <p:nvPr/>
        </p:nvSpPr>
        <p:spPr>
          <a:xfrm>
            <a:off x="44005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" name="dm-g 97"/>
          <p:cNvSpPr/>
          <p:nvPr/>
        </p:nvSpPr>
        <p:spPr>
          <a:xfrm>
            <a:off x="47434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" name="dm-g 98"/>
          <p:cNvSpPr/>
          <p:nvPr/>
        </p:nvSpPr>
        <p:spPr>
          <a:xfrm>
            <a:off x="50863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" name="dm-g 99"/>
          <p:cNvSpPr/>
          <p:nvPr/>
        </p:nvSpPr>
        <p:spPr>
          <a:xfrm>
            <a:off x="5429250" y="50625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" name="dm-g 100"/>
          <p:cNvSpPr/>
          <p:nvPr/>
        </p:nvSpPr>
        <p:spPr>
          <a:xfrm>
            <a:off x="23431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6" name="dm-g 101"/>
          <p:cNvSpPr/>
          <p:nvPr/>
        </p:nvSpPr>
        <p:spPr>
          <a:xfrm>
            <a:off x="26860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" name="dm-g 102"/>
          <p:cNvSpPr/>
          <p:nvPr/>
        </p:nvSpPr>
        <p:spPr>
          <a:xfrm>
            <a:off x="30289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8" name="dm-g 103"/>
          <p:cNvSpPr/>
          <p:nvPr/>
        </p:nvSpPr>
        <p:spPr>
          <a:xfrm>
            <a:off x="33718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9" name="dm-g 104"/>
          <p:cNvSpPr/>
          <p:nvPr/>
        </p:nvSpPr>
        <p:spPr>
          <a:xfrm>
            <a:off x="37147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" name="dm-g 105"/>
          <p:cNvSpPr/>
          <p:nvPr/>
        </p:nvSpPr>
        <p:spPr>
          <a:xfrm>
            <a:off x="40576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" name="dm-g 106"/>
          <p:cNvSpPr/>
          <p:nvPr/>
        </p:nvSpPr>
        <p:spPr>
          <a:xfrm>
            <a:off x="44005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" name="dm-g 107"/>
          <p:cNvSpPr/>
          <p:nvPr/>
        </p:nvSpPr>
        <p:spPr>
          <a:xfrm>
            <a:off x="47434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3" name="dm-g 108"/>
          <p:cNvSpPr/>
          <p:nvPr/>
        </p:nvSpPr>
        <p:spPr>
          <a:xfrm>
            <a:off x="50863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4" name="dm-g 109"/>
          <p:cNvSpPr/>
          <p:nvPr/>
        </p:nvSpPr>
        <p:spPr>
          <a:xfrm>
            <a:off x="5429250" y="5405438"/>
            <a:ext cx="247650" cy="2476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5" name="a 111"/>
          <p:cNvSpPr/>
          <p:nvPr/>
        </p:nvSpPr>
        <p:spPr>
          <a:xfrm>
            <a:off x="533400" y="6100762"/>
            <a:ext cx="104775" cy="104775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6" name="c 113"/>
          <p:cNvSpPr/>
          <p:nvPr/>
        </p:nvSpPr>
        <p:spPr>
          <a:xfrm>
            <a:off x="1075283" y="6100762"/>
            <a:ext cx="104775" cy="1047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07" name="Connector 106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108" name="Connector 107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09" name="회사명 121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110" name="키커 122"/>
          <p:cNvSpPr txBox="1"/>
          <p:nvPr/>
        </p:nvSpPr>
        <p:spPr>
          <a:xfrm>
            <a:off x="10871150" y="338138"/>
            <a:ext cx="83799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도트 매트릭스 p48</a:t>
            </a:r>
          </a:p>
        </p:txBody>
      </p:sp>
      <p:sp>
        <p:nvSpPr>
          <p:cNvPr id="111" name="축 제목 126"/>
          <p:cNvSpPr txBox="1"/>
          <p:nvPr/>
        </p:nvSpPr>
        <p:spPr>
          <a:xfrm>
            <a:off x="533400" y="1600200"/>
            <a:ext cx="171390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구매 전 리뷰 영상 시청 여부</a:t>
            </a:r>
          </a:p>
        </p:txBody>
      </p:sp>
      <p:sp>
        <p:nvSpPr>
          <p:cNvPr id="112" name="u 127"/>
          <p:cNvSpPr txBox="1"/>
          <p:nvPr/>
        </p:nvSpPr>
        <p:spPr>
          <a:xfrm>
            <a:off x="5481786" y="1647825"/>
            <a:ext cx="148575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%, 2026년 9월 설문 (n=1,200)</a:t>
            </a:r>
          </a:p>
        </p:txBody>
      </p:sp>
      <p:sp>
        <p:nvSpPr>
          <p:cNvPr id="113" name="v 128"/>
          <p:cNvSpPr txBox="1"/>
          <p:nvPr/>
        </p:nvSpPr>
        <p:spPr>
          <a:xfrm>
            <a:off x="533400" y="3367088"/>
            <a:ext cx="1428750" cy="600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68%</a:t>
            </a:r>
          </a:p>
        </p:txBody>
      </p:sp>
      <p:sp>
        <p:nvSpPr>
          <p:cNvPr id="114" name="ds 129"/>
          <p:cNvSpPr txBox="1"/>
          <p:nvPr/>
        </p:nvSpPr>
        <p:spPr>
          <a:xfrm>
            <a:off x="533400" y="4043362"/>
            <a:ext cx="1469231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응답자 100명 가운데 68명이 구매 전에 리뷰 영상을 본다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5325" y="6086475"/>
            <a:ext cx="2160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본다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37208" y="6086475"/>
            <a:ext cx="54004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보지 않는다</a:t>
            </a:r>
          </a:p>
        </p:txBody>
      </p:sp>
      <p:sp>
        <p:nvSpPr>
          <p:cNvPr id="117" name="열 제목 235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118" name="글머리표 236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리뷰 영상은 구매 직전 단계의 기본 확인 절차다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20대는 81%로 평균보다 13%p 높다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보지 않는 32%는 대부분 재구매 고객이다</a:t>
            </a:r>
          </a:p>
        </p:txBody>
      </p:sp>
      <p:sp>
        <p:nvSpPr>
          <p:cNvPr id="119" name="출처 237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120" name="꼬리말 239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121" name="pg 240"/>
          <p:cNvSpPr txBox="1"/>
          <p:nvPr/>
        </p:nvSpPr>
        <p:spPr>
          <a:xfrm>
            <a:off x="11615886" y="6600825"/>
            <a:ext cx="63472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브랜드 리뷰 콘텐츠 시장 2.4조 원 가운데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3년 안에 확보할 시장은 96억 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53721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5" name="o 8"/>
          <p:cNvSpPr/>
          <p:nvPr/>
        </p:nvSpPr>
        <p:spPr>
          <a:xfrm>
            <a:off x="1600200" y="2481262"/>
            <a:ext cx="3238500" cy="3238500"/>
          </a:xfrm>
          <a:prstGeom prst="ellipse">
            <a:avLst/>
          </a:prstGeom>
          <a:solidFill>
            <a:srgbClr val="FBE9E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o 9"/>
          <p:cNvSpPr/>
          <p:nvPr/>
        </p:nvSpPr>
        <p:spPr>
          <a:xfrm>
            <a:off x="2171700" y="3624262"/>
            <a:ext cx="2095500" cy="209550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o 10"/>
          <p:cNvSpPr/>
          <p:nvPr/>
        </p:nvSpPr>
        <p:spPr>
          <a:xfrm>
            <a:off x="2695575" y="4672012"/>
            <a:ext cx="1047750" cy="1047750"/>
          </a:xfrm>
          <a:prstGeom prst="ellipse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6286500" y="1852612"/>
            <a:ext cx="53721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graphicFrame>
        <p:nvGraphicFramePr>
          <p:cNvPr id="9" name="표 19"/>
          <p:cNvGraphicFramePr>
            <a:graphicFrameLocks noGrp="1"/>
          </p:cNvGraphicFramePr>
          <p:nvPr/>
        </p:nvGraphicFramePr>
        <p:xfrm>
          <a:off x="6286500" y="3312319"/>
          <a:ext cx="5372100" cy="159543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238250"/>
                <a:gridCol w="1047750"/>
                <a:gridCol w="3086100"/>
              </a:tblGrid>
              <a:tr h="2857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  <a:endParaRPr sz="100"/>
                    </a:p>
                  </a:txBody>
                  <a:tcPr marT="0" marR="95250" marB="66675" marL="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규모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산정 방식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전체 시장</a:t>
                      </a:r>
                      <a:endParaRPr sz="100"/>
                    </a:p>
                  </a:txBody>
                  <a:tcPr marT="104775" marR="95250" marB="1047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2.4조</a:t>
                      </a:r>
                      <a:endParaRPr sz="100"/>
                    </a:p>
                  </a:txBody>
                  <a:tcPr marT="104775" marR="95250" marB="1047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뷰티 브랜드 광고비 중 콘텐츠 비중</a:t>
                      </a:r>
                      <a:endParaRPr sz="100"/>
                    </a:p>
                  </a:txBody>
                  <a:tcPr marT="104775" marR="95250" marB="1047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접근 가능한 시장</a:t>
                      </a:r>
                      <a:endParaRPr sz="100"/>
                    </a:p>
                  </a:txBody>
                  <a:tcPr marT="104775" marR="95250" marB="1047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3,200억</a:t>
                      </a:r>
                      <a:endParaRPr sz="100"/>
                    </a:p>
                  </a:txBody>
                  <a:tcPr marT="104775" marR="95250" marB="1047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중소 브랜드 1.6만 곳 × 연 2,000만 원</a:t>
                      </a:r>
                      <a:endParaRPr sz="100"/>
                    </a:p>
                  </a:txBody>
                  <a:tcPr marT="104775" marR="95250" marB="1047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</a:tr>
              <a:tr h="433388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확보할 시장</a:t>
                      </a:r>
                      <a:endParaRPr sz="100"/>
                    </a:p>
                  </a:txBody>
                  <a:tcPr marT="104775" marR="95250" marB="1047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i="0" lang="ko-KR" altLang="en-US">
                          <a:solidFill>
                            <a:srgbClr val="D9415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96억</a:t>
                      </a:r>
                      <a:endParaRPr sz="100"/>
                    </a:p>
                  </a:txBody>
                  <a:tcPr marT="104775" marR="95250" marB="1047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접근 가능한 시장의 3%</a:t>
                      </a:r>
                      <a:endParaRPr sz="100"/>
                    </a:p>
                  </a:txBody>
                  <a:tcPr marT="104775" marR="95250" marB="1047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1" name="회사명 24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12" name="키커 25"/>
          <p:cNvSpPr txBox="1"/>
          <p:nvPr/>
        </p:nvSpPr>
        <p:spPr>
          <a:xfrm>
            <a:off x="10935593" y="338138"/>
            <a:ext cx="77097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시장 규모 원 p49</a:t>
            </a:r>
          </a:p>
        </p:txBody>
      </p:sp>
      <p:sp>
        <p:nvSpPr>
          <p:cNvPr id="13" name="축 제목 29"/>
          <p:cNvSpPr txBox="1"/>
          <p:nvPr/>
        </p:nvSpPr>
        <p:spPr>
          <a:xfrm>
            <a:off x="533400" y="1600200"/>
            <a:ext cx="181327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국내 브랜드 리뷰 콘텐츠 시장</a:t>
            </a:r>
          </a:p>
        </p:txBody>
      </p:sp>
      <p:sp>
        <p:nvSpPr>
          <p:cNvPr id="14" name="u 30"/>
          <p:cNvSpPr txBox="1"/>
          <p:nvPr/>
        </p:nvSpPr>
        <p:spPr>
          <a:xfrm>
            <a:off x="5399484" y="1647825"/>
            <a:ext cx="5453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원, 2026년</a:t>
            </a:r>
          </a:p>
        </p:txBody>
      </p:sp>
      <p:sp>
        <p:nvSpPr>
          <p:cNvPr id="15" name="n 34"/>
          <p:cNvSpPr txBox="1"/>
          <p:nvPr/>
        </p:nvSpPr>
        <p:spPr>
          <a:xfrm>
            <a:off x="2980697" y="2776538"/>
            <a:ext cx="4773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전체 시장</a:t>
            </a:r>
          </a:p>
        </p:txBody>
      </p:sp>
      <p:sp>
        <p:nvSpPr>
          <p:cNvPr id="16" name="v 35"/>
          <p:cNvSpPr txBox="1"/>
          <p:nvPr/>
        </p:nvSpPr>
        <p:spPr>
          <a:xfrm>
            <a:off x="2992148" y="2938462"/>
            <a:ext cx="45460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2.4조</a:t>
            </a:r>
          </a:p>
        </p:txBody>
      </p:sp>
      <p:sp>
        <p:nvSpPr>
          <p:cNvPr id="17" name="n 36"/>
          <p:cNvSpPr txBox="1"/>
          <p:nvPr/>
        </p:nvSpPr>
        <p:spPr>
          <a:xfrm>
            <a:off x="2805020" y="3919538"/>
            <a:ext cx="82871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접근 가능한 시장</a:t>
            </a:r>
          </a:p>
        </p:txBody>
      </p:sp>
      <p:sp>
        <p:nvSpPr>
          <p:cNvPr id="18" name="v 37"/>
          <p:cNvSpPr txBox="1"/>
          <p:nvPr/>
        </p:nvSpPr>
        <p:spPr>
          <a:xfrm>
            <a:off x="2873895" y="4081462"/>
            <a:ext cx="69111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3,200억</a:t>
            </a:r>
          </a:p>
        </p:txBody>
      </p:sp>
      <p:sp>
        <p:nvSpPr>
          <p:cNvPr id="19" name="n 38"/>
          <p:cNvSpPr txBox="1"/>
          <p:nvPr/>
        </p:nvSpPr>
        <p:spPr>
          <a:xfrm>
            <a:off x="2927143" y="5014912"/>
            <a:ext cx="5844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확보할 시장</a:t>
            </a:r>
          </a:p>
        </p:txBody>
      </p:sp>
      <p:sp>
        <p:nvSpPr>
          <p:cNvPr id="20" name="v 39"/>
          <p:cNvSpPr txBox="1"/>
          <p:nvPr/>
        </p:nvSpPr>
        <p:spPr>
          <a:xfrm>
            <a:off x="3016297" y="5176838"/>
            <a:ext cx="40615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 altLang="en-US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96억</a:t>
            </a:r>
          </a:p>
        </p:txBody>
      </p:sp>
      <p:sp>
        <p:nvSpPr>
          <p:cNvPr id="21" name="열 제목 41"/>
          <p:cNvSpPr txBox="1"/>
          <p:nvPr/>
        </p:nvSpPr>
        <p:spPr>
          <a:xfrm>
            <a:off x="6286500" y="1600200"/>
            <a:ext cx="60458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산정 근거</a:t>
            </a:r>
          </a:p>
        </p:txBody>
      </p:sp>
      <p:sp>
        <p:nvSpPr>
          <p:cNvPr id="22" name="출처 43"/>
          <p:cNvSpPr txBox="1"/>
          <p:nvPr/>
        </p:nvSpPr>
        <p:spPr>
          <a:xfrm>
            <a:off x="533400" y="6324600"/>
            <a:ext cx="240097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아님. 원의 크기는 축척이 아님</a:t>
            </a:r>
          </a:p>
        </p:txBody>
      </p:sp>
      <p:sp>
        <p:nvSpPr>
          <p:cNvPr id="23" name="꼬리말 45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24" name="pg 46"/>
          <p:cNvSpPr txBox="1"/>
          <p:nvPr/>
        </p:nvSpPr>
        <p:spPr>
          <a:xfrm>
            <a:off x="11601896" y="6600825"/>
            <a:ext cx="78022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연 매출은 3년간 연평균 59% 성장,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2027년 105억 원 전망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23900" y="2081212"/>
            <a:ext cx="3896171" cy="0"/>
          </a:xfrm>
          <a:prstGeom prst="line">
            <a:avLst/>
          </a:prstGeom>
          <a:ln w="9525">
            <a:solidFill>
              <a:srgbClr val="6B6B7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615309" y="2076450"/>
            <a:ext cx="0" cy="76200"/>
          </a:xfrm>
          <a:prstGeom prst="line">
            <a:avLst/>
          </a:prstGeom>
          <a:ln w="9525">
            <a:solidFill>
              <a:srgbClr val="6B6B7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728662" y="2076450"/>
            <a:ext cx="0" cy="76200"/>
          </a:xfrm>
          <a:prstGeom prst="line">
            <a:avLst/>
          </a:prstGeom>
          <a:ln w="9525">
            <a:solidFill>
              <a:srgbClr val="6B6B7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886771" y="2081212"/>
            <a:ext cx="1814811" cy="0"/>
          </a:xfrm>
          <a:prstGeom prst="line">
            <a:avLst/>
          </a:prstGeom>
          <a:ln w="9525">
            <a:solidFill>
              <a:srgbClr val="6B6B7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696819" y="2076450"/>
            <a:ext cx="0" cy="76200"/>
          </a:xfrm>
          <a:prstGeom prst="line">
            <a:avLst/>
          </a:prstGeom>
          <a:ln w="9525">
            <a:solidFill>
              <a:srgbClr val="6B6B73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4891534" y="2076450"/>
            <a:ext cx="0" cy="76200"/>
          </a:xfrm>
          <a:prstGeom prst="line">
            <a:avLst/>
          </a:prstGeom>
          <a:ln w="9525">
            <a:solidFill>
              <a:srgbClr val="6B6B73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33400" y="5748338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12" name="막대 18"/>
          <p:cNvSpPr/>
          <p:nvPr/>
        </p:nvSpPr>
        <p:spPr>
          <a:xfrm>
            <a:off x="723900" y="5395912"/>
            <a:ext cx="773906" cy="347662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막대 20"/>
          <p:cNvSpPr/>
          <p:nvPr/>
        </p:nvSpPr>
        <p:spPr>
          <a:xfrm>
            <a:off x="1764506" y="5187404"/>
            <a:ext cx="774055" cy="55617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막대 22"/>
          <p:cNvSpPr/>
          <p:nvPr/>
        </p:nvSpPr>
        <p:spPr>
          <a:xfrm>
            <a:off x="2805261" y="4839742"/>
            <a:ext cx="774055" cy="903833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막대 24"/>
          <p:cNvSpPr/>
          <p:nvPr/>
        </p:nvSpPr>
        <p:spPr>
          <a:xfrm>
            <a:off x="3846016" y="4352925"/>
            <a:ext cx="774055" cy="1390650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막대 26"/>
          <p:cNvSpPr/>
          <p:nvPr/>
        </p:nvSpPr>
        <p:spPr>
          <a:xfrm>
            <a:off x="4886771" y="3657600"/>
            <a:ext cx="774055" cy="2085975"/>
          </a:xfrm>
          <a:prstGeom prst="rect">
            <a:avLst/>
          </a:prstGeom>
          <a:solidFill>
            <a:srgbClr val="FBE9ED"/>
          </a:solidFill>
          <a:ln w="9525">
            <a:solidFill>
              <a:srgbClr val="D9415F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막대 28"/>
          <p:cNvSpPr/>
          <p:nvPr/>
        </p:nvSpPr>
        <p:spPr>
          <a:xfrm>
            <a:off x="5927527" y="2684264"/>
            <a:ext cx="774055" cy="3059311"/>
          </a:xfrm>
          <a:prstGeom prst="rect">
            <a:avLst/>
          </a:prstGeom>
          <a:solidFill>
            <a:srgbClr val="FBE9ED"/>
          </a:solidFill>
          <a:ln w="9525">
            <a:solidFill>
              <a:srgbClr val="D9415F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8" name="c 36"/>
          <p:cNvSpPr/>
          <p:nvPr/>
        </p:nvSpPr>
        <p:spPr>
          <a:xfrm>
            <a:off x="533400" y="6100762"/>
            <a:ext cx="104775" cy="1047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fc 38"/>
          <p:cNvSpPr/>
          <p:nvPr/>
        </p:nvSpPr>
        <p:spPr>
          <a:xfrm>
            <a:off x="1075283" y="6100762"/>
            <a:ext cx="104775" cy="104775"/>
          </a:xfrm>
          <a:prstGeom prst="rect">
            <a:avLst/>
          </a:prstGeom>
          <a:solidFill>
            <a:srgbClr val="FBE9ED"/>
          </a:solidFill>
          <a:ln w="9525">
            <a:solidFill>
              <a:srgbClr val="D9415F"/>
            </a:solidFill>
            <a:prstDash val="dash"/>
          </a:ln>
        </p:spPr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22" name="회사명 46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23" name="키커 47"/>
          <p:cNvSpPr txBox="1"/>
          <p:nvPr/>
        </p:nvSpPr>
        <p:spPr>
          <a:xfrm>
            <a:off x="10551319" y="338138"/>
            <a:ext cx="117062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성장률 표시 세로 막대 p50</a:t>
            </a:r>
          </a:p>
        </p:txBody>
      </p:sp>
      <p:sp>
        <p:nvSpPr>
          <p:cNvPr id="24" name="축 제목 51"/>
          <p:cNvSpPr txBox="1"/>
          <p:nvPr/>
        </p:nvSpPr>
        <p:spPr>
          <a:xfrm>
            <a:off x="533400" y="1600200"/>
            <a:ext cx="46760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연 매출</a:t>
            </a:r>
          </a:p>
        </p:txBody>
      </p:sp>
      <p:sp>
        <p:nvSpPr>
          <p:cNvPr id="25" name="u 52"/>
          <p:cNvSpPr txBox="1"/>
          <p:nvPr/>
        </p:nvSpPr>
        <p:spPr>
          <a:xfrm>
            <a:off x="5083373" y="1647825"/>
            <a:ext cx="190010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억 원, 2022~2027년 (2026년부터 전망)</a:t>
            </a:r>
          </a:p>
        </p:txBody>
      </p:sp>
      <p:sp>
        <p:nvSpPr>
          <p:cNvPr id="26" name="cagr 53"/>
          <p:cNvSpPr txBox="1"/>
          <p:nvPr/>
        </p:nvSpPr>
        <p:spPr>
          <a:xfrm>
            <a:off x="1962745" y="1866900"/>
            <a:ext cx="14941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2022~2025년 연평균 </a:t>
            </a:r>
            <a:r>
              <a:rPr sz="975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59%</a:t>
            </a:r>
          </a:p>
        </p:txBody>
      </p:sp>
      <p:sp>
        <p:nvSpPr>
          <p:cNvPr id="27" name="cagr 57"/>
          <p:cNvSpPr txBox="1"/>
          <p:nvPr/>
        </p:nvSpPr>
        <p:spPr>
          <a:xfrm>
            <a:off x="5085457" y="1866900"/>
            <a:ext cx="149303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2025~2027년 연평균 </a:t>
            </a:r>
            <a:r>
              <a:rPr sz="975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48%</a:t>
            </a:r>
          </a:p>
        </p:txBody>
      </p:sp>
      <p:sp>
        <p:nvSpPr>
          <p:cNvPr id="28" name="단계 62"/>
          <p:cNvSpPr txBox="1"/>
          <p:nvPr/>
        </p:nvSpPr>
        <p:spPr>
          <a:xfrm>
            <a:off x="1040011" y="5176838"/>
            <a:ext cx="16640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</a:p>
        </p:txBody>
      </p:sp>
      <p:sp>
        <p:nvSpPr>
          <p:cNvPr id="29" name="단계 64"/>
          <p:cNvSpPr txBox="1"/>
          <p:nvPr/>
        </p:nvSpPr>
        <p:spPr>
          <a:xfrm>
            <a:off x="2078682" y="4968329"/>
            <a:ext cx="17058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19</a:t>
            </a:r>
          </a:p>
        </p:txBody>
      </p:sp>
      <p:sp>
        <p:nvSpPr>
          <p:cNvPr id="30" name="단계 66"/>
          <p:cNvSpPr txBox="1"/>
          <p:nvPr/>
        </p:nvSpPr>
        <p:spPr>
          <a:xfrm>
            <a:off x="3119438" y="4620667"/>
            <a:ext cx="17042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31</a:t>
            </a:r>
          </a:p>
        </p:txBody>
      </p:sp>
      <p:sp>
        <p:nvSpPr>
          <p:cNvPr id="31" name="단계 68"/>
          <p:cNvSpPr txBox="1"/>
          <p:nvPr/>
        </p:nvSpPr>
        <p:spPr>
          <a:xfrm>
            <a:off x="4147840" y="4133850"/>
            <a:ext cx="19612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48</a:t>
            </a:r>
          </a:p>
        </p:txBody>
      </p:sp>
      <p:sp>
        <p:nvSpPr>
          <p:cNvPr id="32" name="단계 70"/>
          <p:cNvSpPr txBox="1"/>
          <p:nvPr/>
        </p:nvSpPr>
        <p:spPr>
          <a:xfrm>
            <a:off x="5195739" y="3438525"/>
            <a:ext cx="18141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72</a:t>
            </a:r>
          </a:p>
        </p:txBody>
      </p:sp>
      <p:sp>
        <p:nvSpPr>
          <p:cNvPr id="33" name="단계 72"/>
          <p:cNvSpPr txBox="1"/>
          <p:nvPr/>
        </p:nvSpPr>
        <p:spPr>
          <a:xfrm>
            <a:off x="6200180" y="2465189"/>
            <a:ext cx="25694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105</a:t>
            </a:r>
          </a:p>
        </p:txBody>
      </p:sp>
      <p:sp>
        <p:nvSpPr>
          <p:cNvPr id="34" name="xs 74"/>
          <p:cNvSpPr txBox="1"/>
          <p:nvPr/>
        </p:nvSpPr>
        <p:spPr>
          <a:xfrm>
            <a:off x="955369" y="5829300"/>
            <a:ext cx="31096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2022</a:t>
            </a:r>
          </a:p>
        </p:txBody>
      </p:sp>
      <p:sp>
        <p:nvSpPr>
          <p:cNvPr id="35" name="xs 75"/>
          <p:cNvSpPr txBox="1"/>
          <p:nvPr/>
        </p:nvSpPr>
        <p:spPr>
          <a:xfrm>
            <a:off x="1994118" y="5829300"/>
            <a:ext cx="31468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sp>
        <p:nvSpPr>
          <p:cNvPr id="36" name="xs 76"/>
          <p:cNvSpPr txBox="1"/>
          <p:nvPr/>
        </p:nvSpPr>
        <p:spPr>
          <a:xfrm>
            <a:off x="3035490" y="5829300"/>
            <a:ext cx="3135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2024</a:t>
            </a:r>
          </a:p>
        </p:txBody>
      </p:sp>
      <p:sp>
        <p:nvSpPr>
          <p:cNvPr id="37" name="xs 77"/>
          <p:cNvSpPr txBox="1"/>
          <p:nvPr/>
        </p:nvSpPr>
        <p:spPr>
          <a:xfrm>
            <a:off x="4077018" y="5829300"/>
            <a:ext cx="3120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2025</a:t>
            </a:r>
          </a:p>
        </p:txBody>
      </p:sp>
      <p:sp>
        <p:nvSpPr>
          <p:cNvPr id="38" name="xs 78"/>
          <p:cNvSpPr txBox="1"/>
          <p:nvPr/>
        </p:nvSpPr>
        <p:spPr>
          <a:xfrm>
            <a:off x="5081555" y="5829300"/>
            <a:ext cx="38448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2026E</a:t>
            </a:r>
          </a:p>
        </p:txBody>
      </p:sp>
      <p:sp>
        <p:nvSpPr>
          <p:cNvPr id="39" name="xs 79"/>
          <p:cNvSpPr txBox="1"/>
          <p:nvPr/>
        </p:nvSpPr>
        <p:spPr>
          <a:xfrm>
            <a:off x="6126179" y="5829300"/>
            <a:ext cx="37674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2027E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25" y="6086475"/>
            <a:ext cx="2160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실적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7208" y="6086475"/>
            <a:ext cx="2160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전망</a:t>
            </a:r>
          </a:p>
        </p:txBody>
      </p:sp>
      <p:sp>
        <p:nvSpPr>
          <p:cNvPr id="42" name="열 제목 85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43" name="글머리표 86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2025년 매출 48억 원은 3년 전인 2022년의 4배다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전망 구간의 성장률 48%는 실적 구간보다 낮게 잡았다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2027년 105억 원은 계약 갱신율 85%를 가정했다</a:t>
            </a:r>
          </a:p>
        </p:txBody>
      </p:sp>
      <p:sp>
        <p:nvSpPr>
          <p:cNvPr id="44" name="출처 87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45" name="꼬리말 89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46" name="pg 90"/>
          <p:cNvSpPr txBox="1"/>
          <p:nvPr/>
        </p:nvSpPr>
        <p:spPr>
          <a:xfrm>
            <a:off x="11599069" y="6600825"/>
            <a:ext cx="80962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인스타그램 유입은 4분기 만에 2.6배 증가,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유튜브와 검색은 제자리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33400" y="5357812"/>
            <a:ext cx="3454301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6" name="막대 11"/>
          <p:cNvSpPr/>
          <p:nvPr/>
        </p:nvSpPr>
        <p:spPr>
          <a:xfrm>
            <a:off x="686544" y="4532709"/>
            <a:ext cx="571500" cy="82034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막대 13"/>
          <p:cNvSpPr/>
          <p:nvPr/>
        </p:nvSpPr>
        <p:spPr>
          <a:xfrm>
            <a:off x="1545282" y="4198441"/>
            <a:ext cx="571500" cy="1154609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막대 15"/>
          <p:cNvSpPr/>
          <p:nvPr/>
        </p:nvSpPr>
        <p:spPr>
          <a:xfrm>
            <a:off x="2404170" y="3773091"/>
            <a:ext cx="571500" cy="1579959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막대 17"/>
          <p:cNvSpPr/>
          <p:nvPr/>
        </p:nvSpPr>
        <p:spPr>
          <a:xfrm>
            <a:off x="3262908" y="3226147"/>
            <a:ext cx="571500" cy="2126903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533400" y="5700712"/>
            <a:ext cx="3454301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4368701" y="5357812"/>
            <a:ext cx="3454449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12" name="막대 27"/>
          <p:cNvSpPr/>
          <p:nvPr/>
        </p:nvSpPr>
        <p:spPr>
          <a:xfrm>
            <a:off x="4521845" y="4654302"/>
            <a:ext cx="571500" cy="698748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막대 29"/>
          <p:cNvSpPr/>
          <p:nvPr/>
        </p:nvSpPr>
        <p:spPr>
          <a:xfrm>
            <a:off x="5380583" y="4532709"/>
            <a:ext cx="571500" cy="82034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막대 31"/>
          <p:cNvSpPr/>
          <p:nvPr/>
        </p:nvSpPr>
        <p:spPr>
          <a:xfrm>
            <a:off x="6239470" y="4471988"/>
            <a:ext cx="571500" cy="881062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막대 33"/>
          <p:cNvSpPr/>
          <p:nvPr/>
        </p:nvSpPr>
        <p:spPr>
          <a:xfrm>
            <a:off x="7098357" y="4320034"/>
            <a:ext cx="571500" cy="1033016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4368701" y="5700712"/>
            <a:ext cx="3454449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8204150" y="5357812"/>
            <a:ext cx="3454301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18" name="막대 43"/>
          <p:cNvSpPr/>
          <p:nvPr/>
        </p:nvSpPr>
        <p:spPr>
          <a:xfrm>
            <a:off x="8357295" y="5018931"/>
            <a:ext cx="571500" cy="334119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막대 45"/>
          <p:cNvSpPr/>
          <p:nvPr/>
        </p:nvSpPr>
        <p:spPr>
          <a:xfrm>
            <a:off x="9216033" y="4927699"/>
            <a:ext cx="571500" cy="42535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막대 47"/>
          <p:cNvSpPr/>
          <p:nvPr/>
        </p:nvSpPr>
        <p:spPr>
          <a:xfrm>
            <a:off x="10074920" y="4927699"/>
            <a:ext cx="571500" cy="42535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막대 49"/>
          <p:cNvSpPr/>
          <p:nvPr/>
        </p:nvSpPr>
        <p:spPr>
          <a:xfrm>
            <a:off x="10933658" y="4866977"/>
            <a:ext cx="571500" cy="486073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8204150" y="5700712"/>
            <a:ext cx="3454301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24" name="회사명 60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25" name="키커 61"/>
          <p:cNvSpPr txBox="1"/>
          <p:nvPr/>
        </p:nvSpPr>
        <p:spPr>
          <a:xfrm>
            <a:off x="10866239" y="338138"/>
            <a:ext cx="843105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소형 도표 나열 p51</a:t>
            </a:r>
          </a:p>
        </p:txBody>
      </p:sp>
      <p:sp>
        <p:nvSpPr>
          <p:cNvPr id="26" name="축 제목 65"/>
          <p:cNvSpPr txBox="1"/>
          <p:nvPr/>
        </p:nvSpPr>
        <p:spPr>
          <a:xfrm>
            <a:off x="533400" y="1600200"/>
            <a:ext cx="136471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채널별 분기 신규 고객</a:t>
            </a:r>
          </a:p>
        </p:txBody>
      </p:sp>
      <p:sp>
        <p:nvSpPr>
          <p:cNvPr id="27" name="u 66"/>
          <p:cNvSpPr txBox="1"/>
          <p:nvPr/>
        </p:nvSpPr>
        <p:spPr>
          <a:xfrm>
            <a:off x="8882955" y="1647825"/>
            <a:ext cx="290572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천 명, 2025년 4분기~2026년 3분기 (세 도표의 축 범위가 같다)</a:t>
            </a:r>
          </a:p>
        </p:txBody>
      </p:sp>
      <p:sp>
        <p:nvSpPr>
          <p:cNvPr id="28" name="위치 점 67"/>
          <p:cNvSpPr txBox="1"/>
          <p:nvPr/>
        </p:nvSpPr>
        <p:spPr>
          <a:xfrm>
            <a:off x="533400" y="2057400"/>
            <a:ext cx="70395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인스타그램</a:t>
            </a:r>
          </a:p>
        </p:txBody>
      </p:sp>
      <p:sp>
        <p:nvSpPr>
          <p:cNvPr id="29" name="단계 69"/>
          <p:cNvSpPr txBox="1"/>
          <p:nvPr/>
        </p:nvSpPr>
        <p:spPr>
          <a:xfrm>
            <a:off x="901452" y="4313634"/>
            <a:ext cx="16640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</a:p>
        </p:txBody>
      </p:sp>
      <p:sp>
        <p:nvSpPr>
          <p:cNvPr id="30" name="단계 71"/>
          <p:cNvSpPr txBox="1"/>
          <p:nvPr/>
        </p:nvSpPr>
        <p:spPr>
          <a:xfrm>
            <a:off x="1762571" y="3979366"/>
            <a:ext cx="16144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17</a:t>
            </a:r>
          </a:p>
        </p:txBody>
      </p:sp>
      <p:sp>
        <p:nvSpPr>
          <p:cNvPr id="31" name="단계 73"/>
          <p:cNvSpPr txBox="1"/>
          <p:nvPr/>
        </p:nvSpPr>
        <p:spPr>
          <a:xfrm>
            <a:off x="2607618" y="3554016"/>
            <a:ext cx="19023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23</a:t>
            </a:r>
          </a:p>
        </p:txBody>
      </p:sp>
      <p:sp>
        <p:nvSpPr>
          <p:cNvPr id="32" name="단계 75"/>
          <p:cNvSpPr txBox="1"/>
          <p:nvPr/>
        </p:nvSpPr>
        <p:spPr>
          <a:xfrm>
            <a:off x="3475881" y="3007072"/>
            <a:ext cx="17042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31</a:t>
            </a:r>
          </a:p>
        </p:txBody>
      </p:sp>
      <p:sp>
        <p:nvSpPr>
          <p:cNvPr id="33" name="xs 77"/>
          <p:cNvSpPr txBox="1"/>
          <p:nvPr/>
        </p:nvSpPr>
        <p:spPr>
          <a:xfrm>
            <a:off x="791736" y="5429250"/>
            <a:ext cx="3611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25.4Q</a:t>
            </a:r>
          </a:p>
        </p:txBody>
      </p:sp>
      <p:sp>
        <p:nvSpPr>
          <p:cNvPr id="34" name="xs 78"/>
          <p:cNvSpPr txBox="1"/>
          <p:nvPr/>
        </p:nvSpPr>
        <p:spPr>
          <a:xfrm>
            <a:off x="1666571" y="5429250"/>
            <a:ext cx="3289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26.1Q</a:t>
            </a:r>
          </a:p>
        </p:txBody>
      </p:sp>
      <p:sp>
        <p:nvSpPr>
          <p:cNvPr id="35" name="xs 79"/>
          <p:cNvSpPr txBox="1"/>
          <p:nvPr/>
        </p:nvSpPr>
        <p:spPr>
          <a:xfrm>
            <a:off x="2511064" y="5429250"/>
            <a:ext cx="35771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26.2Q</a:t>
            </a:r>
          </a:p>
        </p:txBody>
      </p:sp>
      <p:sp>
        <p:nvSpPr>
          <p:cNvPr id="36" name="xs 80"/>
          <p:cNvSpPr txBox="1"/>
          <p:nvPr/>
        </p:nvSpPr>
        <p:spPr>
          <a:xfrm>
            <a:off x="3369644" y="5429250"/>
            <a:ext cx="3581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26.3Q</a:t>
            </a:r>
          </a:p>
        </p:txBody>
      </p:sp>
      <p:sp>
        <p:nvSpPr>
          <p:cNvPr id="37" name="rd 82"/>
          <p:cNvSpPr txBox="1"/>
          <p:nvPr/>
        </p:nvSpPr>
        <p:spPr>
          <a:xfrm>
            <a:off x="533400" y="5819775"/>
            <a:ext cx="2193262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12천 명에서 31천 명으로 2.6배 늘었다</a:t>
            </a:r>
          </a:p>
        </p:txBody>
      </p:sp>
      <p:sp>
        <p:nvSpPr>
          <p:cNvPr id="38" name="위치 점 83"/>
          <p:cNvSpPr txBox="1"/>
          <p:nvPr/>
        </p:nvSpPr>
        <p:spPr>
          <a:xfrm>
            <a:off x="4368701" y="2057400"/>
            <a:ext cx="42999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유튜브</a:t>
            </a:r>
          </a:p>
        </p:txBody>
      </p:sp>
      <p:sp>
        <p:nvSpPr>
          <p:cNvPr id="39" name="단계 85"/>
          <p:cNvSpPr txBox="1"/>
          <p:nvPr/>
        </p:nvSpPr>
        <p:spPr>
          <a:xfrm>
            <a:off x="4734371" y="4435227"/>
            <a:ext cx="17135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10</a:t>
            </a:r>
          </a:p>
        </p:txBody>
      </p:sp>
      <p:sp>
        <p:nvSpPr>
          <p:cNvPr id="40" name="단계 87"/>
          <p:cNvSpPr txBox="1"/>
          <p:nvPr/>
        </p:nvSpPr>
        <p:spPr>
          <a:xfrm>
            <a:off x="5595491" y="4313634"/>
            <a:ext cx="16640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12</a:t>
            </a:r>
          </a:p>
        </p:txBody>
      </p:sp>
      <p:sp>
        <p:nvSpPr>
          <p:cNvPr id="41" name="단계 89"/>
          <p:cNvSpPr txBox="1"/>
          <p:nvPr/>
        </p:nvSpPr>
        <p:spPr>
          <a:xfrm>
            <a:off x="6452443" y="4252912"/>
            <a:ext cx="17042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13</a:t>
            </a:r>
          </a:p>
        </p:txBody>
      </p:sp>
      <p:sp>
        <p:nvSpPr>
          <p:cNvPr id="42" name="단계 91"/>
          <p:cNvSpPr txBox="1"/>
          <p:nvPr/>
        </p:nvSpPr>
        <p:spPr>
          <a:xfrm>
            <a:off x="7312372" y="4100959"/>
            <a:ext cx="16841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15</a:t>
            </a:r>
          </a:p>
        </p:txBody>
      </p:sp>
      <p:sp>
        <p:nvSpPr>
          <p:cNvPr id="43" name="xs 93"/>
          <p:cNvSpPr txBox="1"/>
          <p:nvPr/>
        </p:nvSpPr>
        <p:spPr>
          <a:xfrm>
            <a:off x="4627037" y="5429250"/>
            <a:ext cx="3611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25.4Q</a:t>
            </a:r>
          </a:p>
        </p:txBody>
      </p:sp>
      <p:sp>
        <p:nvSpPr>
          <p:cNvPr id="44" name="xs 94"/>
          <p:cNvSpPr txBox="1"/>
          <p:nvPr/>
        </p:nvSpPr>
        <p:spPr>
          <a:xfrm>
            <a:off x="5501872" y="5429250"/>
            <a:ext cx="3289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26.1Q</a:t>
            </a:r>
          </a:p>
        </p:txBody>
      </p:sp>
      <p:sp>
        <p:nvSpPr>
          <p:cNvPr id="45" name="xs 95"/>
          <p:cNvSpPr txBox="1"/>
          <p:nvPr/>
        </p:nvSpPr>
        <p:spPr>
          <a:xfrm>
            <a:off x="6346365" y="5429250"/>
            <a:ext cx="35771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26.2Q</a:t>
            </a:r>
          </a:p>
        </p:txBody>
      </p:sp>
      <p:sp>
        <p:nvSpPr>
          <p:cNvPr id="46" name="xs 96"/>
          <p:cNvSpPr txBox="1"/>
          <p:nvPr/>
        </p:nvSpPr>
        <p:spPr>
          <a:xfrm>
            <a:off x="7205094" y="5429250"/>
            <a:ext cx="3581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26.3Q</a:t>
            </a:r>
          </a:p>
        </p:txBody>
      </p:sp>
      <p:sp>
        <p:nvSpPr>
          <p:cNvPr id="47" name="rd 98"/>
          <p:cNvSpPr txBox="1"/>
          <p:nvPr/>
        </p:nvSpPr>
        <p:spPr>
          <a:xfrm>
            <a:off x="4368701" y="5819775"/>
            <a:ext cx="1990344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1.5배 늘었지만 증가 폭이 줄고 있다</a:t>
            </a:r>
          </a:p>
        </p:txBody>
      </p:sp>
      <p:sp>
        <p:nvSpPr>
          <p:cNvPr id="48" name="위치 점 99"/>
          <p:cNvSpPr txBox="1"/>
          <p:nvPr/>
        </p:nvSpPr>
        <p:spPr>
          <a:xfrm>
            <a:off x="8204150" y="2057400"/>
            <a:ext cx="293013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검색</a:t>
            </a:r>
          </a:p>
        </p:txBody>
      </p:sp>
      <p:sp>
        <p:nvSpPr>
          <p:cNvPr id="49" name="단계 101"/>
          <p:cNvSpPr txBox="1"/>
          <p:nvPr/>
        </p:nvSpPr>
        <p:spPr>
          <a:xfrm>
            <a:off x="8601819" y="4799856"/>
            <a:ext cx="10464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50" name="단계 103"/>
          <p:cNvSpPr txBox="1"/>
          <p:nvPr/>
        </p:nvSpPr>
        <p:spPr>
          <a:xfrm>
            <a:off x="9459664" y="4708624"/>
            <a:ext cx="10681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</a:p>
        </p:txBody>
      </p:sp>
      <p:sp>
        <p:nvSpPr>
          <p:cNvPr id="51" name="단계 105"/>
          <p:cNvSpPr txBox="1"/>
          <p:nvPr/>
        </p:nvSpPr>
        <p:spPr>
          <a:xfrm>
            <a:off x="10318403" y="4708624"/>
            <a:ext cx="10681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6</a:t>
            </a:r>
          </a:p>
        </p:txBody>
      </p:sp>
      <p:sp>
        <p:nvSpPr>
          <p:cNvPr id="52" name="단계 107"/>
          <p:cNvSpPr txBox="1"/>
          <p:nvPr/>
        </p:nvSpPr>
        <p:spPr>
          <a:xfrm>
            <a:off x="11181606" y="4647902"/>
            <a:ext cx="9783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7</a:t>
            </a:r>
          </a:p>
        </p:txBody>
      </p:sp>
      <p:sp>
        <p:nvSpPr>
          <p:cNvPr id="53" name="xs 109"/>
          <p:cNvSpPr txBox="1"/>
          <p:nvPr/>
        </p:nvSpPr>
        <p:spPr>
          <a:xfrm>
            <a:off x="8462486" y="5429250"/>
            <a:ext cx="3611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25.4Q</a:t>
            </a:r>
          </a:p>
        </p:txBody>
      </p:sp>
      <p:sp>
        <p:nvSpPr>
          <p:cNvPr id="54" name="xs 110"/>
          <p:cNvSpPr txBox="1"/>
          <p:nvPr/>
        </p:nvSpPr>
        <p:spPr>
          <a:xfrm>
            <a:off x="9337322" y="5429250"/>
            <a:ext cx="32892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26.1Q</a:t>
            </a:r>
          </a:p>
        </p:txBody>
      </p:sp>
      <p:sp>
        <p:nvSpPr>
          <p:cNvPr id="55" name="xs 111"/>
          <p:cNvSpPr txBox="1"/>
          <p:nvPr/>
        </p:nvSpPr>
        <p:spPr>
          <a:xfrm>
            <a:off x="10181814" y="5429250"/>
            <a:ext cx="35771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26.2Q</a:t>
            </a:r>
          </a:p>
        </p:txBody>
      </p:sp>
      <p:sp>
        <p:nvSpPr>
          <p:cNvPr id="56" name="xs 112"/>
          <p:cNvSpPr txBox="1"/>
          <p:nvPr/>
        </p:nvSpPr>
        <p:spPr>
          <a:xfrm>
            <a:off x="11040395" y="5429250"/>
            <a:ext cx="35817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26.3Q</a:t>
            </a:r>
          </a:p>
        </p:txBody>
      </p:sp>
      <p:sp>
        <p:nvSpPr>
          <p:cNvPr id="57" name="rd 114"/>
          <p:cNvSpPr txBox="1"/>
          <p:nvPr/>
        </p:nvSpPr>
        <p:spPr>
          <a:xfrm>
            <a:off x="8204150" y="5819775"/>
            <a:ext cx="1904750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분기마다 5~7천 명으로 거의 같다</a:t>
            </a:r>
          </a:p>
        </p:txBody>
      </p:sp>
      <p:sp>
        <p:nvSpPr>
          <p:cNvPr id="58" name="출처 115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59" name="꼬리말 117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60" name="pg 118"/>
          <p:cNvSpPr txBox="1"/>
          <p:nvPr/>
        </p:nvSpPr>
        <p:spPr>
          <a:xfrm>
            <a:off x="11598027" y="6600825"/>
            <a:ext cx="82046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9월 월 거래액 8.4억 원으로 18% 증가,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객단가만 5% 하락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4" name="주장 패널 7"/>
          <p:cNvSpPr/>
          <p:nvPr/>
        </p:nvSpPr>
        <p:spPr>
          <a:xfrm>
            <a:off x="3413075" y="2990850"/>
            <a:ext cx="85725" cy="1524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주장 패널 8"/>
          <p:cNvSpPr/>
          <p:nvPr/>
        </p:nvSpPr>
        <p:spPr>
          <a:xfrm>
            <a:off x="3536900" y="2945160"/>
            <a:ext cx="85725" cy="19809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주장 패널 9"/>
          <p:cNvSpPr/>
          <p:nvPr/>
        </p:nvSpPr>
        <p:spPr>
          <a:xfrm>
            <a:off x="3660725" y="2910929"/>
            <a:ext cx="85725" cy="23232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주장 패널 10"/>
          <p:cNvSpPr/>
          <p:nvPr/>
        </p:nvSpPr>
        <p:spPr>
          <a:xfrm>
            <a:off x="3784550" y="2857500"/>
            <a:ext cx="85725" cy="28575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on 11"/>
          <p:cNvSpPr/>
          <p:nvPr/>
        </p:nvSpPr>
        <p:spPr>
          <a:xfrm>
            <a:off x="3908375" y="2792760"/>
            <a:ext cx="85725" cy="35049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4246513" y="2486025"/>
            <a:ext cx="0" cy="1343025"/>
          </a:xfrm>
          <a:prstGeom prst="line">
            <a:avLst/>
          </a:prstGeom>
          <a:ln w="9525">
            <a:solidFill>
              <a:srgbClr val="CFCFD4"/>
            </a:solidFill>
          </a:ln>
        </p:spPr>
      </p:cxnSp>
      <p:sp>
        <p:nvSpPr>
          <p:cNvPr id="10" name="주장 패널 17"/>
          <p:cNvSpPr/>
          <p:nvPr/>
        </p:nvSpPr>
        <p:spPr>
          <a:xfrm>
            <a:off x="7121426" y="2933700"/>
            <a:ext cx="85725" cy="20955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주장 패널 18"/>
          <p:cNvSpPr/>
          <p:nvPr/>
        </p:nvSpPr>
        <p:spPr>
          <a:xfrm>
            <a:off x="7245251" y="2914650"/>
            <a:ext cx="85725" cy="2286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주장 패널 19"/>
          <p:cNvSpPr/>
          <p:nvPr/>
        </p:nvSpPr>
        <p:spPr>
          <a:xfrm>
            <a:off x="7369076" y="2922389"/>
            <a:ext cx="85725" cy="22086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주장 패널 20"/>
          <p:cNvSpPr/>
          <p:nvPr/>
        </p:nvSpPr>
        <p:spPr>
          <a:xfrm>
            <a:off x="7492901" y="2891879"/>
            <a:ext cx="85725" cy="25137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on 21"/>
          <p:cNvSpPr/>
          <p:nvPr/>
        </p:nvSpPr>
        <p:spPr>
          <a:xfrm>
            <a:off x="7616726" y="2872829"/>
            <a:ext cx="85725" cy="270421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7954863" y="2486025"/>
            <a:ext cx="0" cy="1343025"/>
          </a:xfrm>
          <a:prstGeom prst="line">
            <a:avLst/>
          </a:prstGeom>
          <a:ln w="9525">
            <a:solidFill>
              <a:srgbClr val="CFCFD4"/>
            </a:solidFill>
          </a:ln>
        </p:spPr>
      </p:cxnSp>
      <p:sp>
        <p:nvSpPr>
          <p:cNvPr id="16" name="주장 패널 27"/>
          <p:cNvSpPr/>
          <p:nvPr/>
        </p:nvSpPr>
        <p:spPr>
          <a:xfrm>
            <a:off x="10829925" y="2838450"/>
            <a:ext cx="85725" cy="3048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주장 패널 28"/>
          <p:cNvSpPr/>
          <p:nvPr/>
        </p:nvSpPr>
        <p:spPr>
          <a:xfrm>
            <a:off x="10953750" y="2861370"/>
            <a:ext cx="85725" cy="28188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주장 패널 29"/>
          <p:cNvSpPr/>
          <p:nvPr/>
        </p:nvSpPr>
        <p:spPr>
          <a:xfrm>
            <a:off x="11077575" y="2876550"/>
            <a:ext cx="85725" cy="2667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주장 패널 30"/>
          <p:cNvSpPr/>
          <p:nvPr/>
        </p:nvSpPr>
        <p:spPr>
          <a:xfrm>
            <a:off x="11201400" y="2903339"/>
            <a:ext cx="85725" cy="23991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on 31"/>
          <p:cNvSpPr/>
          <p:nvPr/>
        </p:nvSpPr>
        <p:spPr>
          <a:xfrm>
            <a:off x="11325225" y="2922389"/>
            <a:ext cx="85725" cy="220861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533400" y="3833812"/>
            <a:ext cx="3708350" cy="0"/>
          </a:xfrm>
          <a:prstGeom prst="line">
            <a:avLst/>
          </a:prstGeom>
          <a:ln w="9525">
            <a:solidFill>
              <a:srgbClr val="CFCFD4"/>
            </a:solidFill>
          </a:ln>
        </p:spPr>
      </p:cxnSp>
      <p:sp>
        <p:nvSpPr>
          <p:cNvPr id="22" name="주장 패널 37"/>
          <p:cNvSpPr/>
          <p:nvPr/>
        </p:nvSpPr>
        <p:spPr>
          <a:xfrm>
            <a:off x="3413075" y="4552950"/>
            <a:ext cx="85725" cy="762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주장 패널 38"/>
          <p:cNvSpPr/>
          <p:nvPr/>
        </p:nvSpPr>
        <p:spPr>
          <a:xfrm>
            <a:off x="3536900" y="4499670"/>
            <a:ext cx="85725" cy="12948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주장 패널 39"/>
          <p:cNvSpPr/>
          <p:nvPr/>
        </p:nvSpPr>
        <p:spPr>
          <a:xfrm>
            <a:off x="3660725" y="4450110"/>
            <a:ext cx="85725" cy="17904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주장 패널 40"/>
          <p:cNvSpPr/>
          <p:nvPr/>
        </p:nvSpPr>
        <p:spPr>
          <a:xfrm>
            <a:off x="3784550" y="4377779"/>
            <a:ext cx="85725" cy="25137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on 41"/>
          <p:cNvSpPr/>
          <p:nvPr/>
        </p:nvSpPr>
        <p:spPr>
          <a:xfrm>
            <a:off x="3908375" y="4293989"/>
            <a:ext cx="85725" cy="335161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4241750" y="3833812"/>
            <a:ext cx="3708351" cy="0"/>
          </a:xfrm>
          <a:prstGeom prst="line">
            <a:avLst/>
          </a:prstGeom>
          <a:ln w="9525">
            <a:solidFill>
              <a:srgbClr val="CFCFD4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4246513" y="3829050"/>
            <a:ext cx="0" cy="1485900"/>
          </a:xfrm>
          <a:prstGeom prst="line">
            <a:avLst/>
          </a:prstGeom>
          <a:ln w="9525">
            <a:solidFill>
              <a:srgbClr val="CFCFD4"/>
            </a:solidFill>
          </a:ln>
        </p:spPr>
      </p:cxnSp>
      <p:sp>
        <p:nvSpPr>
          <p:cNvPr id="29" name="주장 패널 48"/>
          <p:cNvSpPr/>
          <p:nvPr/>
        </p:nvSpPr>
        <p:spPr>
          <a:xfrm>
            <a:off x="7121426" y="4392960"/>
            <a:ext cx="85725" cy="23619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주장 패널 49"/>
          <p:cNvSpPr/>
          <p:nvPr/>
        </p:nvSpPr>
        <p:spPr>
          <a:xfrm>
            <a:off x="7245251" y="4381500"/>
            <a:ext cx="85725" cy="24765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주장 패널 50"/>
          <p:cNvSpPr/>
          <p:nvPr/>
        </p:nvSpPr>
        <p:spPr>
          <a:xfrm>
            <a:off x="7369076" y="4385370"/>
            <a:ext cx="85725" cy="24378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주장 패널 51"/>
          <p:cNvSpPr/>
          <p:nvPr/>
        </p:nvSpPr>
        <p:spPr>
          <a:xfrm>
            <a:off x="7492901" y="4370189"/>
            <a:ext cx="85725" cy="25896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on 52"/>
          <p:cNvSpPr/>
          <p:nvPr/>
        </p:nvSpPr>
        <p:spPr>
          <a:xfrm>
            <a:off x="7616726" y="4362450"/>
            <a:ext cx="85725" cy="2667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7950101" y="3833812"/>
            <a:ext cx="3708499" cy="0"/>
          </a:xfrm>
          <a:prstGeom prst="line">
            <a:avLst/>
          </a:prstGeom>
          <a:ln w="9525">
            <a:solidFill>
              <a:srgbClr val="CFCFD4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7954863" y="3829050"/>
            <a:ext cx="0" cy="1485900"/>
          </a:xfrm>
          <a:prstGeom prst="line">
            <a:avLst/>
          </a:prstGeom>
          <a:ln w="9525">
            <a:solidFill>
              <a:srgbClr val="CFCFD4"/>
            </a:solidFill>
          </a:ln>
        </p:spPr>
      </p:cxnSp>
      <p:sp>
        <p:nvSpPr>
          <p:cNvPr id="36" name="주장 패널 59"/>
          <p:cNvSpPr/>
          <p:nvPr/>
        </p:nvSpPr>
        <p:spPr>
          <a:xfrm>
            <a:off x="10829925" y="4514850"/>
            <a:ext cx="85725" cy="1143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주장 패널 60"/>
          <p:cNvSpPr/>
          <p:nvPr/>
        </p:nvSpPr>
        <p:spPr>
          <a:xfrm>
            <a:off x="10953750" y="4484489"/>
            <a:ext cx="85725" cy="14466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주장 패널 61"/>
          <p:cNvSpPr/>
          <p:nvPr/>
        </p:nvSpPr>
        <p:spPr>
          <a:xfrm>
            <a:off x="11077575" y="4457700"/>
            <a:ext cx="85725" cy="17145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주장 패널 62"/>
          <p:cNvSpPr/>
          <p:nvPr/>
        </p:nvSpPr>
        <p:spPr>
          <a:xfrm>
            <a:off x="11201400" y="4431060"/>
            <a:ext cx="85725" cy="19809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on 63"/>
          <p:cNvSpPr/>
          <p:nvPr/>
        </p:nvSpPr>
        <p:spPr>
          <a:xfrm>
            <a:off x="11325225" y="4400550"/>
            <a:ext cx="85725" cy="2286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42" name="회사명 70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43" name="키커 71"/>
          <p:cNvSpPr txBox="1"/>
          <p:nvPr/>
        </p:nvSpPr>
        <p:spPr>
          <a:xfrm>
            <a:off x="10900767" y="338138"/>
            <a:ext cx="80719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KPI 대시보드 p52</a:t>
            </a:r>
          </a:p>
        </p:txBody>
      </p:sp>
      <p:sp>
        <p:nvSpPr>
          <p:cNvPr id="44" name="lb 74"/>
          <p:cNvSpPr txBox="1"/>
          <p:nvPr/>
        </p:nvSpPr>
        <p:spPr>
          <a:xfrm>
            <a:off x="533400" y="2533650"/>
            <a:ext cx="53245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월 거래액</a:t>
            </a:r>
          </a:p>
        </p:txBody>
      </p:sp>
      <p:sp>
        <p:nvSpPr>
          <p:cNvPr id="45" name="v 75"/>
          <p:cNvSpPr txBox="1"/>
          <p:nvPr/>
        </p:nvSpPr>
        <p:spPr>
          <a:xfrm>
            <a:off x="533400" y="2752725"/>
            <a:ext cx="961977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8.4억</a:t>
            </a:r>
          </a:p>
        </p:txBody>
      </p:sp>
      <p:sp>
        <p:nvSpPr>
          <p:cNvPr id="46" name="dl 81"/>
          <p:cNvSpPr txBox="1"/>
          <p:nvPr/>
        </p:nvSpPr>
        <p:spPr>
          <a:xfrm>
            <a:off x="533400" y="3276600"/>
            <a:ext cx="93349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전월 대비 +18%</a:t>
            </a:r>
          </a:p>
        </p:txBody>
      </p:sp>
      <p:sp>
        <p:nvSpPr>
          <p:cNvPr id="47" name="ds 82"/>
          <p:cNvSpPr txBox="1"/>
          <p:nvPr/>
        </p:nvSpPr>
        <p:spPr>
          <a:xfrm>
            <a:off x="533400" y="3476625"/>
            <a:ext cx="14023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2026년 9월, 결제 완료 기준</a:t>
            </a:r>
          </a:p>
        </p:txBody>
      </p:sp>
      <p:sp>
        <p:nvSpPr>
          <p:cNvPr id="48" name="lb 84"/>
          <p:cNvSpPr txBox="1"/>
          <p:nvPr/>
        </p:nvSpPr>
        <p:spPr>
          <a:xfrm>
            <a:off x="4498925" y="2533650"/>
            <a:ext cx="772061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활성 브랜드사</a:t>
            </a:r>
          </a:p>
        </p:txBody>
      </p:sp>
      <p:sp>
        <p:nvSpPr>
          <p:cNvPr id="49" name="v 85"/>
          <p:cNvSpPr txBox="1"/>
          <p:nvPr/>
        </p:nvSpPr>
        <p:spPr>
          <a:xfrm>
            <a:off x="4498925" y="2752725"/>
            <a:ext cx="1029152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214곳</a:t>
            </a:r>
          </a:p>
        </p:txBody>
      </p:sp>
      <p:sp>
        <p:nvSpPr>
          <p:cNvPr id="50" name="dl 91"/>
          <p:cNvSpPr txBox="1"/>
          <p:nvPr/>
        </p:nvSpPr>
        <p:spPr>
          <a:xfrm>
            <a:off x="4498925" y="3276600"/>
            <a:ext cx="92080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전월 대비 +12곳</a:t>
            </a:r>
          </a:p>
        </p:txBody>
      </p:sp>
      <p:sp>
        <p:nvSpPr>
          <p:cNvPr id="51" name="ds 92"/>
          <p:cNvSpPr txBox="1"/>
          <p:nvPr/>
        </p:nvSpPr>
        <p:spPr>
          <a:xfrm>
            <a:off x="4498925" y="3476625"/>
            <a:ext cx="116087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월 1회 이상 캠페인 집행</a:t>
            </a:r>
          </a:p>
        </p:txBody>
      </p:sp>
      <p:sp>
        <p:nvSpPr>
          <p:cNvPr id="52" name="lb 94"/>
          <p:cNvSpPr txBox="1"/>
          <p:nvPr/>
        </p:nvSpPr>
        <p:spPr>
          <a:xfrm>
            <a:off x="8207276" y="2533650"/>
            <a:ext cx="65226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평균 객단가</a:t>
            </a:r>
          </a:p>
        </p:txBody>
      </p:sp>
      <p:sp>
        <p:nvSpPr>
          <p:cNvPr id="53" name="v 95"/>
          <p:cNvSpPr txBox="1"/>
          <p:nvPr/>
        </p:nvSpPr>
        <p:spPr>
          <a:xfrm>
            <a:off x="8207276" y="2752725"/>
            <a:ext cx="853630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38만</a:t>
            </a:r>
          </a:p>
        </p:txBody>
      </p:sp>
      <p:sp>
        <p:nvSpPr>
          <p:cNvPr id="54" name="dl 101"/>
          <p:cNvSpPr txBox="1"/>
          <p:nvPr/>
        </p:nvSpPr>
        <p:spPr>
          <a:xfrm>
            <a:off x="8207276" y="3276600"/>
            <a:ext cx="86802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8F1D14"/>
                </a:solidFill>
                <a:latin typeface="Pretendard SemiBold"/>
                <a:ea typeface="Pretendard SemiBold"/>
                <a:cs typeface="Pretendard SemiBold"/>
              </a:rPr>
              <a:t>전월 대비 −5%</a:t>
            </a:r>
          </a:p>
        </p:txBody>
      </p:sp>
      <p:sp>
        <p:nvSpPr>
          <p:cNvPr id="55" name="ds 102"/>
          <p:cNvSpPr txBox="1"/>
          <p:nvPr/>
        </p:nvSpPr>
        <p:spPr>
          <a:xfrm>
            <a:off x="8207276" y="3476625"/>
            <a:ext cx="116149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캠페인 1건당 결제액, 원</a:t>
            </a:r>
          </a:p>
        </p:txBody>
      </p:sp>
      <p:sp>
        <p:nvSpPr>
          <p:cNvPr id="56" name="lb 104"/>
          <p:cNvSpPr txBox="1"/>
          <p:nvPr/>
        </p:nvSpPr>
        <p:spPr>
          <a:xfrm>
            <a:off x="533400" y="4019550"/>
            <a:ext cx="8059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월 콘텐츠 생산</a:t>
            </a:r>
          </a:p>
        </p:txBody>
      </p:sp>
      <p:sp>
        <p:nvSpPr>
          <p:cNvPr id="57" name="v 105"/>
          <p:cNvSpPr txBox="1"/>
          <p:nvPr/>
        </p:nvSpPr>
        <p:spPr>
          <a:xfrm>
            <a:off x="533400" y="4238625"/>
            <a:ext cx="865858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1.2만</a:t>
            </a:r>
          </a:p>
        </p:txBody>
      </p:sp>
      <p:sp>
        <p:nvSpPr>
          <p:cNvPr id="58" name="dl 111"/>
          <p:cNvSpPr txBox="1"/>
          <p:nvPr/>
        </p:nvSpPr>
        <p:spPr>
          <a:xfrm>
            <a:off x="533400" y="4762500"/>
            <a:ext cx="94619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전월 대비 +22%</a:t>
            </a:r>
          </a:p>
        </p:txBody>
      </p:sp>
      <p:sp>
        <p:nvSpPr>
          <p:cNvPr id="59" name="ds 112"/>
          <p:cNvSpPr txBox="1"/>
          <p:nvPr/>
        </p:nvSpPr>
        <p:spPr>
          <a:xfrm>
            <a:off x="533400" y="4962525"/>
            <a:ext cx="118254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검수를 통과한 리뷰 건수</a:t>
            </a:r>
          </a:p>
        </p:txBody>
      </p:sp>
      <p:sp>
        <p:nvSpPr>
          <p:cNvPr id="60" name="lb 115"/>
          <p:cNvSpPr txBox="1"/>
          <p:nvPr/>
        </p:nvSpPr>
        <p:spPr>
          <a:xfrm>
            <a:off x="4498925" y="4019550"/>
            <a:ext cx="89201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브랜드 재구매율</a:t>
            </a:r>
          </a:p>
        </p:txBody>
      </p:sp>
      <p:sp>
        <p:nvSpPr>
          <p:cNvPr id="61" name="v 116"/>
          <p:cNvSpPr txBox="1"/>
          <p:nvPr/>
        </p:nvSpPr>
        <p:spPr>
          <a:xfrm>
            <a:off x="4498925" y="4238625"/>
            <a:ext cx="809518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71%</a:t>
            </a:r>
          </a:p>
        </p:txBody>
      </p:sp>
      <p:sp>
        <p:nvSpPr>
          <p:cNvPr id="62" name="dl 122"/>
          <p:cNvSpPr txBox="1"/>
          <p:nvPr/>
        </p:nvSpPr>
        <p:spPr>
          <a:xfrm>
            <a:off x="4498925" y="4762500"/>
            <a:ext cx="95222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전월 대비 +3%p</a:t>
            </a:r>
          </a:p>
        </p:txBody>
      </p:sp>
      <p:sp>
        <p:nvSpPr>
          <p:cNvPr id="63" name="ds 123"/>
          <p:cNvSpPr txBox="1"/>
          <p:nvPr/>
        </p:nvSpPr>
        <p:spPr>
          <a:xfrm>
            <a:off x="4498925" y="4962525"/>
            <a:ext cx="10111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90일 안에 다시 결제</a:t>
            </a:r>
          </a:p>
        </p:txBody>
      </p:sp>
      <p:sp>
        <p:nvSpPr>
          <p:cNvPr id="64" name="lb 126"/>
          <p:cNvSpPr txBox="1"/>
          <p:nvPr/>
        </p:nvSpPr>
        <p:spPr>
          <a:xfrm>
            <a:off x="8207276" y="4019550"/>
            <a:ext cx="80595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고객 획득 비용</a:t>
            </a:r>
          </a:p>
        </p:txBody>
      </p:sp>
      <p:sp>
        <p:nvSpPr>
          <p:cNvPr id="65" name="v 127"/>
          <p:cNvSpPr txBox="1"/>
          <p:nvPr/>
        </p:nvSpPr>
        <p:spPr>
          <a:xfrm>
            <a:off x="8207276" y="4238625"/>
            <a:ext cx="952071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4.2만</a:t>
            </a:r>
          </a:p>
        </p:txBody>
      </p:sp>
      <p:sp>
        <p:nvSpPr>
          <p:cNvPr id="66" name="dl 133"/>
          <p:cNvSpPr txBox="1"/>
          <p:nvPr/>
        </p:nvSpPr>
        <p:spPr>
          <a:xfrm>
            <a:off x="8207276" y="4762500"/>
            <a:ext cx="869883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전월 대비 −8%</a:t>
            </a:r>
          </a:p>
        </p:txBody>
      </p:sp>
      <p:sp>
        <p:nvSpPr>
          <p:cNvPr id="67" name="ds 134"/>
          <p:cNvSpPr txBox="1"/>
          <p:nvPr/>
        </p:nvSpPr>
        <p:spPr>
          <a:xfrm>
            <a:off x="8207276" y="4962525"/>
            <a:ext cx="91647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브랜드사 1곳당, 원</a:t>
            </a:r>
          </a:p>
        </p:txBody>
      </p:sp>
      <p:sp>
        <p:nvSpPr>
          <p:cNvPr id="68" name="출처 135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69" name="꼬리말 137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70" name="pg 138"/>
          <p:cNvSpPr txBox="1"/>
          <p:nvPr/>
        </p:nvSpPr>
        <p:spPr>
          <a:xfrm>
            <a:off x="11600706" y="6600825"/>
            <a:ext cx="79260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가장 큰 스킨케어 시장에서 자사 점유율 12%,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헤어와 바디는 아직 미진출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33400" y="5586412"/>
            <a:ext cx="24977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6" name="구성 조각 10"/>
          <p:cNvSpPr/>
          <p:nvPr/>
        </p:nvSpPr>
        <p:spPr>
          <a:xfrm>
            <a:off x="533400" y="2162175"/>
            <a:ext cx="2497782" cy="957411"/>
          </a:xfrm>
          <a:prstGeom prst="rect">
            <a:avLst/>
          </a:prstGeom>
          <a:solidFill>
            <a:srgbClr val="FBE9E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구성 조각 12"/>
          <p:cNvSpPr/>
          <p:nvPr/>
        </p:nvSpPr>
        <p:spPr>
          <a:xfrm>
            <a:off x="533400" y="3119586"/>
            <a:ext cx="2497782" cy="88895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533400" y="3129111"/>
            <a:ext cx="2497782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9" name="구성 조각 15"/>
          <p:cNvSpPr/>
          <p:nvPr/>
        </p:nvSpPr>
        <p:spPr>
          <a:xfrm>
            <a:off x="533400" y="4008537"/>
            <a:ext cx="2497782" cy="1162496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533400" y="4018062"/>
            <a:ext cx="2497782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1" name="구성 조각 18"/>
          <p:cNvSpPr/>
          <p:nvPr/>
        </p:nvSpPr>
        <p:spPr>
          <a:xfrm>
            <a:off x="533400" y="5171033"/>
            <a:ext cx="2497782" cy="410319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533400" y="5180558"/>
            <a:ext cx="2497782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069282" y="5586412"/>
            <a:ext cx="1748433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14" name="구성 조각 24"/>
          <p:cNvSpPr/>
          <p:nvPr/>
        </p:nvSpPr>
        <p:spPr>
          <a:xfrm>
            <a:off x="3069282" y="2162175"/>
            <a:ext cx="1748433" cy="1025723"/>
          </a:xfrm>
          <a:prstGeom prst="rect">
            <a:avLst/>
          </a:prstGeom>
          <a:solidFill>
            <a:srgbClr val="FBE9E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구성 조각 26"/>
          <p:cNvSpPr/>
          <p:nvPr/>
        </p:nvSpPr>
        <p:spPr>
          <a:xfrm>
            <a:off x="3069282" y="3187898"/>
            <a:ext cx="1748433" cy="957411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3069282" y="3197423"/>
            <a:ext cx="1748433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7" name="구성 조각 29"/>
          <p:cNvSpPr/>
          <p:nvPr/>
        </p:nvSpPr>
        <p:spPr>
          <a:xfrm>
            <a:off x="3069282" y="4145310"/>
            <a:ext cx="1748433" cy="1162496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3069282" y="4154835"/>
            <a:ext cx="1748433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9" name="구성 조각 32"/>
          <p:cNvSpPr/>
          <p:nvPr/>
        </p:nvSpPr>
        <p:spPr>
          <a:xfrm>
            <a:off x="3069282" y="5307806"/>
            <a:ext cx="1748433" cy="273546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3069282" y="5317331"/>
            <a:ext cx="1748433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55815" y="5586412"/>
            <a:ext cx="1248817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22" name="구성 조각 38"/>
          <p:cNvSpPr/>
          <p:nvPr/>
        </p:nvSpPr>
        <p:spPr>
          <a:xfrm>
            <a:off x="4855815" y="2162175"/>
            <a:ext cx="1248817" cy="1025723"/>
          </a:xfrm>
          <a:prstGeom prst="rect">
            <a:avLst/>
          </a:prstGeom>
          <a:solidFill>
            <a:srgbClr val="FBE9E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구성 조각 40"/>
          <p:cNvSpPr/>
          <p:nvPr/>
        </p:nvSpPr>
        <p:spPr>
          <a:xfrm>
            <a:off x="4855815" y="3187898"/>
            <a:ext cx="1248817" cy="1094184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4855815" y="3197423"/>
            <a:ext cx="1248817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25" name="구성 조각 43"/>
          <p:cNvSpPr/>
          <p:nvPr/>
        </p:nvSpPr>
        <p:spPr>
          <a:xfrm>
            <a:off x="4855815" y="4282083"/>
            <a:ext cx="1248817" cy="129927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4855815" y="4291608"/>
            <a:ext cx="1248817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6142732" y="5586412"/>
            <a:ext cx="74935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28" name="구성 조각 49"/>
          <p:cNvSpPr/>
          <p:nvPr/>
        </p:nvSpPr>
        <p:spPr>
          <a:xfrm>
            <a:off x="6142732" y="2162175"/>
            <a:ext cx="749350" cy="1367730"/>
          </a:xfrm>
          <a:prstGeom prst="rect">
            <a:avLst/>
          </a:prstGeom>
          <a:solidFill>
            <a:srgbClr val="FBE9E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구성 조각 51"/>
          <p:cNvSpPr/>
          <p:nvPr/>
        </p:nvSpPr>
        <p:spPr>
          <a:xfrm>
            <a:off x="6142732" y="3529905"/>
            <a:ext cx="749350" cy="1196727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6142732" y="3539430"/>
            <a:ext cx="74935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31" name="구성 조각 54"/>
          <p:cNvSpPr/>
          <p:nvPr/>
        </p:nvSpPr>
        <p:spPr>
          <a:xfrm>
            <a:off x="6142732" y="4726632"/>
            <a:ext cx="749350" cy="854869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2" name="Connector 31"/>
          <p:cNvCxnSpPr/>
          <p:nvPr/>
        </p:nvCxnSpPr>
        <p:spPr>
          <a:xfrm>
            <a:off x="6142732" y="4736157"/>
            <a:ext cx="74935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33" name="b 59"/>
          <p:cNvSpPr/>
          <p:nvPr/>
        </p:nvSpPr>
        <p:spPr>
          <a:xfrm>
            <a:off x="533400" y="6100762"/>
            <a:ext cx="104775" cy="104775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a 61"/>
          <p:cNvSpPr/>
          <p:nvPr/>
        </p:nvSpPr>
        <p:spPr>
          <a:xfrm>
            <a:off x="1075283" y="6100762"/>
            <a:ext cx="104775" cy="104775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c 63"/>
          <p:cNvSpPr/>
          <p:nvPr/>
        </p:nvSpPr>
        <p:spPr>
          <a:xfrm>
            <a:off x="1810048" y="6100762"/>
            <a:ext cx="104775" cy="1047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d 65"/>
          <p:cNvSpPr/>
          <p:nvPr/>
        </p:nvSpPr>
        <p:spPr>
          <a:xfrm>
            <a:off x="2541836" y="6100762"/>
            <a:ext cx="104775" cy="104775"/>
          </a:xfrm>
          <a:prstGeom prst="rect">
            <a:avLst/>
          </a:prstGeom>
          <a:solidFill>
            <a:srgbClr val="FBE9ED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7" name="Connector 36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39" name="회사명 73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40" name="키커 74"/>
          <p:cNvSpPr txBox="1"/>
          <p:nvPr/>
        </p:nvSpPr>
        <p:spPr>
          <a:xfrm>
            <a:off x="11054507" y="338138"/>
            <a:ext cx="6473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메코 차트 p53</a:t>
            </a:r>
          </a:p>
        </p:txBody>
      </p:sp>
      <p:sp>
        <p:nvSpPr>
          <p:cNvPr id="41" name="축 제목 78"/>
          <p:cNvSpPr txBox="1"/>
          <p:nvPr/>
        </p:nvSpPr>
        <p:spPr>
          <a:xfrm>
            <a:off x="533400" y="1600200"/>
            <a:ext cx="20872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카테고리별 리뷰 콘텐츠 시장 점유</a:t>
            </a:r>
          </a:p>
        </p:txBody>
      </p:sp>
      <p:sp>
        <p:nvSpPr>
          <p:cNvPr id="42" name="u 79"/>
          <p:cNvSpPr txBox="1"/>
          <p:nvPr/>
        </p:nvSpPr>
        <p:spPr>
          <a:xfrm>
            <a:off x="5148114" y="1647825"/>
            <a:ext cx="183277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너비는 시장 규모, 높이는 점유율 (100%)</a:t>
            </a:r>
          </a:p>
        </p:txBody>
      </p:sp>
      <p:sp>
        <p:nvSpPr>
          <p:cNvPr id="43" name="tv 80"/>
          <p:cNvSpPr txBox="1"/>
          <p:nvPr/>
        </p:nvSpPr>
        <p:spPr>
          <a:xfrm>
            <a:off x="1648402" y="1962150"/>
            <a:ext cx="26762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1.1조</a:t>
            </a:r>
          </a:p>
        </p:txBody>
      </p:sp>
      <p:sp>
        <p:nvSpPr>
          <p:cNvPr id="44" name="구성 조각 83"/>
          <p:cNvSpPr txBox="1"/>
          <p:nvPr/>
        </p:nvSpPr>
        <p:spPr>
          <a:xfrm>
            <a:off x="1658689" y="2574131"/>
            <a:ext cx="2759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28%</a:t>
            </a:r>
          </a:p>
        </p:txBody>
      </p:sp>
      <p:sp>
        <p:nvSpPr>
          <p:cNvPr id="45" name="구성 조각 86"/>
          <p:cNvSpPr txBox="1"/>
          <p:nvPr/>
        </p:nvSpPr>
        <p:spPr>
          <a:xfrm>
            <a:off x="1658541" y="3506837"/>
            <a:ext cx="27629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26%</a:t>
            </a:r>
          </a:p>
        </p:txBody>
      </p:sp>
      <p:sp>
        <p:nvSpPr>
          <p:cNvPr id="46" name="구성 조각 89"/>
          <p:cNvSpPr txBox="1"/>
          <p:nvPr/>
        </p:nvSpPr>
        <p:spPr>
          <a:xfrm>
            <a:off x="1656159" y="4532561"/>
            <a:ext cx="28124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34%</a:t>
            </a:r>
          </a:p>
        </p:txBody>
      </p:sp>
      <p:sp>
        <p:nvSpPr>
          <p:cNvPr id="47" name="구성 조각 92"/>
          <p:cNvSpPr txBox="1"/>
          <p:nvPr/>
        </p:nvSpPr>
        <p:spPr>
          <a:xfrm>
            <a:off x="1668512" y="5318968"/>
            <a:ext cx="25555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12%</a:t>
            </a:r>
          </a:p>
        </p:txBody>
      </p:sp>
      <p:sp>
        <p:nvSpPr>
          <p:cNvPr id="48" name="nm 93"/>
          <p:cNvSpPr txBox="1"/>
          <p:nvPr/>
        </p:nvSpPr>
        <p:spPr>
          <a:xfrm>
            <a:off x="1558629" y="5667375"/>
            <a:ext cx="44717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스킨케어</a:t>
            </a:r>
          </a:p>
        </p:txBody>
      </p:sp>
      <p:sp>
        <p:nvSpPr>
          <p:cNvPr id="49" name="tv 94"/>
          <p:cNvSpPr txBox="1"/>
          <p:nvPr/>
        </p:nvSpPr>
        <p:spPr>
          <a:xfrm>
            <a:off x="3715271" y="1962150"/>
            <a:ext cx="45630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7,700억</a:t>
            </a:r>
          </a:p>
        </p:txBody>
      </p:sp>
      <p:sp>
        <p:nvSpPr>
          <p:cNvPr id="50" name="구성 조각 97"/>
          <p:cNvSpPr txBox="1"/>
          <p:nvPr/>
        </p:nvSpPr>
        <p:spPr>
          <a:xfrm>
            <a:off x="3817739" y="2608362"/>
            <a:ext cx="28047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30%</a:t>
            </a:r>
          </a:p>
        </p:txBody>
      </p:sp>
      <p:sp>
        <p:nvSpPr>
          <p:cNvPr id="51" name="구성 조각 100"/>
          <p:cNvSpPr txBox="1"/>
          <p:nvPr/>
        </p:nvSpPr>
        <p:spPr>
          <a:xfrm>
            <a:off x="3819971" y="3609380"/>
            <a:ext cx="2759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28%</a:t>
            </a:r>
          </a:p>
        </p:txBody>
      </p:sp>
      <p:sp>
        <p:nvSpPr>
          <p:cNvPr id="52" name="구성 조각 103"/>
          <p:cNvSpPr txBox="1"/>
          <p:nvPr/>
        </p:nvSpPr>
        <p:spPr>
          <a:xfrm>
            <a:off x="3817441" y="4669334"/>
            <a:ext cx="28124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34%</a:t>
            </a:r>
          </a:p>
        </p:txBody>
      </p:sp>
      <p:sp>
        <p:nvSpPr>
          <p:cNvPr id="53" name="구성 조각 106"/>
          <p:cNvSpPr txBox="1"/>
          <p:nvPr/>
        </p:nvSpPr>
        <p:spPr>
          <a:xfrm>
            <a:off x="3854351" y="5387429"/>
            <a:ext cx="20432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8%</a:t>
            </a:r>
          </a:p>
        </p:txBody>
      </p:sp>
      <p:sp>
        <p:nvSpPr>
          <p:cNvPr id="54" name="nm 107"/>
          <p:cNvSpPr txBox="1"/>
          <p:nvPr/>
        </p:nvSpPr>
        <p:spPr>
          <a:xfrm>
            <a:off x="3826868" y="5667375"/>
            <a:ext cx="2331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색조</a:t>
            </a:r>
          </a:p>
        </p:txBody>
      </p:sp>
      <p:sp>
        <p:nvSpPr>
          <p:cNvPr id="55" name="tv 108"/>
          <p:cNvSpPr txBox="1"/>
          <p:nvPr/>
        </p:nvSpPr>
        <p:spPr>
          <a:xfrm>
            <a:off x="5237369" y="1962150"/>
            <a:ext cx="48556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5,500억</a:t>
            </a:r>
          </a:p>
        </p:txBody>
      </p:sp>
      <p:sp>
        <p:nvSpPr>
          <p:cNvPr id="56" name="구성 조각 111"/>
          <p:cNvSpPr txBox="1"/>
          <p:nvPr/>
        </p:nvSpPr>
        <p:spPr>
          <a:xfrm>
            <a:off x="5354538" y="2608362"/>
            <a:ext cx="28047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30%</a:t>
            </a:r>
          </a:p>
        </p:txBody>
      </p:sp>
      <p:sp>
        <p:nvSpPr>
          <p:cNvPr id="57" name="구성 조각 114"/>
          <p:cNvSpPr txBox="1"/>
          <p:nvPr/>
        </p:nvSpPr>
        <p:spPr>
          <a:xfrm>
            <a:off x="5356622" y="3677841"/>
            <a:ext cx="27614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32%</a:t>
            </a:r>
          </a:p>
        </p:txBody>
      </p:sp>
      <p:sp>
        <p:nvSpPr>
          <p:cNvPr id="58" name="구성 조각 117"/>
          <p:cNvSpPr txBox="1"/>
          <p:nvPr/>
        </p:nvSpPr>
        <p:spPr>
          <a:xfrm>
            <a:off x="5354985" y="4874568"/>
            <a:ext cx="27954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38%</a:t>
            </a:r>
          </a:p>
        </p:txBody>
      </p:sp>
      <p:sp>
        <p:nvSpPr>
          <p:cNvPr id="59" name="nm 118"/>
          <p:cNvSpPr txBox="1"/>
          <p:nvPr/>
        </p:nvSpPr>
        <p:spPr>
          <a:xfrm>
            <a:off x="5363667" y="5667375"/>
            <a:ext cx="2331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헤어</a:t>
            </a:r>
          </a:p>
        </p:txBody>
      </p:sp>
      <p:sp>
        <p:nvSpPr>
          <p:cNvPr id="60" name="tv 119"/>
          <p:cNvSpPr txBox="1"/>
          <p:nvPr/>
        </p:nvSpPr>
        <p:spPr>
          <a:xfrm>
            <a:off x="6273620" y="1962150"/>
            <a:ext cx="48757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3,300억</a:t>
            </a:r>
          </a:p>
        </p:txBody>
      </p:sp>
      <p:sp>
        <p:nvSpPr>
          <p:cNvPr id="61" name="구성 조각 122"/>
          <p:cNvSpPr txBox="1"/>
          <p:nvPr/>
        </p:nvSpPr>
        <p:spPr>
          <a:xfrm>
            <a:off x="6390977" y="2779365"/>
            <a:ext cx="28202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40%</a:t>
            </a:r>
          </a:p>
        </p:txBody>
      </p:sp>
      <p:sp>
        <p:nvSpPr>
          <p:cNvPr id="62" name="구성 조각 125"/>
          <p:cNvSpPr txBox="1"/>
          <p:nvPr/>
        </p:nvSpPr>
        <p:spPr>
          <a:xfrm>
            <a:off x="6392912" y="4071045"/>
            <a:ext cx="27784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35%</a:t>
            </a:r>
          </a:p>
        </p:txBody>
      </p:sp>
      <p:sp>
        <p:nvSpPr>
          <p:cNvPr id="63" name="구성 조각 128"/>
          <p:cNvSpPr txBox="1"/>
          <p:nvPr/>
        </p:nvSpPr>
        <p:spPr>
          <a:xfrm>
            <a:off x="6394549" y="5096917"/>
            <a:ext cx="27443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25%</a:t>
            </a:r>
          </a:p>
        </p:txBody>
      </p:sp>
      <p:sp>
        <p:nvSpPr>
          <p:cNvPr id="64" name="nm 129"/>
          <p:cNvSpPr txBox="1"/>
          <p:nvPr/>
        </p:nvSpPr>
        <p:spPr>
          <a:xfrm>
            <a:off x="6400851" y="5667375"/>
            <a:ext cx="23311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바디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5325" y="6086475"/>
            <a:ext cx="2160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자사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7208" y="6086475"/>
            <a:ext cx="41668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경쟁사 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71973" y="6086475"/>
            <a:ext cx="4135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경쟁사 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03761" y="6086475"/>
            <a:ext cx="2160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기타</a:t>
            </a:r>
          </a:p>
        </p:txBody>
      </p:sp>
      <p:sp>
        <p:nvSpPr>
          <p:cNvPr id="69" name="열 제목 139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70" name="글머리표 140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스킨케어 1.1조 원 시장에서 12%를 차지한다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색조 시장은 경쟁사 A가 34%로 가장 크다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헤어와 바디는 2027년 진출을 검토한다</a:t>
            </a:r>
          </a:p>
        </p:txBody>
      </p:sp>
      <p:sp>
        <p:nvSpPr>
          <p:cNvPr id="71" name="출처 141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72" name="꼬리말 143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73" name="pg 144"/>
          <p:cNvSpPr txBox="1"/>
          <p:nvPr/>
        </p:nvSpPr>
        <p:spPr>
          <a:xfrm>
            <a:off x="11599218" y="6600825"/>
            <a:ext cx="80808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도입 3개월 뒤 A 브랜드의 리뷰 전환율은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1.8%에서 5.2%로 3.4%p 상승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33400" y="2933700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6" name="ln 10"/>
          <p:cNvSpPr/>
          <p:nvPr/>
        </p:nvSpPr>
        <p:spPr>
          <a:xfrm>
            <a:off x="3281065" y="2638425"/>
            <a:ext cx="2180183" cy="285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d 11"/>
          <p:cNvSpPr/>
          <p:nvPr/>
        </p:nvSpPr>
        <p:spPr>
          <a:xfrm>
            <a:off x="3214390" y="2581275"/>
            <a:ext cx="133350" cy="1333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d 13"/>
          <p:cNvSpPr/>
          <p:nvPr/>
        </p:nvSpPr>
        <p:spPr>
          <a:xfrm>
            <a:off x="5394573" y="2581275"/>
            <a:ext cx="133350" cy="133350"/>
          </a:xfrm>
          <a:prstGeom prst="ellipse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533400" y="3505200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0" name="ln 18"/>
          <p:cNvSpPr/>
          <p:nvPr/>
        </p:nvSpPr>
        <p:spPr>
          <a:xfrm>
            <a:off x="3472309" y="3209925"/>
            <a:ext cx="1223962" cy="285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d 19"/>
          <p:cNvSpPr/>
          <p:nvPr/>
        </p:nvSpPr>
        <p:spPr>
          <a:xfrm>
            <a:off x="3405634" y="3152775"/>
            <a:ext cx="133350" cy="1333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d 21"/>
          <p:cNvSpPr/>
          <p:nvPr/>
        </p:nvSpPr>
        <p:spPr>
          <a:xfrm>
            <a:off x="4629596" y="3152775"/>
            <a:ext cx="133350" cy="1333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533400" y="4076700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4" name="ln 26"/>
          <p:cNvSpPr/>
          <p:nvPr/>
        </p:nvSpPr>
        <p:spPr>
          <a:xfrm>
            <a:off x="3778300" y="3781425"/>
            <a:ext cx="841474" cy="285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d 27"/>
          <p:cNvSpPr/>
          <p:nvPr/>
        </p:nvSpPr>
        <p:spPr>
          <a:xfrm>
            <a:off x="3711625" y="3724275"/>
            <a:ext cx="133350" cy="1333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d 29"/>
          <p:cNvSpPr/>
          <p:nvPr/>
        </p:nvSpPr>
        <p:spPr>
          <a:xfrm>
            <a:off x="4553099" y="3724275"/>
            <a:ext cx="133350" cy="1333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533400" y="4648200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8" name="ln 34"/>
          <p:cNvSpPr/>
          <p:nvPr/>
        </p:nvSpPr>
        <p:spPr>
          <a:xfrm>
            <a:off x="4046041" y="4352925"/>
            <a:ext cx="497235" cy="285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d 35"/>
          <p:cNvSpPr/>
          <p:nvPr/>
        </p:nvSpPr>
        <p:spPr>
          <a:xfrm>
            <a:off x="3979366" y="4295775"/>
            <a:ext cx="133350" cy="1333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d 37"/>
          <p:cNvSpPr/>
          <p:nvPr/>
        </p:nvSpPr>
        <p:spPr>
          <a:xfrm>
            <a:off x="4476601" y="4295775"/>
            <a:ext cx="133350" cy="1333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533400" y="5219700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22" name="ln 42"/>
          <p:cNvSpPr/>
          <p:nvPr/>
        </p:nvSpPr>
        <p:spPr>
          <a:xfrm>
            <a:off x="4237286" y="4924425"/>
            <a:ext cx="191244" cy="285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d 43"/>
          <p:cNvSpPr/>
          <p:nvPr/>
        </p:nvSpPr>
        <p:spPr>
          <a:xfrm>
            <a:off x="4170611" y="4867275"/>
            <a:ext cx="133350" cy="133350"/>
          </a:xfrm>
          <a:prstGeom prst="ellipse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d 45"/>
          <p:cNvSpPr/>
          <p:nvPr/>
        </p:nvSpPr>
        <p:spPr>
          <a:xfrm>
            <a:off x="4361855" y="4867275"/>
            <a:ext cx="133350" cy="133350"/>
          </a:xfrm>
          <a:prstGeom prst="ellipse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c 52"/>
          <p:cNvSpPr/>
          <p:nvPr/>
        </p:nvSpPr>
        <p:spPr>
          <a:xfrm>
            <a:off x="533400" y="6100762"/>
            <a:ext cx="104775" cy="1047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a 54"/>
          <p:cNvSpPr/>
          <p:nvPr/>
        </p:nvSpPr>
        <p:spPr>
          <a:xfrm>
            <a:off x="1197322" y="6100762"/>
            <a:ext cx="104775" cy="104775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29" name="회사명 62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30" name="키커 63"/>
          <p:cNvSpPr txBox="1"/>
          <p:nvPr/>
        </p:nvSpPr>
        <p:spPr>
          <a:xfrm>
            <a:off x="10846743" y="338138"/>
            <a:ext cx="86338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전후 비교 덤벨 p54</a:t>
            </a:r>
          </a:p>
        </p:txBody>
      </p:sp>
      <p:sp>
        <p:nvSpPr>
          <p:cNvPr id="31" name="축 제목 67"/>
          <p:cNvSpPr txBox="1"/>
          <p:nvPr/>
        </p:nvSpPr>
        <p:spPr>
          <a:xfrm>
            <a:off x="533400" y="1600200"/>
            <a:ext cx="20872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브랜드별 리뷰 페이지 구매 전환율</a:t>
            </a:r>
          </a:p>
        </p:txBody>
      </p:sp>
      <p:sp>
        <p:nvSpPr>
          <p:cNvPr id="32" name="u 68"/>
          <p:cNvSpPr txBox="1"/>
          <p:nvPr/>
        </p:nvSpPr>
        <p:spPr>
          <a:xfrm>
            <a:off x="5333256" y="1647825"/>
            <a:ext cx="164022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%, 도입 직전 3개월과 도입 뒤 3개월</a:t>
            </a:r>
          </a:p>
        </p:txBody>
      </p:sp>
      <p:sp>
        <p:nvSpPr>
          <p:cNvPr id="33" name="nm 70"/>
          <p:cNvSpPr txBox="1"/>
          <p:nvPr/>
        </p:nvSpPr>
        <p:spPr>
          <a:xfrm>
            <a:off x="533400" y="2562225"/>
            <a:ext cx="54267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A 브랜드</a:t>
            </a:r>
          </a:p>
        </p:txBody>
      </p:sp>
      <p:sp>
        <p:nvSpPr>
          <p:cNvPr id="34" name="d 73"/>
          <p:cNvSpPr txBox="1"/>
          <p:nvPr/>
        </p:nvSpPr>
        <p:spPr>
          <a:xfrm>
            <a:off x="2900065" y="27432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 SemiBold"/>
                <a:ea typeface="Pretendard SemiBold"/>
                <a:cs typeface="Pretendard SemiBold"/>
              </a:rPr>
              <a:t>1.8%</a:t>
            </a:r>
          </a:p>
        </p:txBody>
      </p:sp>
      <p:sp>
        <p:nvSpPr>
          <p:cNvPr id="35" name="d 75"/>
          <p:cNvSpPr txBox="1"/>
          <p:nvPr/>
        </p:nvSpPr>
        <p:spPr>
          <a:xfrm>
            <a:off x="5080248" y="24003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5.2%</a:t>
            </a:r>
          </a:p>
        </p:txBody>
      </p:sp>
      <p:sp>
        <p:nvSpPr>
          <p:cNvPr id="36" name="val 76"/>
          <p:cNvSpPr txBox="1"/>
          <p:nvPr/>
        </p:nvSpPr>
        <p:spPr>
          <a:xfrm>
            <a:off x="6324177" y="2562225"/>
            <a:ext cx="56790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+3.4%p</a:t>
            </a:r>
          </a:p>
        </p:txBody>
      </p:sp>
      <p:sp>
        <p:nvSpPr>
          <p:cNvPr id="37" name="nm 78"/>
          <p:cNvSpPr txBox="1"/>
          <p:nvPr/>
        </p:nvSpPr>
        <p:spPr>
          <a:xfrm>
            <a:off x="533400" y="3133725"/>
            <a:ext cx="53369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B 브랜드</a:t>
            </a:r>
          </a:p>
        </p:txBody>
      </p:sp>
      <p:sp>
        <p:nvSpPr>
          <p:cNvPr id="38" name="d 81"/>
          <p:cNvSpPr txBox="1"/>
          <p:nvPr/>
        </p:nvSpPr>
        <p:spPr>
          <a:xfrm>
            <a:off x="3091309" y="33147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 SemiBold"/>
                <a:ea typeface="Pretendard SemiBold"/>
                <a:cs typeface="Pretendard SemiBold"/>
              </a:rPr>
              <a:t>2.1%</a:t>
            </a:r>
          </a:p>
        </p:txBody>
      </p:sp>
      <p:sp>
        <p:nvSpPr>
          <p:cNvPr id="39" name="d 83"/>
          <p:cNvSpPr txBox="1"/>
          <p:nvPr/>
        </p:nvSpPr>
        <p:spPr>
          <a:xfrm>
            <a:off x="4315271" y="29718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4.0%</a:t>
            </a:r>
          </a:p>
        </p:txBody>
      </p:sp>
      <p:sp>
        <p:nvSpPr>
          <p:cNvPr id="40" name="val 84"/>
          <p:cNvSpPr txBox="1"/>
          <p:nvPr/>
        </p:nvSpPr>
        <p:spPr>
          <a:xfrm>
            <a:off x="6355134" y="3133725"/>
            <a:ext cx="53694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+1.9%p</a:t>
            </a:r>
          </a:p>
        </p:txBody>
      </p:sp>
      <p:sp>
        <p:nvSpPr>
          <p:cNvPr id="41" name="nm 86"/>
          <p:cNvSpPr txBox="1"/>
          <p:nvPr/>
        </p:nvSpPr>
        <p:spPr>
          <a:xfrm>
            <a:off x="533400" y="3705225"/>
            <a:ext cx="5446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C 브랜드</a:t>
            </a:r>
          </a:p>
        </p:txBody>
      </p:sp>
      <p:sp>
        <p:nvSpPr>
          <p:cNvPr id="42" name="d 89"/>
          <p:cNvSpPr txBox="1"/>
          <p:nvPr/>
        </p:nvSpPr>
        <p:spPr>
          <a:xfrm>
            <a:off x="3397300" y="38862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 SemiBold"/>
                <a:ea typeface="Pretendard SemiBold"/>
                <a:cs typeface="Pretendard SemiBold"/>
              </a:rPr>
              <a:t>2.6%</a:t>
            </a:r>
          </a:p>
        </p:txBody>
      </p:sp>
      <p:sp>
        <p:nvSpPr>
          <p:cNvPr id="43" name="d 91"/>
          <p:cNvSpPr txBox="1"/>
          <p:nvPr/>
        </p:nvSpPr>
        <p:spPr>
          <a:xfrm>
            <a:off x="4238774" y="35433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3.9%</a:t>
            </a:r>
          </a:p>
        </p:txBody>
      </p:sp>
      <p:sp>
        <p:nvSpPr>
          <p:cNvPr id="44" name="val 92"/>
          <p:cNvSpPr txBox="1"/>
          <p:nvPr/>
        </p:nvSpPr>
        <p:spPr>
          <a:xfrm>
            <a:off x="6356991" y="3705225"/>
            <a:ext cx="53509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+1.3%p</a:t>
            </a:r>
          </a:p>
        </p:txBody>
      </p:sp>
      <p:sp>
        <p:nvSpPr>
          <p:cNvPr id="45" name="nm 94"/>
          <p:cNvSpPr txBox="1"/>
          <p:nvPr/>
        </p:nvSpPr>
        <p:spPr>
          <a:xfrm>
            <a:off x="533400" y="4276725"/>
            <a:ext cx="54360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D 브랜드</a:t>
            </a:r>
          </a:p>
        </p:txBody>
      </p:sp>
      <p:sp>
        <p:nvSpPr>
          <p:cNvPr id="46" name="d 97"/>
          <p:cNvSpPr txBox="1"/>
          <p:nvPr/>
        </p:nvSpPr>
        <p:spPr>
          <a:xfrm>
            <a:off x="3665041" y="44577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 SemiBold"/>
                <a:ea typeface="Pretendard SemiBold"/>
                <a:cs typeface="Pretendard SemiBold"/>
              </a:rPr>
              <a:t>3.0%</a:t>
            </a:r>
          </a:p>
        </p:txBody>
      </p:sp>
      <p:sp>
        <p:nvSpPr>
          <p:cNvPr id="47" name="d 99"/>
          <p:cNvSpPr txBox="1"/>
          <p:nvPr/>
        </p:nvSpPr>
        <p:spPr>
          <a:xfrm>
            <a:off x="4162276" y="41148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3.8%</a:t>
            </a:r>
          </a:p>
        </p:txBody>
      </p:sp>
      <p:sp>
        <p:nvSpPr>
          <p:cNvPr id="48" name="val 100"/>
          <p:cNvSpPr txBox="1"/>
          <p:nvPr/>
        </p:nvSpPr>
        <p:spPr>
          <a:xfrm>
            <a:off x="6329285" y="4276725"/>
            <a:ext cx="56279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+0.8%p</a:t>
            </a:r>
          </a:p>
        </p:txBody>
      </p:sp>
      <p:sp>
        <p:nvSpPr>
          <p:cNvPr id="49" name="nm 102"/>
          <p:cNvSpPr txBox="1"/>
          <p:nvPr/>
        </p:nvSpPr>
        <p:spPr>
          <a:xfrm>
            <a:off x="533400" y="4848225"/>
            <a:ext cx="5259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E 브랜드</a:t>
            </a:r>
          </a:p>
        </p:txBody>
      </p:sp>
      <p:sp>
        <p:nvSpPr>
          <p:cNvPr id="50" name="d 105"/>
          <p:cNvSpPr txBox="1"/>
          <p:nvPr/>
        </p:nvSpPr>
        <p:spPr>
          <a:xfrm>
            <a:off x="3856286" y="50292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 SemiBold"/>
                <a:ea typeface="Pretendard SemiBold"/>
                <a:cs typeface="Pretendard SemiBold"/>
              </a:rPr>
              <a:t>3.3%</a:t>
            </a:r>
          </a:p>
        </p:txBody>
      </p:sp>
      <p:sp>
        <p:nvSpPr>
          <p:cNvPr id="51" name="d 107"/>
          <p:cNvSpPr txBox="1"/>
          <p:nvPr/>
        </p:nvSpPr>
        <p:spPr>
          <a:xfrm>
            <a:off x="4047530" y="4686300"/>
            <a:ext cx="7620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3.6%</a:t>
            </a:r>
          </a:p>
        </p:txBody>
      </p:sp>
      <p:sp>
        <p:nvSpPr>
          <p:cNvPr id="52" name="val 108"/>
          <p:cNvSpPr txBox="1"/>
          <p:nvPr/>
        </p:nvSpPr>
        <p:spPr>
          <a:xfrm>
            <a:off x="6328666" y="4848225"/>
            <a:ext cx="56341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+0.3%p</a:t>
            </a:r>
          </a:p>
        </p:txBody>
      </p:sp>
      <p:sp>
        <p:nvSpPr>
          <p:cNvPr id="53" name="tk 109"/>
          <p:cNvSpPr txBox="1"/>
          <p:nvPr/>
        </p:nvSpPr>
        <p:spPr>
          <a:xfrm>
            <a:off x="2133600" y="5281612"/>
            <a:ext cx="8699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54" name="tk 110"/>
          <p:cNvSpPr txBox="1"/>
          <p:nvPr/>
        </p:nvSpPr>
        <p:spPr>
          <a:xfrm>
            <a:off x="3916859" y="5281612"/>
            <a:ext cx="18760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3%</a:t>
            </a:r>
          </a:p>
        </p:txBody>
      </p:sp>
      <p:sp>
        <p:nvSpPr>
          <p:cNvPr id="55" name="tk 111"/>
          <p:cNvSpPr txBox="1"/>
          <p:nvPr/>
        </p:nvSpPr>
        <p:spPr>
          <a:xfrm>
            <a:off x="5796855" y="5281612"/>
            <a:ext cx="18729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5325" y="6086475"/>
            <a:ext cx="34300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도입 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59247" y="6086475"/>
            <a:ext cx="34300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도입 후</a:t>
            </a:r>
          </a:p>
        </p:txBody>
      </p:sp>
      <p:sp>
        <p:nvSpPr>
          <p:cNvPr id="58" name="열 제목 117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59" name="글머리표 118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다섯 곳 모두 전환율이 올랐다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도입 전 전환율이 낮았던 브랜드일수록 크게 올랐다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E 브랜드는 이미 3%를 넘어 상승 폭이 0.3%p다</a:t>
            </a:r>
          </a:p>
        </p:txBody>
      </p:sp>
      <p:sp>
        <p:nvSpPr>
          <p:cNvPr id="60" name="출처 119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61" name="꼬리말 121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62" name="pg 122"/>
          <p:cNvSpPr txBox="1"/>
          <p:nvPr/>
        </p:nvSpPr>
        <p:spPr>
          <a:xfrm>
            <a:off x="11605171" y="6600825"/>
            <a:ext cx="74616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브랜드사 광고비는 인스타그램에서 4.2억 원 증가,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TV에서 3.0억 원 감소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4431804" y="2662238"/>
            <a:ext cx="0" cy="24765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33400" y="33242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431804" y="2909888"/>
            <a:ext cx="0" cy="409574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8" name="막대 14"/>
          <p:cNvSpPr/>
          <p:nvPr/>
        </p:nvSpPr>
        <p:spPr>
          <a:xfrm>
            <a:off x="4436566" y="3019425"/>
            <a:ext cx="1915269" cy="190500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533400" y="37433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4431804" y="3328988"/>
            <a:ext cx="0" cy="409574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11" name="막대 19"/>
          <p:cNvSpPr/>
          <p:nvPr/>
        </p:nvSpPr>
        <p:spPr>
          <a:xfrm>
            <a:off x="4436566" y="3438525"/>
            <a:ext cx="1276796" cy="1905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533400" y="41624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4431804" y="3748088"/>
            <a:ext cx="0" cy="409574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14" name="막대 24"/>
          <p:cNvSpPr/>
          <p:nvPr/>
        </p:nvSpPr>
        <p:spPr>
          <a:xfrm>
            <a:off x="4436566" y="3857625"/>
            <a:ext cx="736550" cy="1905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533400" y="45815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431804" y="4167188"/>
            <a:ext cx="0" cy="409574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17" name="막대 29"/>
          <p:cNvSpPr/>
          <p:nvPr/>
        </p:nvSpPr>
        <p:spPr>
          <a:xfrm>
            <a:off x="4436566" y="4276725"/>
            <a:ext cx="220861" cy="1905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533400" y="50006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9" name="막대 34"/>
          <p:cNvSpPr/>
          <p:nvPr/>
        </p:nvSpPr>
        <p:spPr>
          <a:xfrm>
            <a:off x="3786188" y="4695825"/>
            <a:ext cx="640854" cy="1905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4431804" y="4586288"/>
            <a:ext cx="0" cy="409574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sp>
        <p:nvSpPr>
          <p:cNvPr id="21" name="막대 38"/>
          <p:cNvSpPr/>
          <p:nvPr/>
        </p:nvSpPr>
        <p:spPr>
          <a:xfrm>
            <a:off x="3046809" y="5119688"/>
            <a:ext cx="1380232" cy="1905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>
            <a:off x="4431804" y="5005388"/>
            <a:ext cx="0" cy="41910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25" name="회사명 47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26" name="키커 48"/>
          <p:cNvSpPr txBox="1"/>
          <p:nvPr/>
        </p:nvSpPr>
        <p:spPr>
          <a:xfrm>
            <a:off x="10849719" y="338138"/>
            <a:ext cx="86028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증감 가로 막대 p55</a:t>
            </a:r>
          </a:p>
        </p:txBody>
      </p:sp>
      <p:sp>
        <p:nvSpPr>
          <p:cNvPr id="27" name="축 제목 52"/>
          <p:cNvSpPr txBox="1"/>
          <p:nvPr/>
        </p:nvSpPr>
        <p:spPr>
          <a:xfrm>
            <a:off x="533400" y="1600200"/>
            <a:ext cx="29625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채널별 광고비 증감 (고객 브랜드사 214곳 합계)</a:t>
            </a:r>
          </a:p>
        </p:txBody>
      </p:sp>
      <p:sp>
        <p:nvSpPr>
          <p:cNvPr id="28" name="u 53"/>
          <p:cNvSpPr txBox="1"/>
          <p:nvPr/>
        </p:nvSpPr>
        <p:spPr>
          <a:xfrm>
            <a:off x="5062538" y="1647825"/>
            <a:ext cx="192177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억 원, 2026년 1~9월, 전년 같은 기간 대비</a:t>
            </a:r>
          </a:p>
        </p:txBody>
      </p:sp>
      <p:sp>
        <p:nvSpPr>
          <p:cNvPr id="29" name="l 54"/>
          <p:cNvSpPr txBox="1"/>
          <p:nvPr/>
        </p:nvSpPr>
        <p:spPr>
          <a:xfrm>
            <a:off x="4134148" y="2719388"/>
            <a:ext cx="2246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감소</a:t>
            </a:r>
          </a:p>
        </p:txBody>
      </p:sp>
      <p:sp>
        <p:nvSpPr>
          <p:cNvPr id="30" name="r 56"/>
          <p:cNvSpPr txBox="1"/>
          <p:nvPr/>
        </p:nvSpPr>
        <p:spPr>
          <a:xfrm>
            <a:off x="4531816" y="2719388"/>
            <a:ext cx="2246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증가</a:t>
            </a:r>
          </a:p>
        </p:txBody>
      </p:sp>
      <p:sp>
        <p:nvSpPr>
          <p:cNvPr id="31" name="nm 58"/>
          <p:cNvSpPr txBox="1"/>
          <p:nvPr/>
        </p:nvSpPr>
        <p:spPr>
          <a:xfrm>
            <a:off x="533400" y="3028950"/>
            <a:ext cx="66123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인스타그램</a:t>
            </a:r>
          </a:p>
        </p:txBody>
      </p:sp>
      <p:sp>
        <p:nvSpPr>
          <p:cNvPr id="32" name="v 61"/>
          <p:cNvSpPr txBox="1"/>
          <p:nvPr/>
        </p:nvSpPr>
        <p:spPr>
          <a:xfrm>
            <a:off x="6428036" y="3038475"/>
            <a:ext cx="316540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+4.2</a:t>
            </a:r>
          </a:p>
        </p:txBody>
      </p:sp>
      <p:sp>
        <p:nvSpPr>
          <p:cNvPr id="33" name="nm 63"/>
          <p:cNvSpPr txBox="1"/>
          <p:nvPr/>
        </p:nvSpPr>
        <p:spPr>
          <a:xfrm>
            <a:off x="533400" y="3448050"/>
            <a:ext cx="40445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유튜브</a:t>
            </a:r>
          </a:p>
        </p:txBody>
      </p:sp>
      <p:sp>
        <p:nvSpPr>
          <p:cNvPr id="34" name="v 66"/>
          <p:cNvSpPr txBox="1"/>
          <p:nvPr/>
        </p:nvSpPr>
        <p:spPr>
          <a:xfrm>
            <a:off x="5789563" y="3457575"/>
            <a:ext cx="31034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+2.8</a:t>
            </a:r>
          </a:p>
        </p:txBody>
      </p:sp>
      <p:sp>
        <p:nvSpPr>
          <p:cNvPr id="35" name="nm 68"/>
          <p:cNvSpPr txBox="1"/>
          <p:nvPr/>
        </p:nvSpPr>
        <p:spPr>
          <a:xfrm>
            <a:off x="533400" y="3867150"/>
            <a:ext cx="2759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틱톡</a:t>
            </a:r>
          </a:p>
        </p:txBody>
      </p:sp>
      <p:sp>
        <p:nvSpPr>
          <p:cNvPr id="36" name="v 71"/>
          <p:cNvSpPr txBox="1"/>
          <p:nvPr/>
        </p:nvSpPr>
        <p:spPr>
          <a:xfrm>
            <a:off x="5249317" y="3876675"/>
            <a:ext cx="288524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+1.6</a:t>
            </a:r>
          </a:p>
        </p:txBody>
      </p:sp>
      <p:sp>
        <p:nvSpPr>
          <p:cNvPr id="37" name="nm 73"/>
          <p:cNvSpPr txBox="1"/>
          <p:nvPr/>
        </p:nvSpPr>
        <p:spPr>
          <a:xfrm>
            <a:off x="533400" y="4286250"/>
            <a:ext cx="40445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블로그</a:t>
            </a:r>
          </a:p>
        </p:txBody>
      </p:sp>
      <p:sp>
        <p:nvSpPr>
          <p:cNvPr id="38" name="v 76"/>
          <p:cNvSpPr txBox="1"/>
          <p:nvPr/>
        </p:nvSpPr>
        <p:spPr>
          <a:xfrm>
            <a:off x="4733627" y="4295775"/>
            <a:ext cx="31545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+0.5</a:t>
            </a:r>
          </a:p>
        </p:txBody>
      </p:sp>
      <p:sp>
        <p:nvSpPr>
          <p:cNvPr id="39" name="nm 78"/>
          <p:cNvSpPr txBox="1"/>
          <p:nvPr/>
        </p:nvSpPr>
        <p:spPr>
          <a:xfrm>
            <a:off x="533400" y="4705350"/>
            <a:ext cx="57007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검색 광고</a:t>
            </a:r>
          </a:p>
        </p:txBody>
      </p:sp>
      <p:sp>
        <p:nvSpPr>
          <p:cNvPr id="40" name="v 79"/>
          <p:cNvSpPr txBox="1"/>
          <p:nvPr/>
        </p:nvSpPr>
        <p:spPr>
          <a:xfrm>
            <a:off x="3472309" y="4714875"/>
            <a:ext cx="26623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8F1D14"/>
                </a:solidFill>
                <a:latin typeface="Pretendard SemiBold"/>
                <a:ea typeface="Pretendard SemiBold"/>
                <a:cs typeface="Pretendard SemiBold"/>
              </a:rPr>
              <a:t>-1.4</a:t>
            </a:r>
          </a:p>
        </p:txBody>
      </p:sp>
      <p:sp>
        <p:nvSpPr>
          <p:cNvPr id="41" name="nm 82"/>
          <p:cNvSpPr txBox="1"/>
          <p:nvPr/>
        </p:nvSpPr>
        <p:spPr>
          <a:xfrm>
            <a:off x="533400" y="5129212"/>
            <a:ext cx="20587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TV</a:t>
            </a:r>
          </a:p>
        </p:txBody>
      </p:sp>
      <p:sp>
        <p:nvSpPr>
          <p:cNvPr id="42" name="v 83"/>
          <p:cNvSpPr txBox="1"/>
          <p:nvPr/>
        </p:nvSpPr>
        <p:spPr>
          <a:xfrm>
            <a:off x="2712988" y="5138738"/>
            <a:ext cx="286976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8F1D14"/>
                </a:solidFill>
                <a:latin typeface="Pretendard SemiBold"/>
                <a:ea typeface="Pretendard SemiBold"/>
                <a:cs typeface="Pretendard SemiBold"/>
              </a:rPr>
              <a:t>-3.0</a:t>
            </a:r>
          </a:p>
        </p:txBody>
      </p:sp>
      <p:sp>
        <p:nvSpPr>
          <p:cNvPr id="43" name="열 제목 87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44" name="글머리표 88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늘어난 돈은 짧은 영상 채널로 갔다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검색 광고와 TV에서 4.4억 원이 빠졌다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블로그는 0.5억 원으로 거의 그대로다</a:t>
            </a:r>
          </a:p>
        </p:txBody>
      </p:sp>
      <p:sp>
        <p:nvSpPr>
          <p:cNvPr id="45" name="출처 89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46" name="꼬리말 91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47" name="pg 92"/>
          <p:cNvSpPr txBox="1"/>
          <p:nvPr/>
        </p:nvSpPr>
        <p:spPr>
          <a:xfrm>
            <a:off x="11599664" y="6600825"/>
            <a:ext cx="80343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3분기 매출 목표를 서울은 115% 달성,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광주는 60%에 그침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33400" y="27908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33400" y="32861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7" name="trk 13"/>
          <p:cNvSpPr/>
          <p:nvPr/>
        </p:nvSpPr>
        <p:spPr>
          <a:xfrm>
            <a:off x="2000250" y="2924175"/>
            <a:ext cx="2758232" cy="228600"/>
          </a:xfrm>
          <a:prstGeom prst="rect">
            <a:avLst/>
          </a:prstGeom>
          <a:solidFill>
            <a:srgbClr val="E7E7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막대 14"/>
          <p:cNvSpPr/>
          <p:nvPr/>
        </p:nvSpPr>
        <p:spPr>
          <a:xfrm>
            <a:off x="2000250" y="2924175"/>
            <a:ext cx="2537520" cy="228600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m 15"/>
          <p:cNvSpPr/>
          <p:nvPr/>
        </p:nvSpPr>
        <p:spPr>
          <a:xfrm>
            <a:off x="4197251" y="2867025"/>
            <a:ext cx="28575" cy="3429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533400" y="37814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1" name="trk 20"/>
          <p:cNvSpPr/>
          <p:nvPr/>
        </p:nvSpPr>
        <p:spPr>
          <a:xfrm>
            <a:off x="2000250" y="3419475"/>
            <a:ext cx="2758232" cy="228600"/>
          </a:xfrm>
          <a:prstGeom prst="rect">
            <a:avLst/>
          </a:prstGeom>
          <a:solidFill>
            <a:srgbClr val="E7E7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막대 21"/>
          <p:cNvSpPr/>
          <p:nvPr/>
        </p:nvSpPr>
        <p:spPr>
          <a:xfrm>
            <a:off x="2000250" y="3419475"/>
            <a:ext cx="1710035" cy="2286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m 22"/>
          <p:cNvSpPr/>
          <p:nvPr/>
        </p:nvSpPr>
        <p:spPr>
          <a:xfrm>
            <a:off x="3645545" y="3362325"/>
            <a:ext cx="28575" cy="3429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533400" y="42767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5" name="trk 27"/>
          <p:cNvSpPr/>
          <p:nvPr/>
        </p:nvSpPr>
        <p:spPr>
          <a:xfrm>
            <a:off x="2000250" y="3914775"/>
            <a:ext cx="2758232" cy="228600"/>
          </a:xfrm>
          <a:prstGeom prst="rect">
            <a:avLst/>
          </a:prstGeom>
          <a:solidFill>
            <a:srgbClr val="E7E7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막대 28"/>
          <p:cNvSpPr/>
          <p:nvPr/>
        </p:nvSpPr>
        <p:spPr>
          <a:xfrm>
            <a:off x="2000250" y="3914775"/>
            <a:ext cx="992832" cy="2286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m 29"/>
          <p:cNvSpPr/>
          <p:nvPr/>
        </p:nvSpPr>
        <p:spPr>
          <a:xfrm>
            <a:off x="3093988" y="3857625"/>
            <a:ext cx="28575" cy="3429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533400" y="4772025"/>
            <a:ext cx="6358682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9" name="trk 34"/>
          <p:cNvSpPr/>
          <p:nvPr/>
        </p:nvSpPr>
        <p:spPr>
          <a:xfrm>
            <a:off x="2000250" y="4410075"/>
            <a:ext cx="2758232" cy="228600"/>
          </a:xfrm>
          <a:prstGeom prst="rect">
            <a:avLst/>
          </a:prstGeom>
          <a:solidFill>
            <a:srgbClr val="E7E7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막대 35"/>
          <p:cNvSpPr/>
          <p:nvPr/>
        </p:nvSpPr>
        <p:spPr>
          <a:xfrm>
            <a:off x="2000250" y="4410075"/>
            <a:ext cx="606772" cy="2286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m 36"/>
          <p:cNvSpPr/>
          <p:nvPr/>
        </p:nvSpPr>
        <p:spPr>
          <a:xfrm>
            <a:off x="2818061" y="4352925"/>
            <a:ext cx="28575" cy="3429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rk 40"/>
          <p:cNvSpPr/>
          <p:nvPr/>
        </p:nvSpPr>
        <p:spPr>
          <a:xfrm>
            <a:off x="2000250" y="4910138"/>
            <a:ext cx="2758232" cy="228600"/>
          </a:xfrm>
          <a:prstGeom prst="rect">
            <a:avLst/>
          </a:prstGeom>
          <a:solidFill>
            <a:srgbClr val="E7E7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막대 41"/>
          <p:cNvSpPr/>
          <p:nvPr/>
        </p:nvSpPr>
        <p:spPr>
          <a:xfrm>
            <a:off x="2000250" y="4910138"/>
            <a:ext cx="330845" cy="228600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m 42"/>
          <p:cNvSpPr/>
          <p:nvPr/>
        </p:nvSpPr>
        <p:spPr>
          <a:xfrm>
            <a:off x="2542282" y="4852988"/>
            <a:ext cx="28575" cy="3429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c 46"/>
          <p:cNvSpPr/>
          <p:nvPr/>
        </p:nvSpPr>
        <p:spPr>
          <a:xfrm>
            <a:off x="533400" y="6100762"/>
            <a:ext cx="104775" cy="1047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m 48"/>
          <p:cNvSpPr/>
          <p:nvPr/>
        </p:nvSpPr>
        <p:spPr>
          <a:xfrm>
            <a:off x="1075283" y="6086475"/>
            <a:ext cx="28575" cy="13335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29" name="회사명 56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30" name="키커 57"/>
          <p:cNvSpPr txBox="1"/>
          <p:nvPr/>
        </p:nvSpPr>
        <p:spPr>
          <a:xfrm>
            <a:off x="10847933" y="338138"/>
            <a:ext cx="86214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목표 대비 달성 p56</a:t>
            </a:r>
          </a:p>
        </p:txBody>
      </p:sp>
      <p:sp>
        <p:nvSpPr>
          <p:cNvPr id="31" name="축 제목 61"/>
          <p:cNvSpPr txBox="1"/>
          <p:nvPr/>
        </p:nvSpPr>
        <p:spPr>
          <a:xfrm>
            <a:off x="533400" y="1600200"/>
            <a:ext cx="115328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지역별 3분기 매출</a:t>
            </a:r>
          </a:p>
        </p:txBody>
      </p:sp>
      <p:sp>
        <p:nvSpPr>
          <p:cNvPr id="32" name="u 62"/>
          <p:cNvSpPr txBox="1"/>
          <p:nvPr/>
        </p:nvSpPr>
        <p:spPr>
          <a:xfrm>
            <a:off x="5945535" y="1647825"/>
            <a:ext cx="100345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억 원, 2026년 7~9월</a:t>
            </a:r>
          </a:p>
        </p:txBody>
      </p:sp>
      <p:sp>
        <p:nvSpPr>
          <p:cNvPr id="33" name="val 64"/>
          <p:cNvSpPr txBox="1"/>
          <p:nvPr/>
        </p:nvSpPr>
        <p:spPr>
          <a:xfrm>
            <a:off x="5505468" y="2624138"/>
            <a:ext cx="52936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실적 / 목표</a:t>
            </a:r>
          </a:p>
        </p:txBody>
      </p:sp>
      <p:sp>
        <p:nvSpPr>
          <p:cNvPr id="34" name="rt 65"/>
          <p:cNvSpPr txBox="1"/>
          <p:nvPr/>
        </p:nvSpPr>
        <p:spPr>
          <a:xfrm>
            <a:off x="6564707" y="2619375"/>
            <a:ext cx="32737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달성률</a:t>
            </a:r>
          </a:p>
        </p:txBody>
      </p:sp>
      <p:sp>
        <p:nvSpPr>
          <p:cNvPr id="35" name="nm 67"/>
          <p:cNvSpPr txBox="1"/>
          <p:nvPr/>
        </p:nvSpPr>
        <p:spPr>
          <a:xfrm>
            <a:off x="533400" y="2952750"/>
            <a:ext cx="2759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서울</a:t>
            </a:r>
          </a:p>
        </p:txBody>
      </p:sp>
      <p:sp>
        <p:nvSpPr>
          <p:cNvPr id="36" name="val 71"/>
          <p:cNvSpPr txBox="1"/>
          <p:nvPr/>
        </p:nvSpPr>
        <p:spPr>
          <a:xfrm>
            <a:off x="5478226" y="2957512"/>
            <a:ext cx="55660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4.6 </a:t>
            </a:r>
            <a:r>
              <a:rPr sz="11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/ 4.0</a:t>
            </a:r>
          </a:p>
        </p:txBody>
      </p:sp>
      <p:sp>
        <p:nvSpPr>
          <p:cNvPr id="37" name="rt 72"/>
          <p:cNvSpPr txBox="1"/>
          <p:nvPr/>
        </p:nvSpPr>
        <p:spPr>
          <a:xfrm>
            <a:off x="6506974" y="2952750"/>
            <a:ext cx="38510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D9415F"/>
                </a:solidFill>
                <a:latin typeface="Pretendard SemiBold"/>
                <a:ea typeface="Pretendard SemiBold"/>
                <a:cs typeface="Pretendard SemiBold"/>
              </a:rPr>
              <a:t>115%</a:t>
            </a:r>
          </a:p>
        </p:txBody>
      </p:sp>
      <p:sp>
        <p:nvSpPr>
          <p:cNvPr id="38" name="nm 74"/>
          <p:cNvSpPr txBox="1"/>
          <p:nvPr/>
        </p:nvSpPr>
        <p:spPr>
          <a:xfrm>
            <a:off x="533400" y="3448050"/>
            <a:ext cx="2759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경기</a:t>
            </a:r>
          </a:p>
        </p:txBody>
      </p:sp>
      <p:sp>
        <p:nvSpPr>
          <p:cNvPr id="39" name="val 78"/>
          <p:cNvSpPr txBox="1"/>
          <p:nvPr/>
        </p:nvSpPr>
        <p:spPr>
          <a:xfrm>
            <a:off x="5513207" y="3452812"/>
            <a:ext cx="521625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3.1 </a:t>
            </a:r>
            <a:r>
              <a:rPr sz="11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/ 3.0</a:t>
            </a:r>
          </a:p>
        </p:txBody>
      </p:sp>
      <p:sp>
        <p:nvSpPr>
          <p:cNvPr id="40" name="rt 79"/>
          <p:cNvSpPr txBox="1"/>
          <p:nvPr/>
        </p:nvSpPr>
        <p:spPr>
          <a:xfrm>
            <a:off x="6478185" y="3448050"/>
            <a:ext cx="41389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103%</a:t>
            </a:r>
          </a:p>
        </p:txBody>
      </p:sp>
      <p:sp>
        <p:nvSpPr>
          <p:cNvPr id="41" name="nm 81"/>
          <p:cNvSpPr txBox="1"/>
          <p:nvPr/>
        </p:nvSpPr>
        <p:spPr>
          <a:xfrm>
            <a:off x="533400" y="3943350"/>
            <a:ext cx="2759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부산</a:t>
            </a:r>
          </a:p>
        </p:txBody>
      </p:sp>
      <p:sp>
        <p:nvSpPr>
          <p:cNvPr id="42" name="val 85"/>
          <p:cNvSpPr txBox="1"/>
          <p:nvPr/>
        </p:nvSpPr>
        <p:spPr>
          <a:xfrm>
            <a:off x="5508409" y="3948112"/>
            <a:ext cx="526423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1.8 </a:t>
            </a:r>
            <a:r>
              <a:rPr sz="11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/ 2.0</a:t>
            </a:r>
          </a:p>
        </p:txBody>
      </p:sp>
      <p:sp>
        <p:nvSpPr>
          <p:cNvPr id="43" name="rt 86"/>
          <p:cNvSpPr txBox="1"/>
          <p:nvPr/>
        </p:nvSpPr>
        <p:spPr>
          <a:xfrm>
            <a:off x="6546134" y="3943350"/>
            <a:ext cx="34594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90%</a:t>
            </a:r>
          </a:p>
        </p:txBody>
      </p:sp>
      <p:sp>
        <p:nvSpPr>
          <p:cNvPr id="44" name="nm 88"/>
          <p:cNvSpPr txBox="1"/>
          <p:nvPr/>
        </p:nvSpPr>
        <p:spPr>
          <a:xfrm>
            <a:off x="533400" y="4438650"/>
            <a:ext cx="2759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대구</a:t>
            </a:r>
          </a:p>
        </p:txBody>
      </p:sp>
      <p:sp>
        <p:nvSpPr>
          <p:cNvPr id="45" name="val 92"/>
          <p:cNvSpPr txBox="1"/>
          <p:nvPr/>
        </p:nvSpPr>
        <p:spPr>
          <a:xfrm>
            <a:off x="5567380" y="4443412"/>
            <a:ext cx="467451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1.1 </a:t>
            </a:r>
            <a:r>
              <a:rPr sz="11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/ 1.5</a:t>
            </a:r>
          </a:p>
        </p:txBody>
      </p:sp>
      <p:sp>
        <p:nvSpPr>
          <p:cNvPr id="46" name="rt 93"/>
          <p:cNvSpPr txBox="1"/>
          <p:nvPr/>
        </p:nvSpPr>
        <p:spPr>
          <a:xfrm>
            <a:off x="6559445" y="4438650"/>
            <a:ext cx="33263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8F1D14"/>
                </a:solidFill>
                <a:latin typeface="Pretendard SemiBold"/>
                <a:ea typeface="Pretendard SemiBold"/>
                <a:cs typeface="Pretendard SemiBold"/>
              </a:rPr>
              <a:t>73%</a:t>
            </a:r>
          </a:p>
        </p:txBody>
      </p:sp>
      <p:sp>
        <p:nvSpPr>
          <p:cNvPr id="47" name="nm 94"/>
          <p:cNvSpPr txBox="1"/>
          <p:nvPr/>
        </p:nvSpPr>
        <p:spPr>
          <a:xfrm>
            <a:off x="533400" y="4938712"/>
            <a:ext cx="27598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광주</a:t>
            </a:r>
          </a:p>
        </p:txBody>
      </p:sp>
      <p:sp>
        <p:nvSpPr>
          <p:cNvPr id="48" name="val 98"/>
          <p:cNvSpPr txBox="1"/>
          <p:nvPr/>
        </p:nvSpPr>
        <p:spPr>
          <a:xfrm>
            <a:off x="5508254" y="4943475"/>
            <a:ext cx="526578" cy="1619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0.6 </a:t>
            </a:r>
            <a:r>
              <a:rPr sz="11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/ 1.0</a:t>
            </a:r>
          </a:p>
        </p:txBody>
      </p:sp>
      <p:sp>
        <p:nvSpPr>
          <p:cNvPr id="49" name="rt 99"/>
          <p:cNvSpPr txBox="1"/>
          <p:nvPr/>
        </p:nvSpPr>
        <p:spPr>
          <a:xfrm>
            <a:off x="6546134" y="4938712"/>
            <a:ext cx="34594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 latinLnBrk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ko-KR" altLang="en-US">
                <a:solidFill>
                  <a:srgbClr val="8F1D14"/>
                </a:solidFill>
                <a:latin typeface="Pretendard SemiBold"/>
                <a:ea typeface="Pretendard SemiBold"/>
                <a:cs typeface="Pretendard SemiBold"/>
              </a:rPr>
              <a:t>60%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325" y="6086475"/>
            <a:ext cx="2160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실적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1008" y="6086475"/>
            <a:ext cx="21608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목표</a:t>
            </a:r>
          </a:p>
        </p:txBody>
      </p:sp>
      <p:sp>
        <p:nvSpPr>
          <p:cNvPr id="52" name="열 제목 105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53" name="글머리표 106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서울과 경기는 목표를 넘겼다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부산, 대구, 광주는 목표에 못 미쳤다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광주는 영업 담당자가 8월에 바뀌었다</a:t>
            </a:r>
          </a:p>
        </p:txBody>
      </p:sp>
      <p:sp>
        <p:nvSpPr>
          <p:cNvPr id="54" name="출처 107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55" name="꼬리말 109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56" name="pg 110"/>
          <p:cNvSpPr txBox="1"/>
          <p:nvPr/>
        </p:nvSpPr>
        <p:spPr>
          <a:xfrm>
            <a:off x="11599218" y="6600825"/>
            <a:ext cx="80808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가입 다음 달 잔존율은 6개월 내내 88~91%,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6개월 뒤에도 76% 유지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graphicFrame>
        <p:nvGraphicFramePr>
          <p:cNvPr id="5" name="표 8"/>
          <p:cNvGraphicFramePr>
            <a:graphicFrameLocks noGrp="1"/>
          </p:cNvGraphicFramePr>
          <p:nvPr/>
        </p:nvGraphicFramePr>
        <p:xfrm>
          <a:off x="533400" y="1914525"/>
          <a:ext cx="6358680" cy="291465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14400"/>
                <a:gridCol w="800100"/>
                <a:gridCol w="773906"/>
                <a:gridCol w="773906"/>
                <a:gridCol w="773906"/>
                <a:gridCol w="773906"/>
                <a:gridCol w="773906"/>
                <a:gridCol w="774650"/>
              </a:tblGrid>
              <a:tr h="2857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가입 시기</a:t>
                      </a:r>
                      <a:endParaRPr sz="100"/>
                    </a:p>
                  </a:txBody>
                  <a:tcPr marT="0" marR="95250" marB="66675" marL="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인원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1개월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2개월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3개월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4개월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5개월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6개월</a:t>
                      </a:r>
                      <a:endParaRPr sz="100"/>
                    </a:p>
                  </a:txBody>
                  <a:tcPr marT="0" marR="95250" marB="66675" marL="9525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8181C"/>
                      </a:solidFill>
                    </a:lnB>
                    <a:noFill/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2026.03</a:t>
                      </a:r>
                      <a:endParaRPr sz="100"/>
                    </a:p>
                  </a:txBody>
                  <a:tcPr marT="66675" marR="95250" marB="666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42곳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90%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8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86%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83%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80%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BE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BE9ED"/>
                    </a:solidFill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2026.04</a:t>
                      </a:r>
                      <a:endParaRPr sz="100"/>
                    </a:p>
                  </a:txBody>
                  <a:tcPr marT="66675" marR="95250" marB="666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51곳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89%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8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85%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81%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BE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FBE9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2026.05</a:t>
                      </a:r>
                      <a:endParaRPr sz="100"/>
                    </a:p>
                  </a:txBody>
                  <a:tcPr marT="66675" marR="95250" marB="666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48곳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91%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8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87%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84%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82%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2026.06</a:t>
                      </a:r>
                      <a:endParaRPr sz="100"/>
                    </a:p>
                  </a:txBody>
                  <a:tcPr marT="66675" marR="95250" marB="666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55곳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88%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8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84%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80%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2026.07</a:t>
                      </a:r>
                      <a:endParaRPr sz="100"/>
                    </a:p>
                  </a:txBody>
                  <a:tcPr marT="66675" marR="95250" marB="666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63곳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90%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18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86%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solidFill>
                      <a:srgbClr val="C9C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438150"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18181C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2026.08</a:t>
                      </a:r>
                      <a:endParaRPr sz="100"/>
                    </a:p>
                  </a:txBody>
                  <a:tcPr marT="66675" marR="95250" marB="66675" marL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FCFD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2323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70곳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89%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8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 latinLnBrk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5" b="0" i="0" lang="ko-KR" altLang="en-US">
                          <a:solidFill>
                            <a:srgbClr val="6B6B73"/>
                          </a:solidFill>
                          <a:latin typeface="Pretendard"/>
                          <a:ea typeface="Pretendard"/>
                          <a:cs typeface="Pretendard"/>
                        </a:rPr>
                        <a:t>-</a:t>
                      </a:r>
                      <a:endParaRPr sz="100"/>
                    </a:p>
                  </a:txBody>
                  <a:tcPr marT="66675" marR="95250" marB="66675" marL="952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h1 10"/>
          <p:cNvSpPr/>
          <p:nvPr/>
        </p:nvSpPr>
        <p:spPr>
          <a:xfrm>
            <a:off x="533400" y="4972050"/>
            <a:ext cx="104775" cy="104775"/>
          </a:xfrm>
          <a:prstGeom prst="rect">
            <a:avLst/>
          </a:prstGeom>
          <a:solidFill>
            <a:srgbClr val="FBE9E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h2 12"/>
          <p:cNvSpPr/>
          <p:nvPr/>
        </p:nvSpPr>
        <p:spPr>
          <a:xfrm>
            <a:off x="1328886" y="4972050"/>
            <a:ext cx="104775" cy="104775"/>
          </a:xfrm>
          <a:prstGeom prst="rect">
            <a:avLst/>
          </a:prstGeom>
          <a:solidFill>
            <a:srgbClr val="C9C9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a 14"/>
          <p:cNvSpPr/>
          <p:nvPr/>
        </p:nvSpPr>
        <p:spPr>
          <a:xfrm>
            <a:off x="2103090" y="4972050"/>
            <a:ext cx="104775" cy="104775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11" name="회사명 22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12" name="키커 23"/>
          <p:cNvSpPr txBox="1"/>
          <p:nvPr/>
        </p:nvSpPr>
        <p:spPr>
          <a:xfrm>
            <a:off x="10763994" y="338138"/>
            <a:ext cx="94944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코호트 리텐션 표 p57</a:t>
            </a:r>
          </a:p>
        </p:txBody>
      </p:sp>
      <p:sp>
        <p:nvSpPr>
          <p:cNvPr id="13" name="축 제목 27"/>
          <p:cNvSpPr txBox="1"/>
          <p:nvPr/>
        </p:nvSpPr>
        <p:spPr>
          <a:xfrm>
            <a:off x="533400" y="1600200"/>
            <a:ext cx="17756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가입 시기별 브랜드사 잔존율</a:t>
            </a:r>
          </a:p>
        </p:txBody>
      </p:sp>
      <p:sp>
        <p:nvSpPr>
          <p:cNvPr id="14" name="u 28"/>
          <p:cNvSpPr txBox="1"/>
          <p:nvPr/>
        </p:nvSpPr>
        <p:spPr>
          <a:xfrm>
            <a:off x="6060728" y="1647825"/>
            <a:ext cx="88365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%, 2026년 3~9월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4957762"/>
            <a:ext cx="4798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80% 미만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811" y="4957762"/>
            <a:ext cx="4577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80~87%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5015" y="4957762"/>
            <a:ext cx="4810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88% 이상</a:t>
            </a:r>
          </a:p>
        </p:txBody>
      </p:sp>
      <p:sp>
        <p:nvSpPr>
          <p:cNvPr id="18" name="열 제목 37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19" name="글머리표 38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첫 달 잔존율이 88~91%로 가입 시기와 관계없이 고르다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매달 2~4%p씩 줄어 6개월 뒤 76%가 남는다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가장 큰 이탈은 2개월째에 일어난다</a:t>
            </a:r>
          </a:p>
        </p:txBody>
      </p:sp>
      <p:sp>
        <p:nvSpPr>
          <p:cNvPr id="20" name="출처 39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21" name="꼬리말 41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22" name="pg 42"/>
          <p:cNvSpPr txBox="1"/>
          <p:nvPr/>
        </p:nvSpPr>
        <p:spPr>
          <a:xfrm>
            <a:off x="11557099" y="6600825"/>
            <a:ext cx="12461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광고 상품 52%와 구독 26%,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두 상품이 매출의 78% 차지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graphicFrame>
        <p:nvGraphicFramePr>
          <p:cNvPr id="5" name="차트 8"/>
          <p:cNvGraphicFramePr>
            <a:graphicFrameLocks noGrp="1"/>
          </p:cNvGraphicFramePr>
          <p:nvPr/>
        </p:nvGraphicFramePr>
        <p:xfrm>
          <a:off x="533400" y="1857375"/>
          <a:ext cx="6358682" cy="4371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8" name="회사명 18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9" name="키커 19"/>
          <p:cNvSpPr txBox="1"/>
          <p:nvPr/>
        </p:nvSpPr>
        <p:spPr>
          <a:xfrm>
            <a:off x="10773519" y="338138"/>
            <a:ext cx="93953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도넛 (기본 차트) p58</a:t>
            </a:r>
          </a:p>
        </p:txBody>
      </p:sp>
      <p:sp>
        <p:nvSpPr>
          <p:cNvPr id="10" name="축 제목 23"/>
          <p:cNvSpPr txBox="1"/>
          <p:nvPr/>
        </p:nvSpPr>
        <p:spPr>
          <a:xfrm>
            <a:off x="533400" y="1600200"/>
            <a:ext cx="11901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상품별 매출 구성비</a:t>
            </a:r>
          </a:p>
        </p:txBody>
      </p:sp>
      <p:sp>
        <p:nvSpPr>
          <p:cNvPr id="11" name="u 24"/>
          <p:cNvSpPr txBox="1"/>
          <p:nvPr/>
        </p:nvSpPr>
        <p:spPr>
          <a:xfrm>
            <a:off x="6080224" y="1647825"/>
            <a:ext cx="86338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%, 2026년 1~9월</a:t>
            </a:r>
          </a:p>
        </p:txBody>
      </p:sp>
      <p:sp>
        <p:nvSpPr>
          <p:cNvPr id="12" name="lb 26"/>
          <p:cNvSpPr txBox="1"/>
          <p:nvPr/>
        </p:nvSpPr>
        <p:spPr>
          <a:xfrm>
            <a:off x="2075078" y="3800475"/>
            <a:ext cx="4773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누적 매출</a:t>
            </a:r>
          </a:p>
        </p:txBody>
      </p:sp>
      <p:sp>
        <p:nvSpPr>
          <p:cNvPr id="13" name="v 27"/>
          <p:cNvSpPr txBox="1"/>
          <p:nvPr/>
        </p:nvSpPr>
        <p:spPr>
          <a:xfrm>
            <a:off x="1989171" y="3952875"/>
            <a:ext cx="649319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lang="ko-KR" altLang="en-US">
                <a:solidFill>
                  <a:srgbClr val="18181C"/>
                </a:solidFill>
                <a:latin typeface="Pretendard ExtraBold"/>
                <a:ea typeface="Pretendard ExtraBold"/>
                <a:cs typeface="Pretendard ExtraBold"/>
              </a:rPr>
              <a:t>42억</a:t>
            </a:r>
          </a:p>
        </p:txBody>
      </p:sp>
      <p:sp>
        <p:nvSpPr>
          <p:cNvPr id="14" name="열 제목 29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15" name="글머리표 30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광고 상품과 구독을 합하면 매출의 78%다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구독 매출은 매달 같은 금액으로 들어온다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데이터 리포트는 3월에 출시해 아직 15%다</a:t>
            </a:r>
          </a:p>
        </p:txBody>
      </p:sp>
      <p:sp>
        <p:nvSpPr>
          <p:cNvPr id="16" name="출처 31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17" name="꼬리말 33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18" name="pg 34"/>
          <p:cNvSpPr txBox="1"/>
          <p:nvPr/>
        </p:nvSpPr>
        <p:spPr>
          <a:xfrm>
            <a:off x="11573173" y="6600825"/>
            <a:ext cx="107894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신규 브랜드사의 46%가 인스타그램으로 유입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graphicFrame>
        <p:nvGraphicFramePr>
          <p:cNvPr id="5" name="차트 8"/>
          <p:cNvGraphicFramePr>
            <a:graphicFrameLocks noGrp="1"/>
          </p:cNvGraphicFramePr>
          <p:nvPr/>
        </p:nvGraphicFramePr>
        <p:xfrm>
          <a:off x="533400" y="1857375"/>
          <a:ext cx="6358682" cy="4371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8" name="회사명 16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9" name="키커 17"/>
          <p:cNvSpPr txBox="1"/>
          <p:nvPr/>
        </p:nvSpPr>
        <p:spPr>
          <a:xfrm>
            <a:off x="10773073" y="338138"/>
            <a:ext cx="93999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원형 (기본 차트) p59</a:t>
            </a:r>
          </a:p>
        </p:txBody>
      </p:sp>
      <p:sp>
        <p:nvSpPr>
          <p:cNvPr id="10" name="축 제목 21"/>
          <p:cNvSpPr txBox="1"/>
          <p:nvPr/>
        </p:nvSpPr>
        <p:spPr>
          <a:xfrm>
            <a:off x="533400" y="1600200"/>
            <a:ext cx="15017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신규 브랜드사 유입 경로</a:t>
            </a:r>
          </a:p>
        </p:txBody>
      </p:sp>
      <p:sp>
        <p:nvSpPr>
          <p:cNvPr id="11" name="u 22"/>
          <p:cNvSpPr txBox="1"/>
          <p:nvPr/>
        </p:nvSpPr>
        <p:spPr>
          <a:xfrm>
            <a:off x="5561409" y="1647825"/>
            <a:ext cx="140294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%, 2026년 1~9월 가입 312곳</a:t>
            </a:r>
          </a:p>
        </p:txBody>
      </p:sp>
      <p:sp>
        <p:nvSpPr>
          <p:cNvPr id="12" name="열 제목 25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13" name="글머리표 26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인스타그램 한 경로가 유튜브와 검색을 합한 45%보다 많다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유튜브 유입은 28%로 두 번째다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검색 유입은 17%로 광고를 줄인 뒤 낮아졌다</a:t>
            </a:r>
          </a:p>
        </p:txBody>
      </p:sp>
      <p:sp>
        <p:nvSpPr>
          <p:cNvPr id="14" name="출처 27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15" name="꼬리말 29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16" name="pg 30"/>
          <p:cNvSpPr txBox="1"/>
          <p:nvPr/>
        </p:nvSpPr>
        <p:spPr>
          <a:xfrm>
            <a:off x="11559183" y="6600825"/>
            <a:ext cx="122444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자사 월 거래액은 6개월 만에 5.2배 증가,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업계 평균은 2.2배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graphicFrame>
        <p:nvGraphicFramePr>
          <p:cNvPr id="5" name="차트 8"/>
          <p:cNvGraphicFramePr>
            <a:graphicFrameLocks noGrp="1"/>
          </p:cNvGraphicFramePr>
          <p:nvPr/>
        </p:nvGraphicFramePr>
        <p:xfrm>
          <a:off x="533400" y="1857375"/>
          <a:ext cx="6358682" cy="4371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8" name="회사명 16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9" name="키커 17"/>
          <p:cNvSpPr txBox="1"/>
          <p:nvPr/>
        </p:nvSpPr>
        <p:spPr>
          <a:xfrm>
            <a:off x="10681395" y="338138"/>
            <a:ext cx="103534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꺾은선 (기본 차트) p60</a:t>
            </a:r>
          </a:p>
        </p:txBody>
      </p:sp>
      <p:sp>
        <p:nvSpPr>
          <p:cNvPr id="10" name="축 제목 21"/>
          <p:cNvSpPr txBox="1"/>
          <p:nvPr/>
        </p:nvSpPr>
        <p:spPr>
          <a:xfrm>
            <a:off x="533400" y="1600200"/>
            <a:ext cx="60458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월 거래액</a:t>
            </a:r>
          </a:p>
        </p:txBody>
      </p:sp>
      <p:sp>
        <p:nvSpPr>
          <p:cNvPr id="11" name="u 22"/>
          <p:cNvSpPr txBox="1"/>
          <p:nvPr/>
        </p:nvSpPr>
        <p:spPr>
          <a:xfrm>
            <a:off x="5957888" y="1647825"/>
            <a:ext cx="9906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억 원, 2026년 1~6월</a:t>
            </a:r>
          </a:p>
        </p:txBody>
      </p:sp>
      <p:sp>
        <p:nvSpPr>
          <p:cNvPr id="12" name="열 제목 25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13" name="글머리표 26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1월 1.2억 원에서 6월 6.2억 원으로 5.2배 늘었다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업계 평균은 1.0억 원에서 2.2억 원으로 2.2배 늘었다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격차는 4월부터 크게 벌어졌다</a:t>
            </a:r>
          </a:p>
        </p:txBody>
      </p:sp>
      <p:sp>
        <p:nvSpPr>
          <p:cNvPr id="14" name="출처 27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15" name="꼬리말 29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16" name="pg 30"/>
          <p:cNvSpPr txBox="1"/>
          <p:nvPr/>
        </p:nvSpPr>
        <p:spPr>
          <a:xfrm>
            <a:off x="11556355" y="6600825"/>
            <a:ext cx="125385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704850"/>
          </a:xfrm>
        </p:spPr>
        <p:txBody>
          <a:bodyPr lIns="0" rIns="0" tIns="0" bIns="0" wrap="square" anchor="t">
            <a:noAutofit/>
          </a:bodyPr>
          <a:lstStyle/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월 리뷰 콘텐츠는 6개월 만에 3.2배,</a:t>
            </a:r>
          </a:p>
          <a:p>
            <a:pPr algn="l" latinLnBrk="0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색조가 4.4배로 가장 빠르게 증가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3400" y="1376362"/>
            <a:ext cx="11125200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33400" y="1852612"/>
            <a:ext cx="6358682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graphicFrame>
        <p:nvGraphicFramePr>
          <p:cNvPr id="5" name="차트 8"/>
          <p:cNvGraphicFramePr>
            <a:graphicFrameLocks noGrp="1"/>
          </p:cNvGraphicFramePr>
          <p:nvPr/>
        </p:nvGraphicFramePr>
        <p:xfrm>
          <a:off x="533400" y="1857375"/>
          <a:ext cx="6358682" cy="43719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273082" y="1852612"/>
            <a:ext cx="4385518" cy="0"/>
          </a:xfrm>
          <a:prstGeom prst="line">
            <a:avLst/>
          </a:prstGeom>
          <a:ln w="9525">
            <a:solidFill>
              <a:srgbClr val="18181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38912"/>
            <a:ext cx="11125200" cy="0"/>
          </a:xfrm>
          <a:prstGeom prst="line">
            <a:avLst/>
          </a:prstGeom>
          <a:ln w="9525">
            <a:solidFill>
              <a:srgbClr val="E7E7EA"/>
            </a:solidFill>
          </a:ln>
        </p:spPr>
      </p:cxnSp>
      <p:sp>
        <p:nvSpPr>
          <p:cNvPr id="8" name="회사명 16"/>
          <p:cNvSpPr txBox="1"/>
          <p:nvPr/>
        </p:nvSpPr>
        <p:spPr>
          <a:xfrm>
            <a:off x="533400" y="338138"/>
            <a:ext cx="59808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Hankki Lab</a:t>
            </a:r>
          </a:p>
        </p:txBody>
      </p:sp>
      <p:sp>
        <p:nvSpPr>
          <p:cNvPr id="9" name="키커 17"/>
          <p:cNvSpPr txBox="1"/>
          <p:nvPr/>
        </p:nvSpPr>
        <p:spPr>
          <a:xfrm>
            <a:off x="10583019" y="338138"/>
            <a:ext cx="113765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lang="ko-KR" altLang="en-US">
                <a:solidFill>
                  <a:srgbClr val="6B6B73"/>
                </a:solidFill>
                <a:latin typeface="Pretendard Medium"/>
                <a:ea typeface="Pretendard Medium"/>
                <a:cs typeface="Pretendard Medium"/>
              </a:rPr>
              <a:t>누적 영역 (기본 차트) p61</a:t>
            </a:r>
          </a:p>
        </p:txBody>
      </p:sp>
      <p:sp>
        <p:nvSpPr>
          <p:cNvPr id="10" name="축 제목 21"/>
          <p:cNvSpPr txBox="1"/>
          <p:nvPr/>
        </p:nvSpPr>
        <p:spPr>
          <a:xfrm>
            <a:off x="533400" y="1600200"/>
            <a:ext cx="163868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카테고리별 월 리뷰 콘텐츠</a:t>
            </a:r>
          </a:p>
        </p:txBody>
      </p:sp>
      <p:sp>
        <p:nvSpPr>
          <p:cNvPr id="11" name="u 22"/>
          <p:cNvSpPr txBox="1"/>
          <p:nvPr/>
        </p:nvSpPr>
        <p:spPr>
          <a:xfrm>
            <a:off x="5937498" y="1647825"/>
            <a:ext cx="1011817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천 건, 2026년 4~9월</a:t>
            </a:r>
          </a:p>
        </p:txBody>
      </p:sp>
      <p:sp>
        <p:nvSpPr>
          <p:cNvPr id="12" name="열 제목 25"/>
          <p:cNvSpPr txBox="1"/>
          <p:nvPr/>
        </p:nvSpPr>
        <p:spPr>
          <a:xfrm>
            <a:off x="7273082" y="1600200"/>
            <a:ext cx="1227737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18181C"/>
                </a:solidFill>
                <a:latin typeface="Pretendard SemiBold"/>
                <a:ea typeface="Pretendard SemiBold"/>
                <a:cs typeface="Pretendard SemiBold"/>
              </a:rPr>
              <a:t>이 도표가 말하는 것</a:t>
            </a:r>
          </a:p>
        </p:txBody>
      </p:sp>
      <p:sp>
        <p:nvSpPr>
          <p:cNvPr id="13" name="글머리표 26"/>
          <p:cNvSpPr txBox="1"/>
          <p:nvPr/>
        </p:nvSpPr>
        <p:spPr>
          <a:xfrm>
            <a:off x="7273082" y="3643312"/>
            <a:ext cx="4385518" cy="933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전체는 36천 건에서 117천 건으로 3.2배 늘었다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75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색조는 10천 건에서 44천 건으로 4.4배 늘었다</a:t>
            </a:r>
          </a:p>
          <a:p>
            <a:pPr algn="l" latinLnBrk="0" marL="200025" indent="-16002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SzPct val="100000"/>
              <a:buFont typeface="Pretendard"/>
              <a:buChar char="•"/>
            </a:pPr>
            <a:r>
              <a:rPr sz="120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헤어는 18천 건으로 아직 작다</a:t>
            </a:r>
          </a:p>
        </p:txBody>
      </p:sp>
      <p:sp>
        <p:nvSpPr>
          <p:cNvPr id="14" name="출처 27"/>
          <p:cNvSpPr txBox="1"/>
          <p:nvPr/>
        </p:nvSpPr>
        <p:spPr>
          <a:xfrm>
            <a:off x="533400" y="6324600"/>
            <a:ext cx="13713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출처: 예시 데이터, 실제 수치 아님</a:t>
            </a:r>
          </a:p>
        </p:txBody>
      </p:sp>
      <p:sp>
        <p:nvSpPr>
          <p:cNvPr id="15" name="꼬리말 29"/>
          <p:cNvSpPr txBox="1"/>
          <p:nvPr/>
        </p:nvSpPr>
        <p:spPr>
          <a:xfrm>
            <a:off x="533400" y="6600825"/>
            <a:ext cx="1153751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6B6B73"/>
                </a:solidFill>
                <a:latin typeface="Pretendard"/>
                <a:ea typeface="Pretendard"/>
                <a:cs typeface="Pretendard"/>
              </a:rPr>
              <a:t>Hankki Lab | 도표 부품 시연</a:t>
            </a:r>
          </a:p>
        </p:txBody>
      </p:sp>
      <p:sp>
        <p:nvSpPr>
          <p:cNvPr id="16" name="pg 30"/>
          <p:cNvSpPr txBox="1"/>
          <p:nvPr/>
        </p:nvSpPr>
        <p:spPr>
          <a:xfrm>
            <a:off x="11555313" y="6600825"/>
            <a:ext cx="126468" cy="114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lang="ko-KR" altLang="en-US">
                <a:solidFill>
                  <a:srgbClr val="232326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v-l 1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bk-rule 3"/>
          <p:cNvSpPr/>
          <p:nvPr/>
        </p:nvSpPr>
        <p:spPr>
          <a:xfrm>
            <a:off x="723900" y="3429000"/>
            <a:ext cx="609600" cy="38100"/>
          </a:xfrm>
          <a:prstGeom prst="rect">
            <a:avLst/>
          </a:prstGeom>
          <a:solidFill>
            <a:srgbClr val="D9415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bk-brand 6"/>
          <p:cNvSpPr txBox="1"/>
          <p:nvPr/>
        </p:nvSpPr>
        <p:spPr>
          <a:xfrm>
            <a:off x="723900" y="2876550"/>
            <a:ext cx="1767923" cy="381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ko-KR" altLang="en-US">
                <a:solidFill>
                  <a:srgbClr val="18181C"/>
                </a:solidFill>
                <a:latin typeface="Pretendard"/>
                <a:ea typeface="Pretendard"/>
                <a:cs typeface="Pretendard"/>
              </a:rPr>
              <a:t>Hankki Lab</a:t>
            </a:r>
          </a:p>
        </p:txBody>
      </p:sp>
      <p:sp>
        <p:nvSpPr>
          <p:cNvPr id="5" name="bk-meta 8"/>
          <p:cNvSpPr txBox="1"/>
          <p:nvPr/>
        </p:nvSpPr>
        <p:spPr>
          <a:xfrm>
            <a:off x="723900" y="3686175"/>
            <a:ext cx="1260705" cy="590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 latinLnBrk="0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홍길동 대표</a:t>
            </a:r>
          </a:p>
          <a:p>
            <a:pPr algn="l" latinLnBrk="0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hello@example.com</a:t>
            </a:r>
          </a:p>
          <a:p>
            <a:pPr algn="l" latinLnBrk="0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 altLang="en-US">
                <a:solidFill>
                  <a:srgbClr val="232326"/>
                </a:solidFill>
                <a:latin typeface="Pretendard"/>
                <a:ea typeface="Pretendard"/>
                <a:cs typeface="Pretendard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c-ppt">
      <a:dk1>
        <a:sysClr val="windowText" lastClr="000000"/>
      </a:dk1>
      <a:lt1>
        <a:sysClr val="window" lastClr="FFFFFF"/>
      </a:lt1>
      <a:dk2>
        <a:srgbClr val="18181C"/>
      </a:dk2>
      <a:lt2>
        <a:srgbClr val="FBE9ED"/>
      </a:lt2>
      <a:accent1>
        <a:srgbClr val="D9415F"/>
      </a:accent1>
      <a:accent2>
        <a:srgbClr val="18181C"/>
      </a:accent2>
      <a:accent3>
        <a:srgbClr val="C9C9CF"/>
      </a:accent3>
      <a:accent4>
        <a:srgbClr val="6B6B73"/>
      </a:accent4>
      <a:accent5>
        <a:srgbClr val="D9415F"/>
      </a:accent5>
      <a:accent6>
        <a:srgbClr val="8F1D14"/>
      </a:accent6>
      <a:hlink>
        <a:srgbClr val="0000FF"/>
      </a:hlink>
      <a:folHlink>
        <a:srgbClr val="800080"/>
      </a:folHlink>
    </a:clrScheme>
    <a:fontScheme name="Pretendard">
      <a:majorFont>
        <a:latin typeface="Pretendard SemiBold"/>
        <a:ea typeface="Pretendard SemiBold"/>
        <a:cs typeface="Pretendard SemiBold"/>
        <a:font script="Jpan" typeface="Pretendard SemiBold"/>
        <a:font script="Hang" typeface="Pretendard SemiBold"/>
        <a:font script="Hans" typeface="Pretendard SemiBold"/>
        <a:font script="Hant" typeface="Pretendard SemiBol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도표 부품 시연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